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1"/>
  </p:normalViewPr>
  <p:slideViewPr>
    <p:cSldViewPr snapToGrid="0">
      <p:cViewPr varScale="1">
        <p:scale>
          <a:sx n="114" d="100"/>
          <a:sy n="114" d="100"/>
        </p:scale>
        <p:origin x="4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고객</c:v>
                </c:pt>
              </c:strCache>
            </c:strRef>
          </c:tx>
          <c:spPr>
            <a:ln w="0">
              <a:noFill/>
            </a:ln>
          </c:spPr>
          <c:dPt>
            <c:idx val="0"/>
            <c:bubble3D val="0"/>
            <c:spPr>
              <a:solidFill>
                <a:srgbClr val="275DFF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1-B2A0-B943-8E4D-E0951BFDB32B}"/>
              </c:ext>
            </c:extLst>
          </c:dPt>
          <c:dPt>
            <c:idx val="1"/>
            <c:bubble3D val="0"/>
            <c:spPr>
              <a:solidFill>
                <a:srgbClr val="DCE2EA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3-B2A0-B943-8E4D-E0951BFDB32B}"/>
              </c:ext>
            </c:extLst>
          </c:dPt>
          <c:dLbls>
            <c:dLbl>
              <c:idx val="0"/>
              <c:spPr/>
              <c:txPr>
                <a:bodyPr anchorCtr="1"/>
                <a:lstStyle/>
                <a:p>
                  <a:pPr>
                    <a:defRPr sz="1000" b="0" u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2A0-B943-8E4D-E0951BFDB32B}"/>
                </c:ext>
              </c:extLst>
            </c:dLbl>
            <c:dLbl>
              <c:idx val="1"/>
              <c:spPr/>
              <c:txPr>
                <a:bodyPr anchorCtr="1"/>
                <a:lstStyle/>
                <a:p>
                  <a:pPr>
                    <a:defRPr sz="1000" b="0" u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2A0-B943-8E4D-E0951BFDB32B}"/>
                </c:ext>
              </c:extLst>
            </c:dLbl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000" b="0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1"/>
            <c:showBubbleSize val="1"/>
            <c:separator>
</c:separator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categories</c:f>
              <c:strCache>
                <c:ptCount val="2"/>
                <c:pt idx="0">
                  <c:v>가입</c:v>
                </c:pt>
                <c:pt idx="1">
                  <c:v>미가입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4639</c:v>
                </c:pt>
                <c:pt idx="1">
                  <c:v>36537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2A0-B943-8E4D-E0951BFDB3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 w="0">
          <a:noFill/>
        </a:ln>
      </c:spPr>
    </c:plotArea>
    <c:legend>
      <c:legendPos val="b"/>
      <c:overlay val="0"/>
      <c:spPr>
        <a:noFill/>
      </c:spPr>
      <c:txPr>
        <a:bodyPr anchorCtr="1"/>
        <a:lstStyle/>
        <a:p>
          <a:pPr>
            <a:defRPr sz="1000" b="0" u="none">
              <a:solidFill>
                <a:srgbClr val="000000"/>
              </a:solidFill>
              <a:latin typeface="Calibri"/>
              <a:ea typeface="Calibri"/>
              <a:cs typeface="Calibri"/>
            </a:defRPr>
          </a:pPr>
          <a:endParaRPr lang="ko-KR"/>
        </a:p>
      </c:txPr>
    </c:legend>
    <c:plotVisOnly val="1"/>
    <c:dispBlanksAs val="zero"/>
    <c:showDLblsOverMax val="1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가입률</c:v>
                </c:pt>
              </c:strCache>
            </c:strRef>
          </c:tx>
          <c:spPr>
            <a:solidFill>
              <a:srgbClr val="275DFF"/>
            </a:solidFill>
            <a:ln w="0">
              <a:noFill/>
            </a:ln>
          </c:spPr>
          <c:invertIfNegative val="1"/>
          <c:dLbls>
            <c:numFmt formatCode="0\'%\'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000" b="0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3분 미만</c:v>
                </c:pt>
                <c:pt idx="1">
                  <c:v>3~5분</c:v>
                </c:pt>
                <c:pt idx="2">
                  <c:v>5~10분</c:v>
                </c:pt>
                <c:pt idx="3">
                  <c:v>10~20분</c:v>
                </c:pt>
                <c:pt idx="4">
                  <c:v>20분 이상</c:v>
                </c:pt>
              </c:strCache>
            </c:strRef>
          </c:cat>
          <c:val>
            <c:numRef>
              <c:f>0</c:f>
              <c:numCache>
                <c:formatCode>0.0\%</c:formatCode>
                <c:ptCount val="5"/>
                <c:pt idx="0">
                  <c:v>2.71</c:v>
                </c:pt>
                <c:pt idx="1">
                  <c:v>10.16</c:v>
                </c:pt>
                <c:pt idx="2">
                  <c:v>18.55</c:v>
                </c:pt>
                <c:pt idx="3">
                  <c:v>46.2</c:v>
                </c:pt>
                <c:pt idx="4">
                  <c:v>62.33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91B-D941-A937-D17D5AECB8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35947934"/>
        <c:axId val="36218344"/>
      </c:barChart>
      <c:catAx>
        <c:axId val="3594793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rgbClr val="D4D4D4"/>
            </a:solidFill>
          </a:ln>
        </c:spPr>
        <c:txPr>
          <a:bodyPr anchorCtr="1"/>
          <a:lstStyle/>
          <a:p>
            <a:pPr>
              <a:defRPr sz="1000" b="0" u="none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ko-KR"/>
          </a:p>
        </c:txPr>
        <c:crossAx val="36218344"/>
        <c:crosses val="autoZero"/>
        <c:auto val="1"/>
        <c:lblAlgn val="ctr"/>
        <c:lblOffset val="100"/>
        <c:noMultiLvlLbl val="0"/>
      </c:catAx>
      <c:valAx>
        <c:axId val="36218344"/>
        <c:scaling>
          <c:orientation val="minMax"/>
          <c:max val="70"/>
          <c:min val="0"/>
        </c:scaling>
        <c:delete val="0"/>
        <c:axPos val="l"/>
        <c:majorGridlines>
          <c:spPr>
            <a:ln w="9360">
              <a:solidFill>
                <a:srgbClr val="DCE2EA"/>
              </a:solidFill>
            </a:ln>
          </c:spPr>
        </c:majorGridlines>
        <c:numFmt formatCode="0\%" sourceLinked="0"/>
        <c:majorTickMark val="none"/>
        <c:minorTickMark val="none"/>
        <c:tickLblPos val="nextTo"/>
        <c:spPr>
          <a:ln w="9360">
            <a:solidFill>
              <a:srgbClr val="D4D4D4"/>
            </a:solidFill>
          </a:ln>
        </c:spPr>
        <c:txPr>
          <a:bodyPr anchorCtr="1"/>
          <a:lstStyle/>
          <a:p>
            <a:pPr>
              <a:defRPr sz="1000" b="0" u="none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ko-KR"/>
          </a:p>
        </c:txPr>
        <c:crossAx val="35947934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안녕하세요. 김범수입니다.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이번 발표 주제는 타겟 추가 설정과 각 고객별 전략입니다.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1차 과제에서는 과거 성공 고객, 65세 이상 고객, 학생 고객을 핵심 타겟으로 골랐습니다.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이번에는 기존 타겟을 왜 골랐는지 다시 정리하고, 핵심 타겟 밖에서 찾은 잠재고객과 고객별 실행 방법까지 연결했습니다.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마지막에는 앱 클릭률과 가입 전환율, A/B 테스트, 가입·미가입 이유 설문을 다음 상품 개발에 어떻게 쓸지도 말씀드리겠습니다.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[Sources]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- bank-additional-full.xlsx, 중복 12건 제거 후 자체 분석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전체 데이터는 중복 12건을 제외한 4만 1,176건이고, 전체 가입률은 11.27%였습니다.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처음에는 가입률이 높은 고객을 찾아서 연락하면 된다고 생각했습니다.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그런데 은행 입장에서는 누가 반응했는지뿐만 아니라 왜 가입했고 왜 가입하지 않았는지도 다음 상품에 남겨야 한다고 생각했습니다.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그래서 질문을 누구에게 먼저 연락할지, 그리고 그 반응을 어떻게 다음 상품에 쓸지로 바꿨습니다.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[Sources]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- bank-additional-full.xlsx, 전체 가입률 자체 분석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처음 선정한 핵심 타겟은 그대로 유지했습니다.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1순위는 과거 캠페인 성공 고객, 2순위는 그 고객을 제외한 65세 이상, 3순위는 앞의 두 집단을 제외한 학생입니다.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이 세 집단을 고른 이유는 세 가지입니다.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전체 평균 11.27%보다 가입률이 높았고, 통화 전에 은행이 구분할 수 있었고, 앞 순위 고객을 제외해서 서로 겹치지 않게 운영할 수 있었습니다.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다만 과거 가입률이 높다는 것이 다음에도 반드시 가입한다는 뜻은 아닙니다.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그래서 이 고객들은 정답이 아니라 먼저 연락해서 가설을 확인할 우선순위로 사용했습니다.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[Sources]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- bank-additional-full.xlsx, poutcome=success → age≥65 → job=student 순차 제외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잠재고객은 기존 핵심 타겟을 제외한 뒤에도 평균보다 높은 반응을 보이거나, 실제 캠페인에서 다시 확인할 가치가 있는 고객으로 정했습니다.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첫 번째는 과거 캠페인 실패 고객입니다. 이전에 가입하지 않았어도 접촉 이력이 있고 가입률이 12.92%였습니다.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두 번째는 기존 65세 기준을 55세 이상으로 넓힌 고객과 기존 학생 밖의 청년 고객입니다.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세 번째는 고객 규모가 큰 대졸 모바일 고객과 통화가 5분 이상 이어진 실시간 관심 고객입니다.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이 고객들을 가입 가능성이 확정된 집단이라고 보지는 않았습니다.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앱 클릭이나 상담 반응을 한 번 더 확인하기 위한 잠재 후보로 설정했습니다.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[Sources]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- bank-additional-full.xlsx, 기존 타겟 및 잠재고객 자체 분석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과거 성공 고객은 이미 한 번 가입한 경험이 있기 때문에 다시 가입하기 쉽게 만드는 게 중요하다고 봤습니다.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먼저 앱에서 이전 상품과 이어지는 만기와 금리 조건을 짧게 보여줍니다.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상품을 확인하거나 상담을 신청한 고객부터 전화하고, 반응이 없으면 한 번만 추가로 안내합니다.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그리고 재가입률만 보지 않고 수신거부가 늘지는 않았는지도 같이 확인합니다.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[Sources]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- bank-additional-full.xlsx, poutcome=success 집계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기존에는 65세 이상만 타겟으로 잡았는데, 범위가 조금 좁다고 생각했습니다.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그래서 55세 이상으로 넓히되 같은 우선순위로 연락하지는 않았습니다.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과거 성공 고객을 제외하면 65세 이상은 가입률 39.74%, 60세에서 64세는 23.19%, 55세에서 59세는 8.96%였습니다.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따라서 65세 이상부터 시작하고, 60대 초반, 50대 후반으로 단계적으로 넓힙니다.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55세에서 59세는 앱에서 상품을 확인한 고객부터 상담하는 방식이 더 적절하다고 봤습니다.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[Sources]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- bank-additional-full.xlsx, 과거 성공 고객 제외 연령별 집계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학생 고객은 기존 핵심 타겟이지만, 은행이 실제로 운영하는 고등학생, 대학생, 병사 대상 금융교육과 연결해서 범위를 넓혀봤습니다.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24세 이하 학생의 가입률은 37.83%였고, 24세 이하 비학생 모바일 고객도 18.01%였습니다.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학생과 청년에게는 청년 예적금과 금융교육을 앱으로 먼저 알리고, 등록금, 취업, 전역, 비상금처럼 목적을 선택하게 합니다.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다만 데이터로는 고등학생과 대학생을 정확히 나눌 수 없고 군인 여부도 없습니다.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따라서 학생·청년 반응은 데이터로 보고, 학교급과 병사 여부는 은행이 가진 추가 정보로 따로 구분해야 합니다.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[Sources]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- bank-additional-full.xlsx, 24세 이하 학생·비학생 모바일 집계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통화 시간도 함께 분석했습니다.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통화가 3분 미만으로 끝난 고객의 가입률은 2.71%였지만, 5분에서 10분은 18.55%, 10분에서 20분은 46.20%였습니다.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그래서 처음 타겟이 아니더라도 통화가 5분 이상 이어지면 관심 고객으로 다시 볼 수 있습니다.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하지만 상담원에게 5분을 억지로 채우라고 하면 안 됩니다.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상품 설명부터 길게 하기보다 고객의 목적과 부담되는 조건을 먼저 물어서, 대화가 이어질 이유를 만드는 게 중요합니다.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[Sources]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- bank-additional-full.xlsx, duration 구간별 자체 분석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- https://drive.google.com/file/d/1xotwT8R4p41nmOMd9LgPTCEONrqSuzM5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- https://drive.google.com/file/d/1YFxepVM-tZtrD-uVRQJIuQvc--AqJUJh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과거 캠페인 실패 고객은 3,931명이고 가입률은 12.92%였습니다.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이 고객에게 같은 상품을 다시 권하기보다 지난번에 왜 선택하지 않았는지를 먼저 묻는 방향으로 바꿨습니다.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자금 부족, 기간, 중도해지, 금리, 시기 중 하나를 선택하게 하고, 이유별로 소액 상품, 단기 상품, 자유납입 상품 같은 가설을 만듭니다.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그다음 실제 가입률을 다시 확인하면 거절 이유가 상품 개발 자료로 남습니다.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[Sources]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- bank-additional-full.xlsx, poutcome=failure 집계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대졸 모바일 고객은 취업준비생일 것이라고 생각했지만, 데이터를 다시 보니 대부분 이미 직업이 있었습니다.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사무직이 3,968명으로 가장 많았고 관리직과 기술직도 많았습니다. 무직은 170명뿐이었습니다.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그래서 대졸 고객 전체를 취업준비생으로 묶지 않고 연령과 직업으로 나누려고 합니다.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직장인에게는 급여일 자동저축, 자영업자에게는 자유납입, 실제 구직 고객에게는 소액 상품처럼 가설을 따로 세우는 방식입니다.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[Sources]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- bank-additional-full.xlsx, 대졸·모바일 고객의 직업·연령 집계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이 전략은 A/B 테스트로 확인합니다.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A/B 테스트는 고객을 비슷한 조건으로 무작위 분리한 뒤 한 가지 요소만 다르게 보여주고 결과를 비교하는 방식입니다.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첫 번째는 청년 맞춤 알림과 일반 예금 알림을 비교합니다.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여기서 클릭률이 높아지면 맞춤 문구가 관심을 끌었다는 것을 알 수 있고, 가입 전환율까지 높아지면 상품 제안도 실제 선택으로 이어졌다고 볼 수 있습니다.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두 번째는 55세 이상 고객에게 연령 단계별 문구를 보낸 경우와 같은 문구를 일괄 발송한 경우를 비교합니다.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이를 통해 어느 연령부터 맞춤 안내가 효과적인지 확인할 수 있습니다.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세 번째는 설문 보상이 없는 경우와 커피 기프티콘 추첨이 있는 경우를 비교합니다.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설문 완료율뿐만 아니라 응답이 특정 항목에 몰리거나 너무 빠르게 끝나지 않는지도 함께 확인해야 합니다.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클릭률, 즉 CTR은 알림을 받은 고객 중 클릭한 비율로 보고, 전환율인 CVR은 클릭한 고객 중 실제 가입한 비율로 계산합니다.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그리고 10%는 알림을 보내지 않는 통제군으로 남겨 원래 가입할 고객과 캠페인 때문에 추가로 가입한 고객을 구분합니다.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가입을 완료한 고객에게는 선택한 가장 큰 이유를 하나 고르게 합니다.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클릭했지만 가입하지 않은 고객에게는 금리, 기간, 자금 부족, 중도해지, 시기 같은 미가입 이유를 고르게 합니다.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설문은 20초에서 30초 정도로 짧게 만들고, 참여 고객 중 일부에게 커피 기프티콘을 지급하는 방식입니다.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[Sources]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- bank-additional-full.xlsx, 자체 분석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정리하면 기존 핵심 타겟은 먼저 연락할 고객이고, 잠재고객은 앱과 상담 반응을 보면서 다시 찾을 고객입니다.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기대하는 결과는 단순히 가입률 하나가 아닙니다.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클릭률을 보면 어떤 문구가 관심을 만들었는지 알 수 있고, 전환율을 보면 관심이 실제 가입으로 이어졌는지 알 수 있습니다.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가입·미가입 설문을 보면 상품을 선택하거나 선택하지 않은 이유를 알 수 있습니다.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A/B 테스트를 반복하면 어느 고객에게 어떤 알림을 보내고, 어떤 고객에게 상담을 연결하며, 어떤 상품 조건을 바꿔야 하는지 기준이 남습니다.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결국 이번 전략의 기대사항은 연락량을 늘리는 것이 아니라, 고객별 반응을 쌓아서 다음 타겟과 상품을 더 정확하게 만드는 것입니다.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[Sources]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- bank-additional-full.xlsx, 자체 분석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- https://github.com/Bum-niverse/ui-ux-pro-max-skill-codex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지금까지는 과거 성공 고객, 65세 이상, 학생처럼 집단 단위의 규칙으로 타겟을 골랐습니다.</a:t>
            </a:r>
          </a:p>
          <a:p>
            <a:endParaRPr/>
          </a:p>
          <a:p>
            <a:r>
              <a:t>은행에서 머신러닝 엔지니어로 일한다면 이 규칙을 고객별 가입 확률로 확장할 수 있습니다.</a:t>
            </a:r>
          </a:p>
          <a:p>
            <a:r>
              <a:t>연령, 직업, 대출 여부, 과거 캠페인 반응과 앱 행동을 입력으로 사용하고, 고객마다 가입 가능성을 계산합니다.</a:t>
            </a:r>
          </a:p>
          <a:p>
            <a:endParaRPr/>
          </a:p>
          <a:p>
            <a:r>
              <a:t>다만 점수가 높다고 바로 전화하는 것이 아니라 앱 클릭까지 함께 봅니다.</a:t>
            </a:r>
          </a:p>
          <a:p>
            <a:r>
              <a:t>점수도 높고 클릭한 고객은 상담을 우선 연결하고, 점수는 높지만 클릭하지 않은 고객은 문구나 상품 조건을 다시 확인합니다.</a:t>
            </a:r>
          </a:p>
          <a:p>
            <a:endParaRPr/>
          </a:p>
          <a:p>
            <a:r>
              <a:t>duration은 통화 후에만 알 수 있기 때문에 사전 모델에서는 제외합니다.</a:t>
            </a:r>
          </a:p>
          <a:p>
            <a:endParaRPr/>
          </a:p>
          <a:p>
            <a:r>
              <a:t>[Sources]</a:t>
            </a:r>
          </a:p>
          <a:p>
            <a:r>
              <a:t>- bank-additional-full.xlsx, 자체 분석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머신러닝</a:t>
            </a:r>
            <a:r>
              <a:rPr dirty="0"/>
              <a:t> </a:t>
            </a:r>
            <a:r>
              <a:rPr dirty="0" err="1"/>
              <a:t>관점에서는</a:t>
            </a:r>
            <a:r>
              <a:rPr dirty="0"/>
              <a:t> </a:t>
            </a:r>
            <a:r>
              <a:rPr dirty="0" err="1"/>
              <a:t>모델을</a:t>
            </a:r>
            <a:r>
              <a:rPr dirty="0"/>
              <a:t> </a:t>
            </a:r>
            <a:r>
              <a:rPr dirty="0" err="1"/>
              <a:t>하나로</a:t>
            </a:r>
            <a:r>
              <a:rPr dirty="0"/>
              <a:t> </a:t>
            </a:r>
            <a:r>
              <a:rPr dirty="0" err="1"/>
              <a:t>만들기보다</a:t>
            </a:r>
            <a:r>
              <a:rPr dirty="0"/>
              <a:t> </a:t>
            </a:r>
            <a:r>
              <a:rPr dirty="0" err="1"/>
              <a:t>데이터가</a:t>
            </a:r>
            <a:r>
              <a:rPr dirty="0"/>
              <a:t> </a:t>
            </a:r>
            <a:r>
              <a:rPr dirty="0" err="1"/>
              <a:t>생성되는</a:t>
            </a:r>
            <a:r>
              <a:rPr dirty="0"/>
              <a:t> </a:t>
            </a:r>
            <a:r>
              <a:rPr dirty="0" err="1"/>
              <a:t>시점에</a:t>
            </a:r>
            <a:r>
              <a:rPr dirty="0"/>
              <a:t> </a:t>
            </a:r>
            <a:r>
              <a:rPr dirty="0" err="1"/>
              <a:t>따라</a:t>
            </a:r>
            <a:r>
              <a:rPr dirty="0"/>
              <a:t> </a:t>
            </a:r>
            <a:r>
              <a:rPr dirty="0" err="1"/>
              <a:t>두</a:t>
            </a:r>
            <a:r>
              <a:rPr dirty="0"/>
              <a:t> </a:t>
            </a:r>
            <a:r>
              <a:rPr dirty="0" err="1"/>
              <a:t>개로</a:t>
            </a:r>
            <a:r>
              <a:rPr dirty="0"/>
              <a:t> </a:t>
            </a:r>
            <a:r>
              <a:rPr dirty="0" err="1"/>
              <a:t>나누는</a:t>
            </a:r>
            <a:r>
              <a:rPr dirty="0"/>
              <a:t> </a:t>
            </a:r>
            <a:r>
              <a:rPr dirty="0" err="1"/>
              <a:t>것이</a:t>
            </a:r>
            <a:r>
              <a:rPr dirty="0"/>
              <a:t> </a:t>
            </a:r>
            <a:r>
              <a:rPr dirty="0" err="1"/>
              <a:t>중요합니다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사전</a:t>
            </a:r>
            <a:r>
              <a:rPr dirty="0"/>
              <a:t> </a:t>
            </a:r>
            <a:r>
              <a:rPr dirty="0" err="1"/>
              <a:t>타겟</a:t>
            </a:r>
            <a:r>
              <a:rPr dirty="0"/>
              <a:t> </a:t>
            </a:r>
            <a:r>
              <a:rPr dirty="0" err="1"/>
              <a:t>모델은</a:t>
            </a:r>
            <a:r>
              <a:rPr dirty="0"/>
              <a:t> </a:t>
            </a:r>
            <a:r>
              <a:rPr dirty="0" err="1"/>
              <a:t>연락</a:t>
            </a:r>
            <a:r>
              <a:rPr dirty="0"/>
              <a:t> </a:t>
            </a:r>
            <a:r>
              <a:rPr dirty="0" err="1"/>
              <a:t>전에</a:t>
            </a:r>
            <a:r>
              <a:rPr dirty="0"/>
              <a:t> </a:t>
            </a:r>
            <a:r>
              <a:rPr dirty="0" err="1"/>
              <a:t>알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고객</a:t>
            </a:r>
            <a:r>
              <a:rPr dirty="0"/>
              <a:t> </a:t>
            </a:r>
            <a:r>
              <a:rPr dirty="0" err="1"/>
              <a:t>정보와</a:t>
            </a:r>
            <a:r>
              <a:rPr dirty="0"/>
              <a:t> </a:t>
            </a:r>
            <a:r>
              <a:rPr dirty="0" err="1"/>
              <a:t>과거</a:t>
            </a:r>
            <a:r>
              <a:rPr dirty="0"/>
              <a:t> </a:t>
            </a:r>
            <a:r>
              <a:rPr dirty="0" err="1"/>
              <a:t>반응으로</a:t>
            </a:r>
            <a:r>
              <a:rPr dirty="0"/>
              <a:t> </a:t>
            </a:r>
            <a:r>
              <a:rPr dirty="0" err="1"/>
              <a:t>누구에게</a:t>
            </a:r>
            <a:r>
              <a:rPr dirty="0"/>
              <a:t> </a:t>
            </a:r>
            <a:r>
              <a:rPr dirty="0" err="1"/>
              <a:t>먼저</a:t>
            </a:r>
            <a:r>
              <a:rPr dirty="0"/>
              <a:t> </a:t>
            </a:r>
            <a:r>
              <a:rPr dirty="0" err="1"/>
              <a:t>알림을</a:t>
            </a:r>
            <a:r>
              <a:rPr dirty="0"/>
              <a:t> </a:t>
            </a:r>
            <a:r>
              <a:rPr dirty="0" err="1"/>
              <a:t>보낼지</a:t>
            </a:r>
            <a:r>
              <a:rPr dirty="0"/>
              <a:t> </a:t>
            </a:r>
            <a:r>
              <a:rPr dirty="0" err="1"/>
              <a:t>정합니다</a:t>
            </a:r>
            <a:r>
              <a:rPr dirty="0"/>
              <a:t>.</a:t>
            </a:r>
          </a:p>
          <a:p>
            <a:r>
              <a:rPr dirty="0" err="1"/>
              <a:t>여기서는</a:t>
            </a:r>
            <a:r>
              <a:rPr dirty="0"/>
              <a:t> </a:t>
            </a:r>
            <a:r>
              <a:rPr dirty="0" err="1"/>
              <a:t>정확도</a:t>
            </a:r>
            <a:r>
              <a:rPr dirty="0"/>
              <a:t> </a:t>
            </a:r>
            <a:r>
              <a:rPr dirty="0" err="1"/>
              <a:t>하나보다</a:t>
            </a:r>
            <a:r>
              <a:rPr dirty="0"/>
              <a:t> </a:t>
            </a:r>
            <a:r>
              <a:rPr dirty="0" err="1"/>
              <a:t>상위</a:t>
            </a:r>
            <a:r>
              <a:rPr dirty="0"/>
              <a:t> </a:t>
            </a:r>
            <a:r>
              <a:rPr dirty="0" err="1"/>
              <a:t>점수</a:t>
            </a:r>
            <a:r>
              <a:rPr dirty="0"/>
              <a:t> </a:t>
            </a:r>
            <a:r>
              <a:rPr dirty="0" err="1"/>
              <a:t>고객이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가입</a:t>
            </a:r>
            <a:r>
              <a:rPr dirty="0"/>
              <a:t> </a:t>
            </a:r>
            <a:r>
              <a:rPr dirty="0" err="1"/>
              <a:t>고객을</a:t>
            </a:r>
            <a:r>
              <a:rPr dirty="0"/>
              <a:t> </a:t>
            </a:r>
            <a:r>
              <a:rPr dirty="0" err="1"/>
              <a:t>얼마나</a:t>
            </a:r>
            <a:r>
              <a:rPr dirty="0"/>
              <a:t> </a:t>
            </a:r>
            <a:r>
              <a:rPr dirty="0" err="1"/>
              <a:t>포착하는지</a:t>
            </a:r>
            <a:r>
              <a:rPr dirty="0"/>
              <a:t>, </a:t>
            </a:r>
            <a:r>
              <a:rPr dirty="0" err="1"/>
              <a:t>예측한</a:t>
            </a:r>
            <a:r>
              <a:rPr dirty="0"/>
              <a:t> </a:t>
            </a:r>
            <a:r>
              <a:rPr dirty="0" err="1"/>
              <a:t>확률이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가입률과</a:t>
            </a:r>
            <a:r>
              <a:rPr dirty="0"/>
              <a:t> </a:t>
            </a:r>
            <a:r>
              <a:rPr dirty="0" err="1"/>
              <a:t>맞는지를</a:t>
            </a:r>
            <a:r>
              <a:rPr dirty="0"/>
              <a:t> </a:t>
            </a:r>
            <a:r>
              <a:rPr dirty="0" err="1"/>
              <a:t>확인합니다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상담</a:t>
            </a:r>
            <a:r>
              <a:rPr dirty="0"/>
              <a:t> </a:t>
            </a:r>
            <a:r>
              <a:rPr dirty="0" err="1"/>
              <a:t>중</a:t>
            </a:r>
            <a:r>
              <a:rPr dirty="0"/>
              <a:t> </a:t>
            </a:r>
            <a:r>
              <a:rPr dirty="0" err="1"/>
              <a:t>관심</a:t>
            </a:r>
            <a:r>
              <a:rPr dirty="0"/>
              <a:t> </a:t>
            </a:r>
            <a:r>
              <a:rPr dirty="0" err="1"/>
              <a:t>모델은</a:t>
            </a:r>
            <a:r>
              <a:rPr dirty="0"/>
              <a:t> </a:t>
            </a:r>
            <a:r>
              <a:rPr dirty="0" err="1"/>
              <a:t>통화가</a:t>
            </a:r>
            <a:r>
              <a:rPr dirty="0"/>
              <a:t> </a:t>
            </a:r>
            <a:r>
              <a:rPr dirty="0" err="1"/>
              <a:t>시작된</a:t>
            </a:r>
            <a:r>
              <a:rPr dirty="0"/>
              <a:t> </a:t>
            </a:r>
            <a:r>
              <a:rPr dirty="0" err="1"/>
              <a:t>뒤</a:t>
            </a:r>
            <a:r>
              <a:rPr dirty="0"/>
              <a:t> </a:t>
            </a:r>
            <a:r>
              <a:rPr dirty="0" err="1"/>
              <a:t>생기는</a:t>
            </a:r>
            <a:r>
              <a:rPr dirty="0"/>
              <a:t> </a:t>
            </a:r>
            <a:r>
              <a:rPr dirty="0" err="1"/>
              <a:t>통화시간</a:t>
            </a:r>
            <a:r>
              <a:rPr dirty="0"/>
              <a:t>, </a:t>
            </a:r>
            <a:r>
              <a:rPr dirty="0" err="1"/>
              <a:t>상품</a:t>
            </a:r>
            <a:r>
              <a:rPr dirty="0"/>
              <a:t> </a:t>
            </a:r>
            <a:r>
              <a:rPr dirty="0" err="1"/>
              <a:t>질문</a:t>
            </a:r>
            <a:r>
              <a:rPr dirty="0"/>
              <a:t>, </a:t>
            </a:r>
            <a:r>
              <a:rPr dirty="0" err="1"/>
              <a:t>상담</a:t>
            </a:r>
            <a:r>
              <a:rPr dirty="0"/>
              <a:t> </a:t>
            </a:r>
            <a:r>
              <a:rPr dirty="0" err="1"/>
              <a:t>예약과</a:t>
            </a:r>
            <a:r>
              <a:rPr dirty="0"/>
              <a:t> </a:t>
            </a:r>
            <a:r>
              <a:rPr dirty="0" err="1"/>
              <a:t>상세</a:t>
            </a:r>
            <a:r>
              <a:rPr dirty="0"/>
              <a:t> </a:t>
            </a:r>
            <a:r>
              <a:rPr dirty="0" err="1"/>
              <a:t>조회를</a:t>
            </a:r>
            <a:r>
              <a:rPr dirty="0"/>
              <a:t> </a:t>
            </a:r>
            <a:r>
              <a:rPr dirty="0" err="1"/>
              <a:t>사용합니다</a:t>
            </a:r>
            <a:r>
              <a:rPr dirty="0"/>
              <a:t>.</a:t>
            </a:r>
          </a:p>
          <a:p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모델의</a:t>
            </a:r>
            <a:r>
              <a:rPr dirty="0"/>
              <a:t> </a:t>
            </a:r>
            <a:r>
              <a:rPr dirty="0" err="1"/>
              <a:t>목적은</a:t>
            </a:r>
            <a:r>
              <a:rPr dirty="0"/>
              <a:t> </a:t>
            </a:r>
            <a:r>
              <a:rPr dirty="0" err="1"/>
              <a:t>통화를</a:t>
            </a:r>
            <a:r>
              <a:rPr dirty="0"/>
              <a:t> </a:t>
            </a:r>
            <a:r>
              <a:rPr dirty="0" err="1"/>
              <a:t>길게</a:t>
            </a:r>
            <a:r>
              <a:rPr dirty="0"/>
              <a:t> </a:t>
            </a:r>
            <a:r>
              <a:rPr dirty="0" err="1"/>
              <a:t>만드는</a:t>
            </a:r>
            <a:r>
              <a:rPr dirty="0"/>
              <a:t> </a:t>
            </a:r>
            <a:r>
              <a:rPr dirty="0" err="1"/>
              <a:t>것이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관심이</a:t>
            </a:r>
            <a:r>
              <a:rPr dirty="0"/>
              <a:t> </a:t>
            </a:r>
            <a:r>
              <a:rPr dirty="0" err="1"/>
              <a:t>확인된</a:t>
            </a:r>
            <a:r>
              <a:rPr dirty="0"/>
              <a:t> </a:t>
            </a:r>
            <a:r>
              <a:rPr dirty="0" err="1"/>
              <a:t>고객의</a:t>
            </a:r>
            <a:r>
              <a:rPr dirty="0"/>
              <a:t> </a:t>
            </a:r>
            <a:r>
              <a:rPr dirty="0" err="1"/>
              <a:t>상담을</a:t>
            </a:r>
            <a:r>
              <a:rPr dirty="0"/>
              <a:t> </a:t>
            </a:r>
            <a:r>
              <a:rPr dirty="0" err="1"/>
              <a:t>구체화하는</a:t>
            </a:r>
            <a:r>
              <a:rPr dirty="0"/>
              <a:t> </a:t>
            </a:r>
            <a:r>
              <a:rPr dirty="0" err="1"/>
              <a:t>것입니다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A/B </a:t>
            </a:r>
            <a:r>
              <a:rPr dirty="0" err="1"/>
              <a:t>테스트는</a:t>
            </a:r>
            <a:r>
              <a:rPr dirty="0"/>
              <a:t> </a:t>
            </a:r>
            <a:r>
              <a:rPr dirty="0" err="1"/>
              <a:t>서로</a:t>
            </a:r>
            <a:r>
              <a:rPr dirty="0"/>
              <a:t> </a:t>
            </a:r>
            <a:r>
              <a:rPr dirty="0" err="1"/>
              <a:t>다른</a:t>
            </a:r>
            <a:r>
              <a:rPr dirty="0"/>
              <a:t> </a:t>
            </a:r>
            <a:r>
              <a:rPr dirty="0" err="1"/>
              <a:t>점수대</a:t>
            </a:r>
            <a:r>
              <a:rPr dirty="0"/>
              <a:t> </a:t>
            </a:r>
            <a:r>
              <a:rPr dirty="0" err="1"/>
              <a:t>고객을</a:t>
            </a:r>
            <a:r>
              <a:rPr dirty="0"/>
              <a:t> </a:t>
            </a:r>
            <a:r>
              <a:rPr dirty="0" err="1"/>
              <a:t>섞지</a:t>
            </a:r>
            <a:r>
              <a:rPr dirty="0"/>
              <a:t> </a:t>
            </a:r>
            <a:r>
              <a:rPr dirty="0" err="1"/>
              <a:t>않고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예측</a:t>
            </a:r>
            <a:r>
              <a:rPr dirty="0"/>
              <a:t> </a:t>
            </a:r>
            <a:r>
              <a:rPr dirty="0" err="1"/>
              <a:t>점수</a:t>
            </a:r>
            <a:r>
              <a:rPr dirty="0"/>
              <a:t> </a:t>
            </a:r>
            <a:r>
              <a:rPr dirty="0" err="1"/>
              <a:t>구간</a:t>
            </a:r>
            <a:r>
              <a:rPr dirty="0"/>
              <a:t> </a:t>
            </a:r>
            <a:r>
              <a:rPr dirty="0" err="1"/>
              <a:t>안에서</a:t>
            </a:r>
            <a:r>
              <a:rPr dirty="0"/>
              <a:t> </a:t>
            </a:r>
            <a:r>
              <a:rPr dirty="0" err="1"/>
              <a:t>진행해야</a:t>
            </a:r>
            <a:r>
              <a:rPr dirty="0"/>
              <a:t> </a:t>
            </a:r>
            <a:r>
              <a:rPr dirty="0" err="1"/>
              <a:t>문구</a:t>
            </a:r>
            <a:r>
              <a:rPr dirty="0"/>
              <a:t> </a:t>
            </a:r>
            <a:r>
              <a:rPr dirty="0" err="1"/>
              <a:t>자체의</a:t>
            </a:r>
            <a:r>
              <a:rPr dirty="0"/>
              <a:t> </a:t>
            </a:r>
            <a:r>
              <a:rPr dirty="0" err="1"/>
              <a:t>효과를</a:t>
            </a:r>
            <a:r>
              <a:rPr dirty="0"/>
              <a:t> </a:t>
            </a:r>
            <a:r>
              <a:rPr dirty="0" err="1"/>
              <a:t>비교할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</a:t>
            </a:r>
          </a:p>
          <a:p>
            <a:r>
              <a:rPr dirty="0" err="1"/>
              <a:t>또한</a:t>
            </a:r>
            <a:r>
              <a:rPr dirty="0"/>
              <a:t> </a:t>
            </a:r>
            <a:r>
              <a:rPr dirty="0" err="1"/>
              <a:t>연령은</a:t>
            </a:r>
            <a:r>
              <a:rPr dirty="0"/>
              <a:t> </a:t>
            </a:r>
            <a:r>
              <a:rPr dirty="0" err="1"/>
              <a:t>설명</a:t>
            </a:r>
            <a:r>
              <a:rPr dirty="0"/>
              <a:t> </a:t>
            </a:r>
            <a:r>
              <a:rPr dirty="0" err="1"/>
              <a:t>변수로</a:t>
            </a:r>
            <a:r>
              <a:rPr dirty="0"/>
              <a:t> </a:t>
            </a:r>
            <a:r>
              <a:rPr dirty="0" err="1"/>
              <a:t>사용할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있지만</a:t>
            </a:r>
            <a:r>
              <a:rPr dirty="0"/>
              <a:t> </a:t>
            </a:r>
            <a:r>
              <a:rPr dirty="0" err="1"/>
              <a:t>특정</a:t>
            </a:r>
            <a:r>
              <a:rPr dirty="0"/>
              <a:t> </a:t>
            </a:r>
            <a:r>
              <a:rPr dirty="0" err="1"/>
              <a:t>연령만</a:t>
            </a:r>
            <a:r>
              <a:rPr dirty="0"/>
              <a:t> </a:t>
            </a:r>
            <a:r>
              <a:rPr dirty="0" err="1"/>
              <a:t>자동으로</a:t>
            </a:r>
            <a:r>
              <a:rPr dirty="0"/>
              <a:t> </a:t>
            </a:r>
            <a:r>
              <a:rPr dirty="0" err="1"/>
              <a:t>배제하는</a:t>
            </a:r>
            <a:r>
              <a:rPr dirty="0"/>
              <a:t> </a:t>
            </a:r>
            <a:r>
              <a:rPr dirty="0" err="1"/>
              <a:t>기준으로</a:t>
            </a:r>
            <a:r>
              <a:rPr dirty="0"/>
              <a:t> </a:t>
            </a:r>
            <a:r>
              <a:rPr dirty="0" err="1"/>
              <a:t>사용하지</a:t>
            </a:r>
            <a:r>
              <a:rPr dirty="0"/>
              <a:t> </a:t>
            </a:r>
            <a:r>
              <a:rPr dirty="0" err="1"/>
              <a:t>않습니다</a:t>
            </a:r>
            <a:r>
              <a:rPr dirty="0"/>
              <a:t>.</a:t>
            </a:r>
            <a:br>
              <a:rPr lang="en-US" dirty="0"/>
            </a:br>
            <a:br>
              <a:rPr lang="en-US" dirty="0"/>
            </a:br>
            <a:r>
              <a:rPr lang="ko-KR" altLang="ko-KR" dirty="0"/>
              <a:t>정리하면, 타겟을 한 번 정하고 끝내는 게 아니라 고객의 클릭, 상담, 가입과 </a:t>
            </a:r>
            <a:r>
              <a:rPr lang="ko-KR" altLang="ko-KR" dirty="0" err="1"/>
              <a:t>미가입</a:t>
            </a:r>
            <a:r>
              <a:rPr lang="ko-KR" altLang="ko-KR" dirty="0"/>
              <a:t> 이유를 계속 확인해야 한다고 생각했습니다.</a:t>
            </a:r>
            <a:br>
              <a:rPr lang="ko-KR" altLang="ko-KR" dirty="0"/>
            </a:br>
            <a:r>
              <a:rPr lang="ko-KR" altLang="ko-KR" dirty="0"/>
              <a:t>이렇게 모인 반응을 다음 상품과 캠페인에 다시 적용하면 고객에게는 더 맞는 상품을 안내하고, 은행도 더 정확한 기준을 만들 수 있을 것 같습니다.</a:t>
            </a:r>
            <a:br>
              <a:rPr lang="ko-KR" altLang="ko-KR" dirty="0"/>
            </a:br>
            <a:r>
              <a:rPr lang="ko-KR" altLang="ko-KR" dirty="0"/>
              <a:t>이상으로 발표를 마치겠습니다. 감사합니다.</a:t>
            </a:r>
            <a:endParaRPr dirty="0"/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bank-additional-</a:t>
            </a:r>
            <a:r>
              <a:rPr dirty="0" err="1"/>
              <a:t>full.xlsx</a:t>
            </a:r>
            <a:r>
              <a:rPr dirty="0"/>
              <a:t>, </a:t>
            </a:r>
            <a:r>
              <a:rPr dirty="0" err="1"/>
              <a:t>자체</a:t>
            </a:r>
            <a:r>
              <a:rPr dirty="0"/>
              <a:t> </a:t>
            </a:r>
            <a:r>
              <a:rPr dirty="0" err="1"/>
              <a:t>분석</a:t>
            </a:r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>
            <a:extLst>
              <a:ext uri="{FF2B5EF4-FFF2-40B4-BE49-F238E27FC236}">
                <a16:creationId xmlns:a16="http://schemas.microsoft.com/office/drawing/2014/main" id="{8CDE34EC-F930-4681-B1C5-D40EC2EED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510480"/>
            <a:ext cx="109720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endParaRPr/>
          </a:p>
        </p:txBody>
      </p:sp>
      <p:sp>
        <p:nvSpPr>
          <p:cNvPr id="5" name="PlaceHolder 2">
            <a:extLst>
              <a:ext uri="{FF2B5EF4-FFF2-40B4-BE49-F238E27FC236}">
                <a16:creationId xmlns:a16="http://schemas.microsoft.com/office/drawing/2014/main" id="{32C7B662-C905-49A0-8C8D-A9342E533FEF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09480" y="3364920"/>
            <a:ext cx="109720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3E2C0881-86FD-483D-8D39-7FA07539F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510480"/>
            <a:ext cx="109720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sz="44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indent="0" algn="l">
              <a:buNone/>
            </a:pPr>
            <a:r>
              <a:rPr sz="44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Click to edit the title text format</a:t>
            </a: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DA7A1C5E-409C-4AD5-84CB-48809A2B9F9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14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14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4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4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4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4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4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4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Seventh Outline Level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Pretendard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0;p1">
            <a:extLst>
              <a:ext uri="{FF2B5EF4-FFF2-40B4-BE49-F238E27FC236}">
                <a16:creationId xmlns:a16="http://schemas.microsoft.com/office/drawing/2014/main" id="{6796CCDC-22A9-40C5-A24C-EEFAA0FA2203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218600" cy="323280"/>
          </a:xfrm>
          <a:prstGeom prst="roundRect">
            <a:avLst>
              <a:gd name="adj" fmla="val 50000"/>
            </a:avLst>
          </a:prstGeom>
          <a:solidFill>
            <a:srgbClr val="E9E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3" name="Google Shape;21;p1">
            <a:extLst>
              <a:ext uri="{FF2B5EF4-FFF2-40B4-BE49-F238E27FC236}">
                <a16:creationId xmlns:a16="http://schemas.microsoft.com/office/drawing/2014/main" id="{6F881C66-7E6C-455B-A712-861575E8EFE8}"/>
              </a:ext>
            </a:extLst>
          </p:cNvPr>
          <p:cNvSpPr>
            <a:spLocks noGrp="1"/>
          </p:cNvSpPr>
          <p:nvPr/>
        </p:nvSpPr>
        <p:spPr>
          <a:xfrm>
            <a:off x="819000" y="723960"/>
            <a:ext cx="95184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132033"/>
                </a:solidFill>
              </a:defRPr>
            </a:pPr>
            <a:r>
              <a:rPr sz="980" b="1" u="none">
                <a:solidFill>
                  <a:srgbClr val="132033"/>
                </a:solidFill>
                <a:latin typeface="Pretendard"/>
                <a:ea typeface="Pretendard"/>
                <a:cs typeface="Pretendard"/>
              </a:rPr>
              <a:t>MISSION 02</a:t>
            </a:r>
          </a:p>
        </p:txBody>
      </p:sp>
      <p:sp>
        <p:nvSpPr>
          <p:cNvPr id="14" name="Google Shape;22;p1">
            <a:extLst>
              <a:ext uri="{FF2B5EF4-FFF2-40B4-BE49-F238E27FC236}">
                <a16:creationId xmlns:a16="http://schemas.microsoft.com/office/drawing/2014/main" id="{EA354C50-C8A6-4519-9AE4-6619E47C14F5}"/>
              </a:ext>
            </a:extLst>
          </p:cNvPr>
          <p:cNvSpPr>
            <a:spLocks noGrp="1"/>
          </p:cNvSpPr>
          <p:nvPr/>
        </p:nvSpPr>
        <p:spPr>
          <a:xfrm>
            <a:off x="685800" y="1562040"/>
            <a:ext cx="7809840" cy="161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111827"/>
                </a:solidFill>
              </a:defRPr>
            </a:pPr>
            <a:r>
              <a:rPr sz="4050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타겟 추가 설정과</a:t>
            </a:r>
          </a:p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111827"/>
                </a:solidFill>
              </a:defRPr>
            </a:pPr>
            <a:r>
              <a:rPr sz="4050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각 고객별 전략</a:t>
            </a:r>
          </a:p>
        </p:txBody>
      </p:sp>
      <p:sp>
        <p:nvSpPr>
          <p:cNvPr id="15" name="Google Shape;23;p1">
            <a:extLst>
              <a:ext uri="{FF2B5EF4-FFF2-40B4-BE49-F238E27FC236}">
                <a16:creationId xmlns:a16="http://schemas.microsoft.com/office/drawing/2014/main" id="{3DBAEC1D-9F57-41B9-BBFA-1F69D7E92643}"/>
              </a:ext>
            </a:extLst>
          </p:cNvPr>
          <p:cNvSpPr>
            <a:spLocks noGrp="1"/>
          </p:cNvSpPr>
          <p:nvPr/>
        </p:nvSpPr>
        <p:spPr>
          <a:xfrm>
            <a:off x="723960" y="3476520"/>
            <a:ext cx="6571440" cy="85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5B6473"/>
                </a:solidFill>
              </a:defRPr>
            </a:pPr>
            <a:r>
              <a:rPr sz="1870" b="0" u="none">
                <a:solidFill>
                  <a:srgbClr val="5B6473"/>
                </a:solidFill>
                <a:latin typeface="Pretendard"/>
                <a:ea typeface="Pretendard"/>
                <a:cs typeface="Pretendard"/>
              </a:rPr>
              <a:t>기존 핵심 타겟에 잠재고객을 더하고</a:t>
            </a:r>
          </a:p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5B6473"/>
                </a:solidFill>
              </a:defRPr>
            </a:pPr>
            <a:r>
              <a:rPr sz="1870" b="0" u="none">
                <a:solidFill>
                  <a:srgbClr val="5B6473"/>
                </a:solidFill>
                <a:latin typeface="Pretendard"/>
                <a:ea typeface="Pretendard"/>
                <a:cs typeface="Pretendard"/>
              </a:rPr>
              <a:t>고객별 실행 방법을 정리했다</a:t>
            </a:r>
          </a:p>
        </p:txBody>
      </p:sp>
      <p:sp>
        <p:nvSpPr>
          <p:cNvPr id="16" name="Google Shape;24;p1">
            <a:extLst>
              <a:ext uri="{FF2B5EF4-FFF2-40B4-BE49-F238E27FC236}">
                <a16:creationId xmlns:a16="http://schemas.microsoft.com/office/drawing/2014/main" id="{DCD00E17-3A1A-4C1D-89F1-F4E492C8455F}"/>
              </a:ext>
            </a:extLst>
          </p:cNvPr>
          <p:cNvSpPr>
            <a:spLocks noGrp="1"/>
          </p:cNvSpPr>
          <p:nvPr/>
        </p:nvSpPr>
        <p:spPr>
          <a:xfrm>
            <a:off x="8325000" y="1352520"/>
            <a:ext cx="3180600" cy="3771360"/>
          </a:xfrm>
          <a:prstGeom prst="roundRect">
            <a:avLst>
              <a:gd name="adj" fmla="val 4790"/>
            </a:avLst>
          </a:prstGeom>
          <a:solidFill>
            <a:srgbClr val="275D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7" name="Google Shape;25;p1">
            <a:extLst>
              <a:ext uri="{FF2B5EF4-FFF2-40B4-BE49-F238E27FC236}">
                <a16:creationId xmlns:a16="http://schemas.microsoft.com/office/drawing/2014/main" id="{5A2930B4-8F4B-4952-8FB2-16681745570F}"/>
              </a:ext>
            </a:extLst>
          </p:cNvPr>
          <p:cNvSpPr>
            <a:spLocks noGrp="1"/>
          </p:cNvSpPr>
          <p:nvPr/>
        </p:nvSpPr>
        <p:spPr>
          <a:xfrm>
            <a:off x="8667720" y="2095560"/>
            <a:ext cx="2523240" cy="93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FFFFFF"/>
                </a:solidFill>
              </a:defRPr>
            </a:pPr>
            <a:r>
              <a:rPr sz="4800" b="1" u="none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3+4</a:t>
            </a:r>
          </a:p>
        </p:txBody>
      </p:sp>
      <p:sp>
        <p:nvSpPr>
          <p:cNvPr id="18" name="Google Shape;26;p1">
            <a:extLst>
              <a:ext uri="{FF2B5EF4-FFF2-40B4-BE49-F238E27FC236}">
                <a16:creationId xmlns:a16="http://schemas.microsoft.com/office/drawing/2014/main" id="{E23FE8FA-83D3-40F8-B693-B2C6F2005E6D}"/>
              </a:ext>
            </a:extLst>
          </p:cNvPr>
          <p:cNvSpPr>
            <a:spLocks noGrp="1"/>
          </p:cNvSpPr>
          <p:nvPr/>
        </p:nvSpPr>
        <p:spPr>
          <a:xfrm>
            <a:off x="8763120" y="3095625"/>
            <a:ext cx="2332800" cy="68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FFFFFF"/>
                </a:solidFill>
              </a:defRPr>
            </a:pPr>
            <a:r>
              <a:rPr sz="1580" b="1" u="none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타겟</a:t>
            </a: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FFFFFF"/>
                </a:solidFill>
              </a:defRPr>
            </a:pPr>
            <a:r>
              <a:rPr sz="1580" b="1" u="none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+ 잠재 타겟</a:t>
            </a:r>
          </a:p>
        </p:txBody>
      </p:sp>
      <p:sp>
        <p:nvSpPr>
          <p:cNvPr id="19" name="Google Shape;27;p1">
            <a:extLst>
              <a:ext uri="{FF2B5EF4-FFF2-40B4-BE49-F238E27FC236}">
                <a16:creationId xmlns:a16="http://schemas.microsoft.com/office/drawing/2014/main" id="{4EBFE62A-EC1C-4208-8CA4-47FF59366B5A}"/>
              </a:ext>
            </a:extLst>
          </p:cNvPr>
          <p:cNvSpPr>
            <a:spLocks noGrp="1"/>
          </p:cNvSpPr>
          <p:nvPr/>
        </p:nvSpPr>
        <p:spPr>
          <a:xfrm>
            <a:off x="8705880" y="4038480"/>
            <a:ext cx="2418480" cy="18360"/>
          </a:xfrm>
          <a:prstGeom prst="rect">
            <a:avLst/>
          </a:prstGeom>
          <a:solidFill>
            <a:srgbClr val="8EAC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endParaRPr/>
          </a:p>
        </p:txBody>
      </p:sp>
      <p:sp>
        <p:nvSpPr>
          <p:cNvPr id="20" name="Google Shape;28;p1">
            <a:extLst>
              <a:ext uri="{FF2B5EF4-FFF2-40B4-BE49-F238E27FC236}">
                <a16:creationId xmlns:a16="http://schemas.microsoft.com/office/drawing/2014/main" id="{30C92C90-0BA0-4693-A6D4-A5DEBFCFBABA}"/>
              </a:ext>
            </a:extLst>
          </p:cNvPr>
          <p:cNvSpPr>
            <a:spLocks noGrp="1"/>
          </p:cNvSpPr>
          <p:nvPr/>
        </p:nvSpPr>
        <p:spPr>
          <a:xfrm>
            <a:off x="8667720" y="4286160"/>
            <a:ext cx="2523240" cy="38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FFFFFF"/>
                </a:solidFill>
              </a:defRPr>
            </a:pPr>
            <a:r>
              <a:rPr sz="1280" b="1" u="none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앱·상담 반응을 다음 상품에 반영</a:t>
            </a:r>
          </a:p>
        </p:txBody>
      </p:sp>
      <p:sp>
        <p:nvSpPr>
          <p:cNvPr id="21" name="Google Shape;29;p1">
            <a:extLst>
              <a:ext uri="{FF2B5EF4-FFF2-40B4-BE49-F238E27FC236}">
                <a16:creationId xmlns:a16="http://schemas.microsoft.com/office/drawing/2014/main" id="{039E226C-72E0-43CE-8458-829F7DCBCC19}"/>
              </a:ext>
            </a:extLst>
          </p:cNvPr>
          <p:cNvSpPr>
            <a:spLocks noGrp="1"/>
          </p:cNvSpPr>
          <p:nvPr/>
        </p:nvSpPr>
        <p:spPr>
          <a:xfrm>
            <a:off x="723960" y="5886360"/>
            <a:ext cx="6190560" cy="28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7B879A"/>
                </a:solidFill>
              </a:defRPr>
            </a:pPr>
            <a:r>
              <a:rPr sz="1200" b="0" u="none">
                <a:solidFill>
                  <a:srgbClr val="7B879A"/>
                </a:solidFill>
                <a:latin typeface="Pretendard"/>
                <a:ea typeface="Pretendard"/>
                <a:cs typeface="Pretendard"/>
              </a:rPr>
              <a:t>서울 영커리언스 캠프 2차 미션 · 김범수</a:t>
            </a:r>
          </a:p>
        </p:txBody>
      </p:sp>
    </p:spTree>
    <p:extLst>
      <p:ext uri="{BB962C8B-B14F-4D97-AF65-F5344CB8AC3E}">
        <p14:creationId xmlns:p14="http://schemas.microsoft.com/office/powerpoint/2010/main" val="1894274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35;p2">
            <a:extLst>
              <a:ext uri="{FF2B5EF4-FFF2-40B4-BE49-F238E27FC236}">
                <a16:creationId xmlns:a16="http://schemas.microsoft.com/office/drawing/2014/main" id="{634F5CC8-1F99-466F-9378-FA66F01DA154}"/>
              </a:ext>
            </a:extLst>
          </p:cNvPr>
          <p:cNvSpPr>
            <a:spLocks noGrp="1"/>
          </p:cNvSpPr>
          <p:nvPr/>
        </p:nvSpPr>
        <p:spPr>
          <a:xfrm>
            <a:off x="685800" y="361800"/>
            <a:ext cx="523080" cy="24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275DF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23" name="Google Shape;36;p2">
            <a:extLst>
              <a:ext uri="{FF2B5EF4-FFF2-40B4-BE49-F238E27FC236}">
                <a16:creationId xmlns:a16="http://schemas.microsoft.com/office/drawing/2014/main" id="{47814F6C-FFEA-4E4A-97AD-988EDC858D16}"/>
              </a:ext>
            </a:extLst>
          </p:cNvPr>
          <p:cNvSpPr>
            <a:spLocks noGrp="1"/>
          </p:cNvSpPr>
          <p:nvPr/>
        </p:nvSpPr>
        <p:spPr>
          <a:xfrm>
            <a:off x="685800" y="743040"/>
            <a:ext cx="10819800" cy="55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132033"/>
                </a:solidFill>
              </a:defRPr>
            </a:pPr>
            <a:r>
              <a:rPr sz="2780" b="1" u="none">
                <a:solidFill>
                  <a:srgbClr val="132033"/>
                </a:solidFill>
                <a:latin typeface="Pretendard"/>
                <a:ea typeface="Pretendard"/>
                <a:cs typeface="Pretendard"/>
              </a:rPr>
              <a:t>가입률만 보지 않고, 고객을 찾고 배우는 구조로 바꿨다</a:t>
            </a:r>
          </a:p>
        </p:txBody>
      </p:sp>
      <p:sp>
        <p:nvSpPr>
          <p:cNvPr id="24" name="Google Shape;37;p2">
            <a:extLst>
              <a:ext uri="{FF2B5EF4-FFF2-40B4-BE49-F238E27FC236}">
                <a16:creationId xmlns:a16="http://schemas.microsoft.com/office/drawing/2014/main" id="{80A39F97-3599-4818-B0F4-E062A067E413}"/>
              </a:ext>
            </a:extLst>
          </p:cNvPr>
          <p:cNvSpPr>
            <a:spLocks noGrp="1"/>
          </p:cNvSpPr>
          <p:nvPr/>
        </p:nvSpPr>
        <p:spPr>
          <a:xfrm>
            <a:off x="685800" y="1438200"/>
            <a:ext cx="10819800" cy="18360"/>
          </a:xfrm>
          <a:prstGeom prst="rect">
            <a:avLst/>
          </a:prstGeom>
          <a:solidFill>
            <a:srgbClr val="DDE2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endParaRPr/>
          </a:p>
        </p:txBody>
      </p:sp>
      <p:sp>
        <p:nvSpPr>
          <p:cNvPr id="25" name="Google Shape;38;p2">
            <a:extLst>
              <a:ext uri="{FF2B5EF4-FFF2-40B4-BE49-F238E27FC236}">
                <a16:creationId xmlns:a16="http://schemas.microsoft.com/office/drawing/2014/main" id="{E2F50B86-0883-449B-937A-73E58F951BF0}"/>
              </a:ext>
            </a:extLst>
          </p:cNvPr>
          <p:cNvSpPr>
            <a:spLocks noGrp="1"/>
          </p:cNvSpPr>
          <p:nvPr/>
        </p:nvSpPr>
        <p:spPr>
          <a:xfrm>
            <a:off x="685800" y="1676520"/>
            <a:ext cx="7238160" cy="62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580" b="0" u="none">
                <a:solidFill>
                  <a:srgbClr val="5B6473"/>
                </a:solidFill>
                <a:latin typeface="Pretendard"/>
                <a:ea typeface="Pretendard"/>
                <a:cs typeface="Pretendard"/>
              </a:rPr>
              <a:t>전체 가입률은 11.27%였다. 이제는 높은 집단을 찾는 데서 끝내지 않고, </a:t>
            </a: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580" b="0" u="none">
                <a:solidFill>
                  <a:srgbClr val="5B6473"/>
                </a:solidFill>
                <a:latin typeface="Pretendard"/>
                <a:ea typeface="Pretendard"/>
                <a:cs typeface="Pretendard"/>
              </a:rPr>
              <a:t>앱과 상담 반응을 다음 상품에 남겨야 한다.</a:t>
            </a:r>
          </a:p>
        </p:txBody>
      </p:sp>
      <p:sp>
        <p:nvSpPr>
          <p:cNvPr id="26" name="Google Shape;39;p2">
            <a:extLst>
              <a:ext uri="{FF2B5EF4-FFF2-40B4-BE49-F238E27FC236}">
                <a16:creationId xmlns:a16="http://schemas.microsoft.com/office/drawing/2014/main" id="{CAD71C41-9FAC-427F-815B-A93CF3EB03CA}"/>
              </a:ext>
            </a:extLst>
          </p:cNvPr>
          <p:cNvSpPr>
            <a:spLocks noGrp="1"/>
          </p:cNvSpPr>
          <p:nvPr/>
        </p:nvSpPr>
        <p:spPr>
          <a:xfrm>
            <a:off x="685800" y="2685960"/>
            <a:ext cx="3142440" cy="95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 b="1">
                <a:solidFill>
                  <a:srgbClr val="2F63F5"/>
                </a:solidFill>
              </a:defRPr>
            </a:pPr>
            <a:r>
              <a:rPr sz="5400" b="1" u="none">
                <a:solidFill>
                  <a:srgbClr val="2F63F5"/>
                </a:solidFill>
                <a:latin typeface="Pretendard"/>
                <a:ea typeface="Pretendard"/>
                <a:cs typeface="Pretendard"/>
              </a:rPr>
              <a:t>11.27%</a:t>
            </a:r>
          </a:p>
        </p:txBody>
      </p:sp>
      <p:sp>
        <p:nvSpPr>
          <p:cNvPr id="27" name="Google Shape;40;p2">
            <a:extLst>
              <a:ext uri="{FF2B5EF4-FFF2-40B4-BE49-F238E27FC236}">
                <a16:creationId xmlns:a16="http://schemas.microsoft.com/office/drawing/2014/main" id="{A3089DCE-8403-468C-8695-28B196EF870C}"/>
              </a:ext>
            </a:extLst>
          </p:cNvPr>
          <p:cNvSpPr>
            <a:spLocks noGrp="1"/>
          </p:cNvSpPr>
          <p:nvPr/>
        </p:nvSpPr>
        <p:spPr>
          <a:xfrm>
            <a:off x="743040" y="3619440"/>
            <a:ext cx="285696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667085"/>
                </a:solidFill>
              </a:defRPr>
            </a:pPr>
            <a:r>
              <a:rPr sz="1350" b="1" u="none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전체 평균 가입률</a:t>
            </a:r>
          </a:p>
        </p:txBody>
      </p:sp>
      <p:sp>
        <p:nvSpPr>
          <p:cNvPr id="28" name="Google Shape;41;p2">
            <a:extLst>
              <a:ext uri="{FF2B5EF4-FFF2-40B4-BE49-F238E27FC236}">
                <a16:creationId xmlns:a16="http://schemas.microsoft.com/office/drawing/2014/main" id="{478DFE34-824C-4BD7-B3CF-0F69DB495A52}"/>
              </a:ext>
            </a:extLst>
          </p:cNvPr>
          <p:cNvSpPr>
            <a:spLocks noGrp="1"/>
          </p:cNvSpPr>
          <p:nvPr/>
        </p:nvSpPr>
        <p:spPr>
          <a:xfrm>
            <a:off x="685800" y="4210200"/>
            <a:ext cx="4323600" cy="112320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DDE2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29" name="Google Shape;42;p2">
            <a:extLst>
              <a:ext uri="{FF2B5EF4-FFF2-40B4-BE49-F238E27FC236}">
                <a16:creationId xmlns:a16="http://schemas.microsoft.com/office/drawing/2014/main" id="{FD0C6222-D49D-4D2C-859B-2A19E2AADDDC}"/>
              </a:ext>
            </a:extLst>
          </p:cNvPr>
          <p:cNvSpPr>
            <a:spLocks noGrp="1"/>
          </p:cNvSpPr>
          <p:nvPr/>
        </p:nvSpPr>
        <p:spPr>
          <a:xfrm>
            <a:off x="749740" y="4258260"/>
            <a:ext cx="1809000" cy="28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 b="1">
                <a:solidFill>
                  <a:srgbClr val="2F63F5"/>
                </a:solidFill>
              </a:defRPr>
            </a:pPr>
            <a:r>
              <a:rPr sz="1130" b="1" u="none">
                <a:solidFill>
                  <a:srgbClr val="2F63F5"/>
                </a:solidFill>
                <a:latin typeface="Pretendard"/>
                <a:ea typeface="Pretendard"/>
                <a:cs typeface="Pretendard"/>
              </a:rPr>
              <a:t>이번에 다시 잡은 질문</a:t>
            </a:r>
          </a:p>
        </p:txBody>
      </p:sp>
      <p:sp>
        <p:nvSpPr>
          <p:cNvPr id="30" name="Google Shape;43;p2">
            <a:extLst>
              <a:ext uri="{FF2B5EF4-FFF2-40B4-BE49-F238E27FC236}">
                <a16:creationId xmlns:a16="http://schemas.microsoft.com/office/drawing/2014/main" id="{CDB0FC80-632B-425A-B0E8-D06CFC792C98}"/>
              </a:ext>
            </a:extLst>
          </p:cNvPr>
          <p:cNvSpPr>
            <a:spLocks noGrp="1"/>
          </p:cNvSpPr>
          <p:nvPr/>
        </p:nvSpPr>
        <p:spPr>
          <a:xfrm>
            <a:off x="743040" y="4619625"/>
            <a:ext cx="4095000" cy="6667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누구에게 먼저 연락하고,</a:t>
            </a: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반응을 다음 상품에 어떻게 쓸 것인가?</a:t>
            </a:r>
          </a:p>
        </p:txBody>
      </p:sp>
      <p:graphicFrame>
        <p:nvGraphicFramePr>
          <p:cNvPr id="44" name="Google Shape;44;p2"/>
          <p:cNvGraphicFramePr/>
          <p:nvPr/>
        </p:nvGraphicFramePr>
        <p:xfrm>
          <a:off x="6496200" y="2095560"/>
          <a:ext cx="4095000" cy="3428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2" name="Google Shape;45;p2">
            <a:extLst>
              <a:ext uri="{FF2B5EF4-FFF2-40B4-BE49-F238E27FC236}">
                <a16:creationId xmlns:a16="http://schemas.microsoft.com/office/drawing/2014/main" id="{3FD713FB-958F-4500-BDD2-B6AD13AB5304}"/>
              </a:ext>
            </a:extLst>
          </p:cNvPr>
          <p:cNvSpPr>
            <a:spLocks noGrp="1"/>
          </p:cNvSpPr>
          <p:nvPr/>
        </p:nvSpPr>
        <p:spPr>
          <a:xfrm>
            <a:off x="685800" y="6496200"/>
            <a:ext cx="4952160" cy="17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8B97A8"/>
                </a:solidFill>
              </a:defRPr>
            </a:pPr>
            <a:r>
              <a:rPr sz="820" b="1" u="none">
                <a:solidFill>
                  <a:srgbClr val="8B97A8"/>
                </a:solidFill>
                <a:latin typeface="Pretendard"/>
                <a:ea typeface="Pretendard"/>
                <a:cs typeface="Pretendard"/>
              </a:rPr>
              <a:t>SEOUL YOUNG CAREERIENCE CAMP · DATA_B</a:t>
            </a:r>
          </a:p>
        </p:txBody>
      </p:sp>
      <p:sp>
        <p:nvSpPr>
          <p:cNvPr id="33" name="Google Shape;46;p2">
            <a:extLst>
              <a:ext uri="{FF2B5EF4-FFF2-40B4-BE49-F238E27FC236}">
                <a16:creationId xmlns:a16="http://schemas.microsoft.com/office/drawing/2014/main" id="{B4AC1D7B-E5DD-43B3-8CE5-4E96880D02D6}"/>
              </a:ext>
            </a:extLst>
          </p:cNvPr>
          <p:cNvSpPr>
            <a:spLocks noGrp="1"/>
          </p:cNvSpPr>
          <p:nvPr/>
        </p:nvSpPr>
        <p:spPr>
          <a:xfrm>
            <a:off x="10934640" y="6496200"/>
            <a:ext cx="570960" cy="17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8B97A8"/>
                </a:solidFill>
              </a:defRPr>
            </a:pPr>
            <a:r>
              <a:rPr sz="820" b="1" u="none">
                <a:solidFill>
                  <a:srgbClr val="8B97A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23408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52;p3">
            <a:extLst>
              <a:ext uri="{FF2B5EF4-FFF2-40B4-BE49-F238E27FC236}">
                <a16:creationId xmlns:a16="http://schemas.microsoft.com/office/drawing/2014/main" id="{A4E417CD-46A0-48F8-915C-F7DD13FD02E7}"/>
              </a:ext>
            </a:extLst>
          </p:cNvPr>
          <p:cNvSpPr>
            <a:spLocks noGrp="1"/>
          </p:cNvSpPr>
          <p:nvPr/>
        </p:nvSpPr>
        <p:spPr>
          <a:xfrm>
            <a:off x="685800" y="361800"/>
            <a:ext cx="523080" cy="24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275DFF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35" name="Google Shape;53;p3">
            <a:extLst>
              <a:ext uri="{FF2B5EF4-FFF2-40B4-BE49-F238E27FC236}">
                <a16:creationId xmlns:a16="http://schemas.microsoft.com/office/drawing/2014/main" id="{CBA6EA7B-7207-4376-BC1D-89D7E6FCA061}"/>
              </a:ext>
            </a:extLst>
          </p:cNvPr>
          <p:cNvSpPr>
            <a:spLocks noGrp="1"/>
          </p:cNvSpPr>
          <p:nvPr/>
        </p:nvSpPr>
        <p:spPr>
          <a:xfrm>
            <a:off x="685800" y="743040"/>
            <a:ext cx="10819800" cy="55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132033"/>
                </a:solidFill>
              </a:defRPr>
            </a:pPr>
            <a:r>
              <a:rPr sz="2780" b="1" u="none">
                <a:solidFill>
                  <a:srgbClr val="132033"/>
                </a:solidFill>
                <a:latin typeface="Pretendard"/>
                <a:ea typeface="Pretendard"/>
                <a:cs typeface="Pretendard"/>
              </a:rPr>
              <a:t>기존 고객 타겟은 세 가지 기준으로 골랐다</a:t>
            </a:r>
          </a:p>
        </p:txBody>
      </p:sp>
      <p:sp>
        <p:nvSpPr>
          <p:cNvPr id="36" name="Google Shape;54;p3">
            <a:extLst>
              <a:ext uri="{FF2B5EF4-FFF2-40B4-BE49-F238E27FC236}">
                <a16:creationId xmlns:a16="http://schemas.microsoft.com/office/drawing/2014/main" id="{618B5A59-BDDB-422C-B998-D4855497FC7A}"/>
              </a:ext>
            </a:extLst>
          </p:cNvPr>
          <p:cNvSpPr>
            <a:spLocks noGrp="1"/>
          </p:cNvSpPr>
          <p:nvPr/>
        </p:nvSpPr>
        <p:spPr>
          <a:xfrm>
            <a:off x="685800" y="1438200"/>
            <a:ext cx="10819800" cy="18360"/>
          </a:xfrm>
          <a:prstGeom prst="rect">
            <a:avLst/>
          </a:prstGeom>
          <a:solidFill>
            <a:srgbClr val="DDE2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endParaRPr/>
          </a:p>
        </p:txBody>
      </p:sp>
      <p:sp>
        <p:nvSpPr>
          <p:cNvPr id="37" name="Google Shape;55;p3">
            <a:extLst>
              <a:ext uri="{FF2B5EF4-FFF2-40B4-BE49-F238E27FC236}">
                <a16:creationId xmlns:a16="http://schemas.microsoft.com/office/drawing/2014/main" id="{50FD42F0-273A-4C5C-AB94-FA05EA40E541}"/>
              </a:ext>
            </a:extLst>
          </p:cNvPr>
          <p:cNvSpPr>
            <a:spLocks noGrp="1"/>
          </p:cNvSpPr>
          <p:nvPr/>
        </p:nvSpPr>
        <p:spPr>
          <a:xfrm>
            <a:off x="685800" y="1676520"/>
            <a:ext cx="8571960" cy="36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0" u="none">
                <a:solidFill>
                  <a:srgbClr val="5B6473"/>
                </a:solidFill>
                <a:latin typeface="Pretendard"/>
                <a:ea typeface="Pretendard"/>
                <a:cs typeface="Pretendard"/>
              </a:rPr>
              <a:t>전체 평균보다 가입률이 높고, 연락 전에 구분할 수 있고, 서로 겹치지 않게 골랐다.</a:t>
            </a:r>
          </a:p>
        </p:txBody>
      </p:sp>
      <p:sp>
        <p:nvSpPr>
          <p:cNvPr id="38" name="Google Shape;56;p3">
            <a:extLst>
              <a:ext uri="{FF2B5EF4-FFF2-40B4-BE49-F238E27FC236}">
                <a16:creationId xmlns:a16="http://schemas.microsoft.com/office/drawing/2014/main" id="{CCC429CA-CCF9-4515-A4BB-F69938880FA5}"/>
              </a:ext>
            </a:extLst>
          </p:cNvPr>
          <p:cNvSpPr>
            <a:spLocks noGrp="1"/>
          </p:cNvSpPr>
          <p:nvPr/>
        </p:nvSpPr>
        <p:spPr>
          <a:xfrm>
            <a:off x="743040" y="2400480"/>
            <a:ext cx="456480" cy="55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2550" b="1" u="none">
                <a:solidFill>
                  <a:srgbClr val="275D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9" name="Google Shape;57;p3">
            <a:extLst>
              <a:ext uri="{FF2B5EF4-FFF2-40B4-BE49-F238E27FC236}">
                <a16:creationId xmlns:a16="http://schemas.microsoft.com/office/drawing/2014/main" id="{F197B670-DBE0-4E68-A822-CBE084F77734}"/>
              </a:ext>
            </a:extLst>
          </p:cNvPr>
          <p:cNvSpPr>
            <a:spLocks noGrp="1"/>
          </p:cNvSpPr>
          <p:nvPr/>
        </p:nvSpPr>
        <p:spPr>
          <a:xfrm>
            <a:off x="1428840" y="2400480"/>
            <a:ext cx="4095000" cy="55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950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과거 캠페인 성공</a:t>
            </a:r>
          </a:p>
        </p:txBody>
      </p:sp>
      <p:sp>
        <p:nvSpPr>
          <p:cNvPr id="40" name="Google Shape;58;p3">
            <a:extLst>
              <a:ext uri="{FF2B5EF4-FFF2-40B4-BE49-F238E27FC236}">
                <a16:creationId xmlns:a16="http://schemas.microsoft.com/office/drawing/2014/main" id="{F4CC4DF5-15DD-43B4-A252-1E9276E8A35D}"/>
              </a:ext>
            </a:extLst>
          </p:cNvPr>
          <p:cNvSpPr>
            <a:spLocks noGrp="1"/>
          </p:cNvSpPr>
          <p:nvPr/>
        </p:nvSpPr>
        <p:spPr>
          <a:xfrm>
            <a:off x="6095880" y="2400480"/>
            <a:ext cx="1428120" cy="55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sz="1580" b="1" u="none">
                <a:solidFill>
                  <a:srgbClr val="5B6473"/>
                </a:solidFill>
                <a:latin typeface="Pretendard"/>
                <a:ea typeface="Pretendard"/>
                <a:cs typeface="Pretendard"/>
              </a:rPr>
              <a:t>1,373명</a:t>
            </a:r>
          </a:p>
        </p:txBody>
      </p:sp>
      <p:sp>
        <p:nvSpPr>
          <p:cNvPr id="41" name="Google Shape;59;p3">
            <a:extLst>
              <a:ext uri="{FF2B5EF4-FFF2-40B4-BE49-F238E27FC236}">
                <a16:creationId xmlns:a16="http://schemas.microsoft.com/office/drawing/2014/main" id="{CA38238E-C1F3-4567-A31A-A8364423F74B}"/>
              </a:ext>
            </a:extLst>
          </p:cNvPr>
          <p:cNvSpPr>
            <a:spLocks noGrp="1"/>
          </p:cNvSpPr>
          <p:nvPr/>
        </p:nvSpPr>
        <p:spPr>
          <a:xfrm>
            <a:off x="8096400" y="2400480"/>
            <a:ext cx="2094840" cy="55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sz="2780" b="1" u="none">
                <a:solidFill>
                  <a:srgbClr val="275DFF"/>
                </a:solidFill>
                <a:latin typeface="Pretendard"/>
                <a:ea typeface="Pretendard"/>
                <a:cs typeface="Pretendard"/>
              </a:rPr>
              <a:t>65.11%</a:t>
            </a:r>
          </a:p>
        </p:txBody>
      </p:sp>
      <p:sp>
        <p:nvSpPr>
          <p:cNvPr id="42" name="Google Shape;60;p3">
            <a:extLst>
              <a:ext uri="{FF2B5EF4-FFF2-40B4-BE49-F238E27FC236}">
                <a16:creationId xmlns:a16="http://schemas.microsoft.com/office/drawing/2014/main" id="{94F60E98-F3C4-4479-83A6-4D09EED96EDB}"/>
              </a:ext>
            </a:extLst>
          </p:cNvPr>
          <p:cNvSpPr>
            <a:spLocks noGrp="1"/>
          </p:cNvSpPr>
          <p:nvPr/>
        </p:nvSpPr>
        <p:spPr>
          <a:xfrm>
            <a:off x="1428840" y="3114720"/>
            <a:ext cx="8762400" cy="8640"/>
          </a:xfrm>
          <a:prstGeom prst="rect">
            <a:avLst/>
          </a:prstGeom>
          <a:solidFill>
            <a:srgbClr val="DDE2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endParaRPr/>
          </a:p>
        </p:txBody>
      </p:sp>
      <p:sp>
        <p:nvSpPr>
          <p:cNvPr id="43" name="Google Shape;61;p3">
            <a:extLst>
              <a:ext uri="{FF2B5EF4-FFF2-40B4-BE49-F238E27FC236}">
                <a16:creationId xmlns:a16="http://schemas.microsoft.com/office/drawing/2014/main" id="{22B56429-03C3-4AB2-8B03-663492007A81}"/>
              </a:ext>
            </a:extLst>
          </p:cNvPr>
          <p:cNvSpPr>
            <a:spLocks noGrp="1"/>
          </p:cNvSpPr>
          <p:nvPr/>
        </p:nvSpPr>
        <p:spPr>
          <a:xfrm>
            <a:off x="743040" y="3390840"/>
            <a:ext cx="456480" cy="55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2550" b="1" u="none">
                <a:solidFill>
                  <a:srgbClr val="17C99A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44" name="Google Shape;62;p3">
            <a:extLst>
              <a:ext uri="{FF2B5EF4-FFF2-40B4-BE49-F238E27FC236}">
                <a16:creationId xmlns:a16="http://schemas.microsoft.com/office/drawing/2014/main" id="{9B22951F-FB3F-4DED-B21C-8728A68CA122}"/>
              </a:ext>
            </a:extLst>
          </p:cNvPr>
          <p:cNvSpPr>
            <a:spLocks noGrp="1"/>
          </p:cNvSpPr>
          <p:nvPr/>
        </p:nvSpPr>
        <p:spPr>
          <a:xfrm>
            <a:off x="1428840" y="3390840"/>
            <a:ext cx="4095000" cy="55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950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그 외 65세 이상</a:t>
            </a:r>
          </a:p>
        </p:txBody>
      </p:sp>
      <p:sp>
        <p:nvSpPr>
          <p:cNvPr id="45" name="Google Shape;63;p3">
            <a:extLst>
              <a:ext uri="{FF2B5EF4-FFF2-40B4-BE49-F238E27FC236}">
                <a16:creationId xmlns:a16="http://schemas.microsoft.com/office/drawing/2014/main" id="{C6728C54-165D-4A6F-937B-180BA6C3C62F}"/>
              </a:ext>
            </a:extLst>
          </p:cNvPr>
          <p:cNvSpPr>
            <a:spLocks noGrp="1"/>
          </p:cNvSpPr>
          <p:nvPr/>
        </p:nvSpPr>
        <p:spPr>
          <a:xfrm>
            <a:off x="6095880" y="3390840"/>
            <a:ext cx="1428120" cy="55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sz="1580" b="1" u="none">
                <a:solidFill>
                  <a:srgbClr val="5B6473"/>
                </a:solidFill>
                <a:latin typeface="Pretendard"/>
                <a:ea typeface="Pretendard"/>
                <a:cs typeface="Pretendard"/>
              </a:rPr>
              <a:t>531명</a:t>
            </a:r>
          </a:p>
        </p:txBody>
      </p:sp>
      <p:sp>
        <p:nvSpPr>
          <p:cNvPr id="46" name="Google Shape;64;p3">
            <a:extLst>
              <a:ext uri="{FF2B5EF4-FFF2-40B4-BE49-F238E27FC236}">
                <a16:creationId xmlns:a16="http://schemas.microsoft.com/office/drawing/2014/main" id="{470CBFC4-B226-4CEE-B444-2E5FEDF1DAC9}"/>
              </a:ext>
            </a:extLst>
          </p:cNvPr>
          <p:cNvSpPr>
            <a:spLocks noGrp="1"/>
          </p:cNvSpPr>
          <p:nvPr/>
        </p:nvSpPr>
        <p:spPr>
          <a:xfrm>
            <a:off x="8096400" y="3390840"/>
            <a:ext cx="2094840" cy="55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sz="2780" b="1" u="none">
                <a:solidFill>
                  <a:srgbClr val="17C99A"/>
                </a:solidFill>
                <a:latin typeface="Pretendard"/>
                <a:ea typeface="Pretendard"/>
                <a:cs typeface="Pretendard"/>
              </a:rPr>
              <a:t>39.74%</a:t>
            </a:r>
          </a:p>
        </p:txBody>
      </p:sp>
      <p:sp>
        <p:nvSpPr>
          <p:cNvPr id="47" name="Google Shape;65;p3">
            <a:extLst>
              <a:ext uri="{FF2B5EF4-FFF2-40B4-BE49-F238E27FC236}">
                <a16:creationId xmlns:a16="http://schemas.microsoft.com/office/drawing/2014/main" id="{A38C12AB-31D1-459E-B8E1-6A5677FF3096}"/>
              </a:ext>
            </a:extLst>
          </p:cNvPr>
          <p:cNvSpPr>
            <a:spLocks noGrp="1"/>
          </p:cNvSpPr>
          <p:nvPr/>
        </p:nvSpPr>
        <p:spPr>
          <a:xfrm>
            <a:off x="1428840" y="4105440"/>
            <a:ext cx="8762400" cy="8640"/>
          </a:xfrm>
          <a:prstGeom prst="rect">
            <a:avLst/>
          </a:prstGeom>
          <a:solidFill>
            <a:srgbClr val="DDE2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endParaRPr/>
          </a:p>
        </p:txBody>
      </p:sp>
      <p:sp>
        <p:nvSpPr>
          <p:cNvPr id="48" name="Google Shape;66;p3">
            <a:extLst>
              <a:ext uri="{FF2B5EF4-FFF2-40B4-BE49-F238E27FC236}">
                <a16:creationId xmlns:a16="http://schemas.microsoft.com/office/drawing/2014/main" id="{1D9006D3-2446-4A0C-BE12-4DE9A622A611}"/>
              </a:ext>
            </a:extLst>
          </p:cNvPr>
          <p:cNvSpPr>
            <a:spLocks noGrp="1"/>
          </p:cNvSpPr>
          <p:nvPr/>
        </p:nvSpPr>
        <p:spPr>
          <a:xfrm>
            <a:off x="743040" y="4381560"/>
            <a:ext cx="456480" cy="55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2550" b="1" u="none">
                <a:solidFill>
                  <a:srgbClr val="FFBF47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9" name="Google Shape;67;p3">
            <a:extLst>
              <a:ext uri="{FF2B5EF4-FFF2-40B4-BE49-F238E27FC236}">
                <a16:creationId xmlns:a16="http://schemas.microsoft.com/office/drawing/2014/main" id="{D743857D-89F4-430E-B818-B2E5FD9FDACC}"/>
              </a:ext>
            </a:extLst>
          </p:cNvPr>
          <p:cNvSpPr>
            <a:spLocks noGrp="1"/>
          </p:cNvSpPr>
          <p:nvPr/>
        </p:nvSpPr>
        <p:spPr>
          <a:xfrm>
            <a:off x="1428840" y="4381560"/>
            <a:ext cx="4095000" cy="55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950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그 외 학생</a:t>
            </a:r>
          </a:p>
        </p:txBody>
      </p:sp>
      <p:sp>
        <p:nvSpPr>
          <p:cNvPr id="50" name="Google Shape;68;p3">
            <a:extLst>
              <a:ext uri="{FF2B5EF4-FFF2-40B4-BE49-F238E27FC236}">
                <a16:creationId xmlns:a16="http://schemas.microsoft.com/office/drawing/2014/main" id="{B35A418A-C06A-490D-841F-A83117C1256A}"/>
              </a:ext>
            </a:extLst>
          </p:cNvPr>
          <p:cNvSpPr>
            <a:spLocks noGrp="1"/>
          </p:cNvSpPr>
          <p:nvPr/>
        </p:nvSpPr>
        <p:spPr>
          <a:xfrm>
            <a:off x="6095880" y="4381560"/>
            <a:ext cx="1428120" cy="55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sz="1580" b="1" u="none">
                <a:solidFill>
                  <a:srgbClr val="5B6473"/>
                </a:solidFill>
                <a:latin typeface="Pretendard"/>
                <a:ea typeface="Pretendard"/>
                <a:cs typeface="Pretendard"/>
              </a:rPr>
              <a:t>757명</a:t>
            </a:r>
          </a:p>
        </p:txBody>
      </p:sp>
      <p:sp>
        <p:nvSpPr>
          <p:cNvPr id="51" name="Google Shape;69;p3">
            <a:extLst>
              <a:ext uri="{FF2B5EF4-FFF2-40B4-BE49-F238E27FC236}">
                <a16:creationId xmlns:a16="http://schemas.microsoft.com/office/drawing/2014/main" id="{87C94EE6-9D85-4595-A29B-D0AC8FEE673D}"/>
              </a:ext>
            </a:extLst>
          </p:cNvPr>
          <p:cNvSpPr>
            <a:spLocks noGrp="1"/>
          </p:cNvSpPr>
          <p:nvPr/>
        </p:nvSpPr>
        <p:spPr>
          <a:xfrm>
            <a:off x="8096400" y="4381560"/>
            <a:ext cx="2094840" cy="55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sz="2780" b="1" u="none">
                <a:solidFill>
                  <a:srgbClr val="FFBF47"/>
                </a:solidFill>
                <a:latin typeface="Pretendard"/>
                <a:ea typeface="Pretendard"/>
                <a:cs typeface="Pretendard"/>
              </a:rPr>
              <a:t>25.23%</a:t>
            </a:r>
          </a:p>
        </p:txBody>
      </p:sp>
      <p:sp>
        <p:nvSpPr>
          <p:cNvPr id="52" name="Google Shape;70;p3">
            <a:extLst>
              <a:ext uri="{FF2B5EF4-FFF2-40B4-BE49-F238E27FC236}">
                <a16:creationId xmlns:a16="http://schemas.microsoft.com/office/drawing/2014/main" id="{1EC5D4B8-7F0A-4BAD-B2B3-7775700F5BCD}"/>
              </a:ext>
            </a:extLst>
          </p:cNvPr>
          <p:cNvSpPr>
            <a:spLocks noGrp="1"/>
          </p:cNvSpPr>
          <p:nvPr/>
        </p:nvSpPr>
        <p:spPr>
          <a:xfrm>
            <a:off x="1428840" y="5095800"/>
            <a:ext cx="8762400" cy="8640"/>
          </a:xfrm>
          <a:prstGeom prst="rect">
            <a:avLst/>
          </a:prstGeom>
          <a:solidFill>
            <a:srgbClr val="DDE2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endParaRPr/>
          </a:p>
        </p:txBody>
      </p:sp>
      <p:sp>
        <p:nvSpPr>
          <p:cNvPr id="53" name="Google Shape;71;p3">
            <a:extLst>
              <a:ext uri="{FF2B5EF4-FFF2-40B4-BE49-F238E27FC236}">
                <a16:creationId xmlns:a16="http://schemas.microsoft.com/office/drawing/2014/main" id="{BA597DAD-E285-42E5-90DE-28E7CD661FA8}"/>
              </a:ext>
            </a:extLst>
          </p:cNvPr>
          <p:cNvSpPr>
            <a:spLocks noGrp="1"/>
          </p:cNvSpPr>
          <p:nvPr/>
        </p:nvSpPr>
        <p:spPr>
          <a:xfrm>
            <a:off x="10382400" y="2343240"/>
            <a:ext cx="1123200" cy="2837880"/>
          </a:xfrm>
          <a:prstGeom prst="roundRect">
            <a:avLst>
              <a:gd name="adj" fmla="val 10169"/>
            </a:avLst>
          </a:prstGeom>
          <a:solidFill>
            <a:srgbClr val="0B122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54" name="Google Shape;72;p3">
            <a:extLst>
              <a:ext uri="{FF2B5EF4-FFF2-40B4-BE49-F238E27FC236}">
                <a16:creationId xmlns:a16="http://schemas.microsoft.com/office/drawing/2014/main" id="{20968675-19F9-4F2A-B20C-1D184DF32590}"/>
              </a:ext>
            </a:extLst>
          </p:cNvPr>
          <p:cNvSpPr>
            <a:spLocks noGrp="1"/>
          </p:cNvSpPr>
          <p:nvPr/>
        </p:nvSpPr>
        <p:spPr>
          <a:xfrm>
            <a:off x="10477440" y="2914560"/>
            <a:ext cx="932760" cy="70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2550" b="1" u="none">
                <a:solidFill>
                  <a:srgbClr val="C9F65B"/>
                </a:solidFill>
                <a:latin typeface="Pretendard"/>
                <a:ea typeface="Pretendard"/>
                <a:cs typeface="Pretendard"/>
              </a:rPr>
              <a:t>4.32</a:t>
            </a:r>
          </a:p>
        </p:txBody>
      </p:sp>
      <p:sp>
        <p:nvSpPr>
          <p:cNvPr id="55" name="Google Shape;73;p3">
            <a:extLst>
              <a:ext uri="{FF2B5EF4-FFF2-40B4-BE49-F238E27FC236}">
                <a16:creationId xmlns:a16="http://schemas.microsoft.com/office/drawing/2014/main" id="{2EB2A015-1001-47BE-A71E-A0AAB766AFE7}"/>
              </a:ext>
            </a:extLst>
          </p:cNvPr>
          <p:cNvSpPr>
            <a:spLocks noGrp="1"/>
          </p:cNvSpPr>
          <p:nvPr/>
        </p:nvSpPr>
        <p:spPr>
          <a:xfrm>
            <a:off x="10334160" y="3744000"/>
            <a:ext cx="1219320" cy="76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전체 평균보다</a:t>
            </a: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높았던 가입률</a:t>
            </a:r>
          </a:p>
        </p:txBody>
      </p:sp>
      <p:sp>
        <p:nvSpPr>
          <p:cNvPr id="56" name="Google Shape;74;p3">
            <a:extLst>
              <a:ext uri="{FF2B5EF4-FFF2-40B4-BE49-F238E27FC236}">
                <a16:creationId xmlns:a16="http://schemas.microsoft.com/office/drawing/2014/main" id="{5EF0BCD4-E029-46BB-8D0E-80AD0E7818EE}"/>
              </a:ext>
            </a:extLst>
          </p:cNvPr>
          <p:cNvSpPr>
            <a:spLocks noGrp="1"/>
          </p:cNvSpPr>
          <p:nvPr/>
        </p:nvSpPr>
        <p:spPr>
          <a:xfrm>
            <a:off x="685800" y="5762520"/>
            <a:ext cx="9524160" cy="36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0" u="none">
                <a:solidFill>
                  <a:srgbClr val="5B6473"/>
                </a:solidFill>
                <a:latin typeface="Pretendard"/>
                <a:ea typeface="Pretendard"/>
                <a:cs typeface="Pretendard"/>
              </a:rPr>
              <a:t>높은 과거 가입률은 정답이 아니라, 먼저 연락해 확인할 우선순위의 근거다.</a:t>
            </a:r>
          </a:p>
        </p:txBody>
      </p:sp>
      <p:sp>
        <p:nvSpPr>
          <p:cNvPr id="57" name="Google Shape;75;p3">
            <a:extLst>
              <a:ext uri="{FF2B5EF4-FFF2-40B4-BE49-F238E27FC236}">
                <a16:creationId xmlns:a16="http://schemas.microsoft.com/office/drawing/2014/main" id="{B023BF80-FE53-49A6-942A-D5C0D4B14629}"/>
              </a:ext>
            </a:extLst>
          </p:cNvPr>
          <p:cNvSpPr>
            <a:spLocks noGrp="1"/>
          </p:cNvSpPr>
          <p:nvPr/>
        </p:nvSpPr>
        <p:spPr>
          <a:xfrm>
            <a:off x="685800" y="6496200"/>
            <a:ext cx="4952160" cy="17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8B97A8"/>
                </a:solidFill>
              </a:defRPr>
            </a:pPr>
            <a:r>
              <a:rPr sz="820" b="1" u="none">
                <a:solidFill>
                  <a:srgbClr val="8B97A8"/>
                </a:solidFill>
                <a:latin typeface="Pretendard"/>
                <a:ea typeface="Pretendard"/>
                <a:cs typeface="Pretendard"/>
              </a:rPr>
              <a:t>SEOUL YOUNG CAREERIENCE CAMP · DATA_B</a:t>
            </a:r>
          </a:p>
        </p:txBody>
      </p:sp>
      <p:sp>
        <p:nvSpPr>
          <p:cNvPr id="58" name="Google Shape;76;p3">
            <a:extLst>
              <a:ext uri="{FF2B5EF4-FFF2-40B4-BE49-F238E27FC236}">
                <a16:creationId xmlns:a16="http://schemas.microsoft.com/office/drawing/2014/main" id="{AB42DB49-DA6B-4CB4-9848-04914B164458}"/>
              </a:ext>
            </a:extLst>
          </p:cNvPr>
          <p:cNvSpPr>
            <a:spLocks noGrp="1"/>
          </p:cNvSpPr>
          <p:nvPr/>
        </p:nvSpPr>
        <p:spPr>
          <a:xfrm>
            <a:off x="10934640" y="6496200"/>
            <a:ext cx="570960" cy="17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8B97A8"/>
                </a:solidFill>
              </a:defRPr>
            </a:pPr>
            <a:r>
              <a:rPr sz="820" b="1" u="none">
                <a:solidFill>
                  <a:srgbClr val="8B97A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67720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82;p4">
            <a:extLst>
              <a:ext uri="{FF2B5EF4-FFF2-40B4-BE49-F238E27FC236}">
                <a16:creationId xmlns:a16="http://schemas.microsoft.com/office/drawing/2014/main" id="{82E4833A-4CB2-4F81-9311-FD9BE4F5FD6B}"/>
              </a:ext>
            </a:extLst>
          </p:cNvPr>
          <p:cNvSpPr>
            <a:spLocks noGrp="1"/>
          </p:cNvSpPr>
          <p:nvPr/>
        </p:nvSpPr>
        <p:spPr>
          <a:xfrm>
            <a:off x="685800" y="361800"/>
            <a:ext cx="523080" cy="24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275DFF"/>
                </a:solidFill>
              </a:defRPr>
            </a:pPr>
            <a:r>
              <a:rPr sz="1050" b="1" u="none">
                <a:solidFill>
                  <a:srgbClr val="275DFF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60" name="Google Shape;83;p4">
            <a:extLst>
              <a:ext uri="{FF2B5EF4-FFF2-40B4-BE49-F238E27FC236}">
                <a16:creationId xmlns:a16="http://schemas.microsoft.com/office/drawing/2014/main" id="{ED19825D-3D76-4288-9E36-BEA6FABF76AF}"/>
              </a:ext>
            </a:extLst>
          </p:cNvPr>
          <p:cNvSpPr>
            <a:spLocks noGrp="1"/>
          </p:cNvSpPr>
          <p:nvPr/>
        </p:nvSpPr>
        <p:spPr>
          <a:xfrm>
            <a:off x="685800" y="743040"/>
            <a:ext cx="10819800" cy="55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132033"/>
                </a:solidFill>
              </a:defRPr>
            </a:pPr>
            <a:r>
              <a:rPr sz="2780" b="1" u="none">
                <a:solidFill>
                  <a:srgbClr val="132033"/>
                </a:solidFill>
                <a:latin typeface="Pretendard"/>
                <a:ea typeface="Pretendard"/>
                <a:cs typeface="Pretendard"/>
              </a:rPr>
              <a:t>잠재고객은 기존 타겟 밖에서 다시 찾았다</a:t>
            </a:r>
          </a:p>
        </p:txBody>
      </p:sp>
      <p:sp>
        <p:nvSpPr>
          <p:cNvPr id="61" name="Google Shape;84;p4">
            <a:extLst>
              <a:ext uri="{FF2B5EF4-FFF2-40B4-BE49-F238E27FC236}">
                <a16:creationId xmlns:a16="http://schemas.microsoft.com/office/drawing/2014/main" id="{778D1159-3916-436E-8BFB-F7A4B127BB60}"/>
              </a:ext>
            </a:extLst>
          </p:cNvPr>
          <p:cNvSpPr>
            <a:spLocks noGrp="1"/>
          </p:cNvSpPr>
          <p:nvPr/>
        </p:nvSpPr>
        <p:spPr>
          <a:xfrm>
            <a:off x="685800" y="1438200"/>
            <a:ext cx="10819800" cy="18360"/>
          </a:xfrm>
          <a:prstGeom prst="rect">
            <a:avLst/>
          </a:prstGeom>
          <a:solidFill>
            <a:srgbClr val="DDE2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endParaRPr/>
          </a:p>
        </p:txBody>
      </p:sp>
      <p:sp>
        <p:nvSpPr>
          <p:cNvPr id="62" name="Google Shape;85;p4">
            <a:extLst>
              <a:ext uri="{FF2B5EF4-FFF2-40B4-BE49-F238E27FC236}">
                <a16:creationId xmlns:a16="http://schemas.microsoft.com/office/drawing/2014/main" id="{700048F6-1D89-4CFD-8447-4004A492AF3A}"/>
              </a:ext>
            </a:extLst>
          </p:cNvPr>
          <p:cNvSpPr>
            <a:spLocks noGrp="1"/>
          </p:cNvSpPr>
          <p:nvPr/>
        </p:nvSpPr>
        <p:spPr>
          <a:xfrm>
            <a:off x="685800" y="1962000"/>
            <a:ext cx="3142440" cy="49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275DFF"/>
                </a:solidFill>
              </a:defRPr>
            </a:pPr>
            <a:r>
              <a:rPr sz="2320" b="1" u="none">
                <a:solidFill>
                  <a:srgbClr val="275DFF"/>
                </a:solidFill>
                <a:latin typeface="Pretendard"/>
                <a:ea typeface="Pretendard"/>
                <a:cs typeface="Pretendard"/>
              </a:rPr>
              <a:t>반응 이력</a:t>
            </a:r>
          </a:p>
        </p:txBody>
      </p:sp>
      <p:sp>
        <p:nvSpPr>
          <p:cNvPr id="63" name="Google Shape;86;p4">
            <a:extLst>
              <a:ext uri="{FF2B5EF4-FFF2-40B4-BE49-F238E27FC236}">
                <a16:creationId xmlns:a16="http://schemas.microsoft.com/office/drawing/2014/main" id="{DA3A9E4E-7065-452C-AAEB-8ABBE8D5806C}"/>
              </a:ext>
            </a:extLst>
          </p:cNvPr>
          <p:cNvSpPr>
            <a:spLocks noGrp="1"/>
          </p:cNvSpPr>
          <p:nvPr/>
        </p:nvSpPr>
        <p:spPr>
          <a:xfrm>
            <a:off x="685800" y="2629080"/>
            <a:ext cx="3142440" cy="18360"/>
          </a:xfrm>
          <a:prstGeom prst="rect">
            <a:avLst/>
          </a:prstGeom>
          <a:solidFill>
            <a:srgbClr val="275D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endParaRPr/>
          </a:p>
        </p:txBody>
      </p:sp>
      <p:sp>
        <p:nvSpPr>
          <p:cNvPr id="64" name="Google Shape;87;p4">
            <a:extLst>
              <a:ext uri="{FF2B5EF4-FFF2-40B4-BE49-F238E27FC236}">
                <a16:creationId xmlns:a16="http://schemas.microsoft.com/office/drawing/2014/main" id="{543072E0-0815-4B12-B12D-B6D174D46270}"/>
              </a:ext>
            </a:extLst>
          </p:cNvPr>
          <p:cNvSpPr>
            <a:spLocks noGrp="1"/>
          </p:cNvSpPr>
          <p:nvPr/>
        </p:nvSpPr>
        <p:spPr>
          <a:xfrm>
            <a:off x="685800" y="2895480"/>
            <a:ext cx="314244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111827"/>
                </a:solidFill>
              </a:defRPr>
            </a:pPr>
            <a:r>
              <a:rPr sz="1500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과거 실패 고객</a:t>
            </a:r>
          </a:p>
        </p:txBody>
      </p:sp>
      <p:sp>
        <p:nvSpPr>
          <p:cNvPr id="65" name="Google Shape;88;p4">
            <a:extLst>
              <a:ext uri="{FF2B5EF4-FFF2-40B4-BE49-F238E27FC236}">
                <a16:creationId xmlns:a16="http://schemas.microsoft.com/office/drawing/2014/main" id="{F56D5933-58E2-41F9-955F-F3482931D9B1}"/>
              </a:ext>
            </a:extLst>
          </p:cNvPr>
          <p:cNvSpPr>
            <a:spLocks noGrp="1"/>
          </p:cNvSpPr>
          <p:nvPr/>
        </p:nvSpPr>
        <p:spPr>
          <a:xfrm>
            <a:off x="685800" y="3562200"/>
            <a:ext cx="3142440" cy="95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5B6473"/>
                </a:solidFill>
              </a:defRPr>
            </a:pPr>
            <a:r>
              <a:rPr sz="1950" b="1" u="none">
                <a:solidFill>
                  <a:srgbClr val="5B6473"/>
                </a:solidFill>
                <a:latin typeface="Pretendard"/>
                <a:ea typeface="Pretendard"/>
                <a:cs typeface="Pretendard"/>
              </a:rPr>
              <a:t>3,931명 · 가입률 12.92%</a:t>
            </a:r>
          </a:p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5B6473"/>
                </a:solidFill>
              </a:defRPr>
            </a:pPr>
            <a:r>
              <a:rPr sz="1950" b="1" u="none">
                <a:solidFill>
                  <a:srgbClr val="5B6473"/>
                </a:solidFill>
                <a:latin typeface="Pretendard"/>
                <a:ea typeface="Pretendard"/>
                <a:cs typeface="Pretendard"/>
              </a:rPr>
              <a:t>이미 접촉한 재확인 후보</a:t>
            </a:r>
          </a:p>
        </p:txBody>
      </p:sp>
      <p:sp>
        <p:nvSpPr>
          <p:cNvPr id="66" name="Google Shape;89;p4">
            <a:extLst>
              <a:ext uri="{FF2B5EF4-FFF2-40B4-BE49-F238E27FC236}">
                <a16:creationId xmlns:a16="http://schemas.microsoft.com/office/drawing/2014/main" id="{3636ADAA-AE13-49BD-A1FD-6F9C6CA93DA3}"/>
              </a:ext>
            </a:extLst>
          </p:cNvPr>
          <p:cNvSpPr>
            <a:spLocks noGrp="1"/>
          </p:cNvSpPr>
          <p:nvPr/>
        </p:nvSpPr>
        <p:spPr>
          <a:xfrm>
            <a:off x="685800" y="4952880"/>
            <a:ext cx="3142440" cy="43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275DFF"/>
                </a:solidFill>
              </a:defRPr>
            </a:pPr>
            <a:r>
              <a:rPr sz="1280" b="1" u="none">
                <a:solidFill>
                  <a:srgbClr val="275DFF"/>
                </a:solidFill>
                <a:latin typeface="Pretendard"/>
                <a:ea typeface="Pretendard"/>
                <a:cs typeface="Pretendard"/>
              </a:rPr>
              <a:t>반응 이력</a:t>
            </a:r>
          </a:p>
        </p:txBody>
      </p:sp>
      <p:sp>
        <p:nvSpPr>
          <p:cNvPr id="67" name="Google Shape;90;p4">
            <a:extLst>
              <a:ext uri="{FF2B5EF4-FFF2-40B4-BE49-F238E27FC236}">
                <a16:creationId xmlns:a16="http://schemas.microsoft.com/office/drawing/2014/main" id="{EC2B9F5A-61D7-4CDF-8909-972F8C1897B8}"/>
              </a:ext>
            </a:extLst>
          </p:cNvPr>
          <p:cNvSpPr>
            <a:spLocks noGrp="1"/>
          </p:cNvSpPr>
          <p:nvPr/>
        </p:nvSpPr>
        <p:spPr>
          <a:xfrm>
            <a:off x="4324320" y="1962000"/>
            <a:ext cx="3142440" cy="49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17B890"/>
                </a:solidFill>
              </a:defRPr>
            </a:pPr>
            <a:r>
              <a:rPr sz="2320" b="1" u="none">
                <a:solidFill>
                  <a:srgbClr val="17B890"/>
                </a:solidFill>
                <a:latin typeface="Pretendard"/>
                <a:ea typeface="Pretendard"/>
                <a:cs typeface="Pretendard"/>
              </a:rPr>
              <a:t>범위 확장</a:t>
            </a:r>
          </a:p>
        </p:txBody>
      </p:sp>
      <p:sp>
        <p:nvSpPr>
          <p:cNvPr id="68" name="Google Shape;91;p4">
            <a:extLst>
              <a:ext uri="{FF2B5EF4-FFF2-40B4-BE49-F238E27FC236}">
                <a16:creationId xmlns:a16="http://schemas.microsoft.com/office/drawing/2014/main" id="{1B9F7178-E9DA-4A7B-BBCB-276434048137}"/>
              </a:ext>
            </a:extLst>
          </p:cNvPr>
          <p:cNvSpPr>
            <a:spLocks noGrp="1"/>
          </p:cNvSpPr>
          <p:nvPr/>
        </p:nvSpPr>
        <p:spPr>
          <a:xfrm>
            <a:off x="4324320" y="2629080"/>
            <a:ext cx="3142440" cy="18360"/>
          </a:xfrm>
          <a:prstGeom prst="rect">
            <a:avLst/>
          </a:prstGeom>
          <a:solidFill>
            <a:srgbClr val="17B89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endParaRPr/>
          </a:p>
        </p:txBody>
      </p:sp>
      <p:sp>
        <p:nvSpPr>
          <p:cNvPr id="69" name="Google Shape;92;p4">
            <a:extLst>
              <a:ext uri="{FF2B5EF4-FFF2-40B4-BE49-F238E27FC236}">
                <a16:creationId xmlns:a16="http://schemas.microsoft.com/office/drawing/2014/main" id="{5549A44C-1210-492B-97F8-597FFC43A365}"/>
              </a:ext>
            </a:extLst>
          </p:cNvPr>
          <p:cNvSpPr>
            <a:spLocks noGrp="1"/>
          </p:cNvSpPr>
          <p:nvPr/>
        </p:nvSpPr>
        <p:spPr>
          <a:xfrm>
            <a:off x="4324320" y="2895480"/>
            <a:ext cx="314244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111827"/>
                </a:solidFill>
              </a:defRPr>
            </a:pPr>
            <a:r>
              <a:rPr sz="1500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55세 이상·청년</a:t>
            </a:r>
          </a:p>
        </p:txBody>
      </p:sp>
      <p:sp>
        <p:nvSpPr>
          <p:cNvPr id="70" name="Google Shape;93;p4">
            <a:extLst>
              <a:ext uri="{FF2B5EF4-FFF2-40B4-BE49-F238E27FC236}">
                <a16:creationId xmlns:a16="http://schemas.microsoft.com/office/drawing/2014/main" id="{0C6E97C4-34BE-4C67-A385-2CD64F3E7024}"/>
              </a:ext>
            </a:extLst>
          </p:cNvPr>
          <p:cNvSpPr>
            <a:spLocks noGrp="1"/>
          </p:cNvSpPr>
          <p:nvPr/>
        </p:nvSpPr>
        <p:spPr>
          <a:xfrm>
            <a:off x="4324320" y="3562200"/>
            <a:ext cx="3142440" cy="95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5B6473"/>
                </a:solidFill>
              </a:defRPr>
            </a:pPr>
            <a:r>
              <a:rPr sz="1950" b="1" u="none">
                <a:solidFill>
                  <a:srgbClr val="5B6473"/>
                </a:solidFill>
                <a:latin typeface="Pretendard"/>
                <a:ea typeface="Pretendard"/>
                <a:cs typeface="Pretendard"/>
              </a:rPr>
              <a:t>기존 연령 기준 밖에서도</a:t>
            </a:r>
          </a:p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5B6473"/>
                </a:solidFill>
              </a:defRPr>
            </a:pPr>
            <a:r>
              <a:rPr sz="1950" b="1" u="none">
                <a:solidFill>
                  <a:srgbClr val="5B6473"/>
                </a:solidFill>
                <a:latin typeface="Pretendard"/>
                <a:ea typeface="Pretendard"/>
                <a:cs typeface="Pretendard"/>
              </a:rPr>
              <a:t>평균보다 높은 집단 확인</a:t>
            </a:r>
          </a:p>
        </p:txBody>
      </p:sp>
      <p:sp>
        <p:nvSpPr>
          <p:cNvPr id="71" name="Google Shape;94;p4">
            <a:extLst>
              <a:ext uri="{FF2B5EF4-FFF2-40B4-BE49-F238E27FC236}">
                <a16:creationId xmlns:a16="http://schemas.microsoft.com/office/drawing/2014/main" id="{3568ED00-FB74-492F-A81E-FEE67B69D359}"/>
              </a:ext>
            </a:extLst>
          </p:cNvPr>
          <p:cNvSpPr>
            <a:spLocks noGrp="1"/>
          </p:cNvSpPr>
          <p:nvPr/>
        </p:nvSpPr>
        <p:spPr>
          <a:xfrm>
            <a:off x="4324320" y="4952880"/>
            <a:ext cx="3142440" cy="43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17B890"/>
                </a:solidFill>
              </a:defRPr>
            </a:pPr>
            <a:r>
              <a:rPr sz="1280" b="1" u="none">
                <a:solidFill>
                  <a:srgbClr val="17B890"/>
                </a:solidFill>
                <a:latin typeface="Pretendard"/>
                <a:ea typeface="Pretendard"/>
                <a:cs typeface="Pretendard"/>
              </a:rPr>
              <a:t>확장 후보</a:t>
            </a:r>
          </a:p>
        </p:txBody>
      </p:sp>
      <p:sp>
        <p:nvSpPr>
          <p:cNvPr id="72" name="Google Shape;95;p4">
            <a:extLst>
              <a:ext uri="{FF2B5EF4-FFF2-40B4-BE49-F238E27FC236}">
                <a16:creationId xmlns:a16="http://schemas.microsoft.com/office/drawing/2014/main" id="{1B740245-EBAE-4647-84DA-E934738E05D3}"/>
              </a:ext>
            </a:extLst>
          </p:cNvPr>
          <p:cNvSpPr>
            <a:spLocks noGrp="1"/>
          </p:cNvSpPr>
          <p:nvPr/>
        </p:nvSpPr>
        <p:spPr>
          <a:xfrm>
            <a:off x="7962840" y="1962000"/>
            <a:ext cx="3142440" cy="49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E19A20"/>
                </a:solidFill>
              </a:defRPr>
            </a:pPr>
            <a:r>
              <a:rPr sz="2320" b="1" u="none">
                <a:solidFill>
                  <a:srgbClr val="E19A20"/>
                </a:solidFill>
                <a:latin typeface="Pretendard"/>
                <a:ea typeface="Pretendard"/>
                <a:cs typeface="Pretendard"/>
              </a:rPr>
              <a:t>규모·행동</a:t>
            </a:r>
          </a:p>
        </p:txBody>
      </p:sp>
      <p:sp>
        <p:nvSpPr>
          <p:cNvPr id="73" name="Google Shape;96;p4">
            <a:extLst>
              <a:ext uri="{FF2B5EF4-FFF2-40B4-BE49-F238E27FC236}">
                <a16:creationId xmlns:a16="http://schemas.microsoft.com/office/drawing/2014/main" id="{DED9C2F7-443C-4A89-9159-20F56C5B8B16}"/>
              </a:ext>
            </a:extLst>
          </p:cNvPr>
          <p:cNvSpPr>
            <a:spLocks noGrp="1"/>
          </p:cNvSpPr>
          <p:nvPr/>
        </p:nvSpPr>
        <p:spPr>
          <a:xfrm>
            <a:off x="7962840" y="2629080"/>
            <a:ext cx="3142440" cy="18360"/>
          </a:xfrm>
          <a:prstGeom prst="rect">
            <a:avLst/>
          </a:prstGeom>
          <a:solidFill>
            <a:srgbClr val="E19A2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endParaRPr/>
          </a:p>
        </p:txBody>
      </p:sp>
      <p:sp>
        <p:nvSpPr>
          <p:cNvPr id="74" name="Google Shape;97;p4">
            <a:extLst>
              <a:ext uri="{FF2B5EF4-FFF2-40B4-BE49-F238E27FC236}">
                <a16:creationId xmlns:a16="http://schemas.microsoft.com/office/drawing/2014/main" id="{B92C43E0-2E5C-4D88-9486-4EC94A23BF08}"/>
              </a:ext>
            </a:extLst>
          </p:cNvPr>
          <p:cNvSpPr>
            <a:spLocks noGrp="1"/>
          </p:cNvSpPr>
          <p:nvPr/>
        </p:nvSpPr>
        <p:spPr>
          <a:xfrm>
            <a:off x="7962840" y="2895480"/>
            <a:ext cx="314244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111827"/>
                </a:solidFill>
              </a:defRPr>
            </a:pPr>
            <a:r>
              <a:rPr sz="1500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대졸 모바일·5분 통화</a:t>
            </a:r>
          </a:p>
        </p:txBody>
      </p:sp>
      <p:sp>
        <p:nvSpPr>
          <p:cNvPr id="75" name="Google Shape;98;p4">
            <a:extLst>
              <a:ext uri="{FF2B5EF4-FFF2-40B4-BE49-F238E27FC236}">
                <a16:creationId xmlns:a16="http://schemas.microsoft.com/office/drawing/2014/main" id="{80C3A544-2E56-4F02-8CA6-D69389F973E9}"/>
              </a:ext>
            </a:extLst>
          </p:cNvPr>
          <p:cNvSpPr>
            <a:spLocks noGrp="1"/>
          </p:cNvSpPr>
          <p:nvPr/>
        </p:nvSpPr>
        <p:spPr>
          <a:xfrm>
            <a:off x="7962840" y="3562200"/>
            <a:ext cx="3142440" cy="95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5B6473"/>
                </a:solidFill>
              </a:defRPr>
            </a:pPr>
            <a:r>
              <a:rPr sz="1950" b="1" u="none">
                <a:solidFill>
                  <a:srgbClr val="5B6473"/>
                </a:solidFill>
                <a:latin typeface="Pretendard"/>
                <a:ea typeface="Pretendard"/>
                <a:cs typeface="Pretendard"/>
              </a:rPr>
              <a:t>고객 규모와 실제 상담 반응으로</a:t>
            </a:r>
          </a:p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5B6473"/>
                </a:solidFill>
              </a:defRPr>
            </a:pPr>
            <a:r>
              <a:rPr sz="1950" b="1" u="none">
                <a:solidFill>
                  <a:srgbClr val="5B6473"/>
                </a:solidFill>
                <a:latin typeface="Pretendard"/>
                <a:ea typeface="Pretendard"/>
                <a:cs typeface="Pretendard"/>
              </a:rPr>
              <a:t>추가 가능성을 확인</a:t>
            </a:r>
          </a:p>
        </p:txBody>
      </p:sp>
      <p:sp>
        <p:nvSpPr>
          <p:cNvPr id="76" name="Google Shape;99;p4">
            <a:extLst>
              <a:ext uri="{FF2B5EF4-FFF2-40B4-BE49-F238E27FC236}">
                <a16:creationId xmlns:a16="http://schemas.microsoft.com/office/drawing/2014/main" id="{7B8A29B4-6148-4C73-B01E-912F8CA23217}"/>
              </a:ext>
            </a:extLst>
          </p:cNvPr>
          <p:cNvSpPr>
            <a:spLocks noGrp="1"/>
          </p:cNvSpPr>
          <p:nvPr/>
        </p:nvSpPr>
        <p:spPr>
          <a:xfrm>
            <a:off x="7962840" y="4952880"/>
            <a:ext cx="3142440" cy="43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E19A20"/>
                </a:solidFill>
              </a:defRPr>
            </a:pPr>
            <a:r>
              <a:rPr sz="1280" b="1" u="none">
                <a:solidFill>
                  <a:srgbClr val="E19A20"/>
                </a:solidFill>
                <a:latin typeface="Pretendard"/>
                <a:ea typeface="Pretendard"/>
                <a:cs typeface="Pretendard"/>
              </a:rPr>
              <a:t>실시간 후보</a:t>
            </a:r>
          </a:p>
        </p:txBody>
      </p:sp>
      <p:sp>
        <p:nvSpPr>
          <p:cNvPr id="77" name="Google Shape;100;p4">
            <a:extLst>
              <a:ext uri="{FF2B5EF4-FFF2-40B4-BE49-F238E27FC236}">
                <a16:creationId xmlns:a16="http://schemas.microsoft.com/office/drawing/2014/main" id="{56F63232-B93E-4A40-A9A0-D496324C8F25}"/>
              </a:ext>
            </a:extLst>
          </p:cNvPr>
          <p:cNvSpPr>
            <a:spLocks noGrp="1"/>
          </p:cNvSpPr>
          <p:nvPr/>
        </p:nvSpPr>
        <p:spPr>
          <a:xfrm>
            <a:off x="685800" y="5877000"/>
            <a:ext cx="10476720" cy="34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111827"/>
                </a:solidFill>
              </a:defRPr>
            </a:pPr>
            <a:r>
              <a:rPr sz="1580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잠재고객은 가입 확정 고객이 아니라, 앱과 상담에서 한 번 더 확인할 후보로 설정했다.</a:t>
            </a:r>
          </a:p>
        </p:txBody>
      </p:sp>
      <p:sp>
        <p:nvSpPr>
          <p:cNvPr id="78" name="Google Shape;101;p4">
            <a:extLst>
              <a:ext uri="{FF2B5EF4-FFF2-40B4-BE49-F238E27FC236}">
                <a16:creationId xmlns:a16="http://schemas.microsoft.com/office/drawing/2014/main" id="{80684407-C726-49F8-B5BE-5A1DF28A580D}"/>
              </a:ext>
            </a:extLst>
          </p:cNvPr>
          <p:cNvSpPr>
            <a:spLocks noGrp="1"/>
          </p:cNvSpPr>
          <p:nvPr/>
        </p:nvSpPr>
        <p:spPr>
          <a:xfrm>
            <a:off x="685800" y="6496200"/>
            <a:ext cx="4952160" cy="17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8B97A8"/>
                </a:solidFill>
              </a:defRPr>
            </a:pPr>
            <a:r>
              <a:rPr sz="820" b="1" u="none">
                <a:solidFill>
                  <a:srgbClr val="8B97A8"/>
                </a:solidFill>
                <a:latin typeface="Pretendard"/>
                <a:ea typeface="Pretendard"/>
                <a:cs typeface="Pretendard"/>
              </a:rPr>
              <a:t>SEOUL YOUNG CAREERIENCE CAMP · DATA_B</a:t>
            </a:r>
          </a:p>
        </p:txBody>
      </p:sp>
      <p:sp>
        <p:nvSpPr>
          <p:cNvPr id="79" name="Google Shape;102;p4">
            <a:extLst>
              <a:ext uri="{FF2B5EF4-FFF2-40B4-BE49-F238E27FC236}">
                <a16:creationId xmlns:a16="http://schemas.microsoft.com/office/drawing/2014/main" id="{FCAD262B-F8E8-4051-B9AE-D8977A6579F7}"/>
              </a:ext>
            </a:extLst>
          </p:cNvPr>
          <p:cNvSpPr>
            <a:spLocks noGrp="1"/>
          </p:cNvSpPr>
          <p:nvPr/>
        </p:nvSpPr>
        <p:spPr>
          <a:xfrm>
            <a:off x="10934640" y="6496200"/>
            <a:ext cx="570960" cy="17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8B97A8"/>
                </a:solidFill>
              </a:defRPr>
            </a:pPr>
            <a:r>
              <a:rPr sz="820" b="1" u="none">
                <a:solidFill>
                  <a:srgbClr val="8B97A8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52823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108;p5">
            <a:extLst>
              <a:ext uri="{FF2B5EF4-FFF2-40B4-BE49-F238E27FC236}">
                <a16:creationId xmlns:a16="http://schemas.microsoft.com/office/drawing/2014/main" id="{6491F350-1E41-4141-BE68-7952C6052B0A}"/>
              </a:ext>
            </a:extLst>
          </p:cNvPr>
          <p:cNvSpPr>
            <a:spLocks noGrp="1"/>
          </p:cNvSpPr>
          <p:nvPr/>
        </p:nvSpPr>
        <p:spPr>
          <a:xfrm>
            <a:off x="685800" y="361800"/>
            <a:ext cx="523080" cy="24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275DFF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81" name="Google Shape;109;p5">
            <a:extLst>
              <a:ext uri="{FF2B5EF4-FFF2-40B4-BE49-F238E27FC236}">
                <a16:creationId xmlns:a16="http://schemas.microsoft.com/office/drawing/2014/main" id="{0C0F57C3-4AB9-4A26-B063-E2554416153B}"/>
              </a:ext>
            </a:extLst>
          </p:cNvPr>
          <p:cNvSpPr>
            <a:spLocks noGrp="1"/>
          </p:cNvSpPr>
          <p:nvPr/>
        </p:nvSpPr>
        <p:spPr>
          <a:xfrm>
            <a:off x="685800" y="743040"/>
            <a:ext cx="10819800" cy="55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132033"/>
                </a:solidFill>
              </a:defRPr>
            </a:pPr>
            <a:r>
              <a:rPr sz="2780" b="1" u="none">
                <a:solidFill>
                  <a:srgbClr val="132033"/>
                </a:solidFill>
                <a:latin typeface="Pretendard"/>
                <a:ea typeface="Pretendard"/>
                <a:cs typeface="Pretendard"/>
              </a:rPr>
              <a:t>과거 성공 고객은 다시 가입하기 쉽게 만든다</a:t>
            </a:r>
          </a:p>
        </p:txBody>
      </p:sp>
      <p:sp>
        <p:nvSpPr>
          <p:cNvPr id="82" name="Google Shape;110;p5">
            <a:extLst>
              <a:ext uri="{FF2B5EF4-FFF2-40B4-BE49-F238E27FC236}">
                <a16:creationId xmlns:a16="http://schemas.microsoft.com/office/drawing/2014/main" id="{17D2A92B-4BF2-45E2-BCA7-ACBAECC81514}"/>
              </a:ext>
            </a:extLst>
          </p:cNvPr>
          <p:cNvSpPr>
            <a:spLocks noGrp="1"/>
          </p:cNvSpPr>
          <p:nvPr/>
        </p:nvSpPr>
        <p:spPr>
          <a:xfrm>
            <a:off x="685800" y="1438200"/>
            <a:ext cx="10819800" cy="18360"/>
          </a:xfrm>
          <a:prstGeom prst="rect">
            <a:avLst/>
          </a:prstGeom>
          <a:solidFill>
            <a:srgbClr val="DDE2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endParaRPr/>
          </a:p>
        </p:txBody>
      </p:sp>
      <p:sp>
        <p:nvSpPr>
          <p:cNvPr id="83" name="Google Shape;111;p5">
            <a:extLst>
              <a:ext uri="{FF2B5EF4-FFF2-40B4-BE49-F238E27FC236}">
                <a16:creationId xmlns:a16="http://schemas.microsoft.com/office/drawing/2014/main" id="{1A225311-4EAA-4CBC-941F-D6C634ADBF07}"/>
              </a:ext>
            </a:extLst>
          </p:cNvPr>
          <p:cNvSpPr>
            <a:spLocks noGrp="1"/>
          </p:cNvSpPr>
          <p:nvPr/>
        </p:nvSpPr>
        <p:spPr>
          <a:xfrm>
            <a:off x="685800" y="1752480"/>
            <a:ext cx="285696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 b="1">
                <a:solidFill>
                  <a:srgbClr val="163A63"/>
                </a:solidFill>
              </a:defRPr>
            </a:pPr>
            <a:r>
              <a:rPr sz="1350" b="1" u="none">
                <a:solidFill>
                  <a:srgbClr val="163A63"/>
                </a:solidFill>
                <a:latin typeface="Pretendard"/>
                <a:ea typeface="Pretendard"/>
                <a:cs typeface="Pretendard"/>
              </a:rPr>
              <a:t>과거 성공 고객</a:t>
            </a:r>
          </a:p>
        </p:txBody>
      </p:sp>
      <p:sp>
        <p:nvSpPr>
          <p:cNvPr id="84" name="Google Shape;112;p5">
            <a:extLst>
              <a:ext uri="{FF2B5EF4-FFF2-40B4-BE49-F238E27FC236}">
                <a16:creationId xmlns:a16="http://schemas.microsoft.com/office/drawing/2014/main" id="{59F35072-6EDA-48F1-857E-33FE378E31CC}"/>
              </a:ext>
            </a:extLst>
          </p:cNvPr>
          <p:cNvSpPr>
            <a:spLocks noGrp="1"/>
          </p:cNvSpPr>
          <p:nvPr/>
        </p:nvSpPr>
        <p:spPr>
          <a:xfrm>
            <a:off x="685800" y="2190600"/>
            <a:ext cx="3428280" cy="87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 b="1">
                <a:solidFill>
                  <a:srgbClr val="2F63F5"/>
                </a:solidFill>
              </a:defRPr>
            </a:pPr>
            <a:r>
              <a:rPr sz="5250" b="1" u="none">
                <a:solidFill>
                  <a:srgbClr val="2F63F5"/>
                </a:solidFill>
                <a:latin typeface="Pretendard"/>
                <a:ea typeface="Pretendard"/>
                <a:cs typeface="Pretendard"/>
              </a:rPr>
              <a:t>65.11%</a:t>
            </a:r>
          </a:p>
        </p:txBody>
      </p:sp>
      <p:sp>
        <p:nvSpPr>
          <p:cNvPr id="85" name="Google Shape;113;p5">
            <a:extLst>
              <a:ext uri="{FF2B5EF4-FFF2-40B4-BE49-F238E27FC236}">
                <a16:creationId xmlns:a16="http://schemas.microsoft.com/office/drawing/2014/main" id="{F6E91B2B-DDEF-4265-8FE5-54D33F5B7929}"/>
              </a:ext>
            </a:extLst>
          </p:cNvPr>
          <p:cNvSpPr>
            <a:spLocks noGrp="1"/>
          </p:cNvSpPr>
          <p:nvPr/>
        </p:nvSpPr>
        <p:spPr>
          <a:xfrm>
            <a:off x="743040" y="3105000"/>
            <a:ext cx="3237840" cy="30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0" u="none">
                <a:solidFill>
                  <a:srgbClr val="5B6473"/>
                </a:solidFill>
                <a:latin typeface="Pretendard"/>
                <a:ea typeface="Pretendard"/>
                <a:cs typeface="Pretendard"/>
              </a:rPr>
              <a:t>1,373명 중 894건 가입</a:t>
            </a:r>
          </a:p>
        </p:txBody>
      </p:sp>
      <p:sp>
        <p:nvSpPr>
          <p:cNvPr id="86" name="Google Shape;114;p5">
            <a:extLst>
              <a:ext uri="{FF2B5EF4-FFF2-40B4-BE49-F238E27FC236}">
                <a16:creationId xmlns:a16="http://schemas.microsoft.com/office/drawing/2014/main" id="{2A0AE6A7-9621-471B-95B0-6D7A7A298C2F}"/>
              </a:ext>
            </a:extLst>
          </p:cNvPr>
          <p:cNvSpPr>
            <a:spLocks noGrp="1"/>
          </p:cNvSpPr>
          <p:nvPr/>
        </p:nvSpPr>
        <p:spPr>
          <a:xfrm>
            <a:off x="4762440" y="1886040"/>
            <a:ext cx="913680" cy="55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 b="1">
                <a:solidFill>
                  <a:srgbClr val="2F63F5"/>
                </a:solidFill>
              </a:defRPr>
            </a:pPr>
            <a:r>
              <a:rPr sz="1800" b="1" u="none">
                <a:solidFill>
                  <a:srgbClr val="2F63F5"/>
                </a:solidFill>
                <a:latin typeface="Pretendard"/>
                <a:ea typeface="Pretendard"/>
                <a:cs typeface="Pretendard"/>
              </a:rPr>
              <a:t>앱</a:t>
            </a:r>
          </a:p>
        </p:txBody>
      </p:sp>
      <p:sp>
        <p:nvSpPr>
          <p:cNvPr id="87" name="Google Shape;115;p5">
            <a:extLst>
              <a:ext uri="{FF2B5EF4-FFF2-40B4-BE49-F238E27FC236}">
                <a16:creationId xmlns:a16="http://schemas.microsoft.com/office/drawing/2014/main" id="{70D4FF7E-B431-443C-80D2-D5E93923FC3B}"/>
              </a:ext>
            </a:extLst>
          </p:cNvPr>
          <p:cNvSpPr>
            <a:spLocks noGrp="1"/>
          </p:cNvSpPr>
          <p:nvPr/>
        </p:nvSpPr>
        <p:spPr>
          <a:xfrm>
            <a:off x="5962680" y="1886040"/>
            <a:ext cx="2094840" cy="34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650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먼저 알림</a:t>
            </a:r>
          </a:p>
        </p:txBody>
      </p:sp>
      <p:sp>
        <p:nvSpPr>
          <p:cNvPr id="88" name="Google Shape;116;p5">
            <a:extLst>
              <a:ext uri="{FF2B5EF4-FFF2-40B4-BE49-F238E27FC236}">
                <a16:creationId xmlns:a16="http://schemas.microsoft.com/office/drawing/2014/main" id="{82836341-297F-40CE-9E21-9680DE8AEF7B}"/>
              </a:ext>
            </a:extLst>
          </p:cNvPr>
          <p:cNvSpPr>
            <a:spLocks noGrp="1"/>
          </p:cNvSpPr>
          <p:nvPr/>
        </p:nvSpPr>
        <p:spPr>
          <a:xfrm>
            <a:off x="5962680" y="2247840"/>
            <a:ext cx="4857120" cy="51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0" u="none">
                <a:solidFill>
                  <a:srgbClr val="5B6473"/>
                </a:solidFill>
                <a:latin typeface="Pretendard"/>
                <a:ea typeface="Pretendard"/>
                <a:cs typeface="Pretendard"/>
              </a:rPr>
              <a:t>이전 상품과 이어지는 만기·금리 조건을 짧게 보여주기</a:t>
            </a:r>
          </a:p>
        </p:txBody>
      </p:sp>
      <p:sp>
        <p:nvSpPr>
          <p:cNvPr id="89" name="Google Shape;117;p5">
            <a:extLst>
              <a:ext uri="{FF2B5EF4-FFF2-40B4-BE49-F238E27FC236}">
                <a16:creationId xmlns:a16="http://schemas.microsoft.com/office/drawing/2014/main" id="{CEE04804-93CB-4087-9CB2-CE6F3C04926F}"/>
              </a:ext>
            </a:extLst>
          </p:cNvPr>
          <p:cNvSpPr>
            <a:spLocks noGrp="1"/>
          </p:cNvSpPr>
          <p:nvPr/>
        </p:nvSpPr>
        <p:spPr>
          <a:xfrm>
            <a:off x="5200560" y="2571840"/>
            <a:ext cx="18360" cy="666000"/>
          </a:xfrm>
          <a:prstGeom prst="rect">
            <a:avLst/>
          </a:prstGeom>
          <a:solidFill>
            <a:srgbClr val="B8C7F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360" tIns="45000" rIns="9360" bIns="45000" anchor="t">
            <a:noAutofit/>
          </a:bodyPr>
          <a:lstStyle/>
          <a:p>
            <a:endParaRPr/>
          </a:p>
        </p:txBody>
      </p:sp>
      <p:sp>
        <p:nvSpPr>
          <p:cNvPr id="90" name="Google Shape;118;p5">
            <a:extLst>
              <a:ext uri="{FF2B5EF4-FFF2-40B4-BE49-F238E27FC236}">
                <a16:creationId xmlns:a16="http://schemas.microsoft.com/office/drawing/2014/main" id="{D58A5399-112B-4E0E-8CDC-6E92F647E20F}"/>
              </a:ext>
            </a:extLst>
          </p:cNvPr>
          <p:cNvSpPr>
            <a:spLocks noGrp="1"/>
          </p:cNvSpPr>
          <p:nvPr/>
        </p:nvSpPr>
        <p:spPr>
          <a:xfrm>
            <a:off x="4762440" y="3162960"/>
            <a:ext cx="913680" cy="55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 b="1">
                <a:solidFill>
                  <a:srgbClr val="16A77B"/>
                </a:solidFill>
              </a:defRPr>
            </a:pPr>
            <a:r>
              <a:rPr sz="1800" b="1" u="none">
                <a:solidFill>
                  <a:srgbClr val="16A77B"/>
                </a:solidFill>
                <a:latin typeface="Pretendard"/>
                <a:ea typeface="Pretendard"/>
                <a:cs typeface="Pretendard"/>
              </a:rPr>
              <a:t>상담</a:t>
            </a:r>
          </a:p>
        </p:txBody>
      </p:sp>
      <p:sp>
        <p:nvSpPr>
          <p:cNvPr id="91" name="Google Shape;119;p5">
            <a:extLst>
              <a:ext uri="{FF2B5EF4-FFF2-40B4-BE49-F238E27FC236}">
                <a16:creationId xmlns:a16="http://schemas.microsoft.com/office/drawing/2014/main" id="{4016901F-2D77-4467-AEF8-715EFFDCE64C}"/>
              </a:ext>
            </a:extLst>
          </p:cNvPr>
          <p:cNvSpPr>
            <a:spLocks noGrp="1"/>
          </p:cNvSpPr>
          <p:nvPr/>
        </p:nvSpPr>
        <p:spPr>
          <a:xfrm>
            <a:off x="5962680" y="3029040"/>
            <a:ext cx="2094840" cy="34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650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반응 고객만</a:t>
            </a:r>
          </a:p>
        </p:txBody>
      </p:sp>
      <p:sp>
        <p:nvSpPr>
          <p:cNvPr id="92" name="Google Shape;120;p5">
            <a:extLst>
              <a:ext uri="{FF2B5EF4-FFF2-40B4-BE49-F238E27FC236}">
                <a16:creationId xmlns:a16="http://schemas.microsoft.com/office/drawing/2014/main" id="{A766CB0A-FBBF-41ED-BD3C-36CDA836FD30}"/>
              </a:ext>
            </a:extLst>
          </p:cNvPr>
          <p:cNvSpPr>
            <a:spLocks noGrp="1"/>
          </p:cNvSpPr>
          <p:nvPr/>
        </p:nvSpPr>
        <p:spPr>
          <a:xfrm>
            <a:off x="5962680" y="3390840"/>
            <a:ext cx="4857120" cy="51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0" u="none">
                <a:solidFill>
                  <a:srgbClr val="5B6473"/>
                </a:solidFill>
                <a:latin typeface="Pretendard"/>
                <a:ea typeface="Pretendard"/>
                <a:cs typeface="Pretendard"/>
              </a:rPr>
              <a:t>상품을 확인하거나 상담을 신청한 고객부터 연결</a:t>
            </a:r>
          </a:p>
        </p:txBody>
      </p:sp>
      <p:sp>
        <p:nvSpPr>
          <p:cNvPr id="93" name="Google Shape;121;p5">
            <a:extLst>
              <a:ext uri="{FF2B5EF4-FFF2-40B4-BE49-F238E27FC236}">
                <a16:creationId xmlns:a16="http://schemas.microsoft.com/office/drawing/2014/main" id="{8B4DEBFC-4C95-4F4D-87E1-848DFCADDCEA}"/>
              </a:ext>
            </a:extLst>
          </p:cNvPr>
          <p:cNvSpPr>
            <a:spLocks noGrp="1"/>
          </p:cNvSpPr>
          <p:nvPr/>
        </p:nvSpPr>
        <p:spPr>
          <a:xfrm>
            <a:off x="5200560" y="3714840"/>
            <a:ext cx="18360" cy="666000"/>
          </a:xfrm>
          <a:prstGeom prst="rect">
            <a:avLst/>
          </a:prstGeom>
          <a:solidFill>
            <a:srgbClr val="B8C7F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360" tIns="45000" rIns="9360" bIns="45000" anchor="t">
            <a:noAutofit/>
          </a:bodyPr>
          <a:lstStyle/>
          <a:p>
            <a:endParaRPr/>
          </a:p>
        </p:txBody>
      </p:sp>
      <p:sp>
        <p:nvSpPr>
          <p:cNvPr id="94" name="Google Shape;122;p5">
            <a:extLst>
              <a:ext uri="{FF2B5EF4-FFF2-40B4-BE49-F238E27FC236}">
                <a16:creationId xmlns:a16="http://schemas.microsoft.com/office/drawing/2014/main" id="{AB5FFE66-F8E6-4D2C-8F5F-C9BA8D3C225C}"/>
              </a:ext>
            </a:extLst>
          </p:cNvPr>
          <p:cNvSpPr>
            <a:spLocks noGrp="1"/>
          </p:cNvSpPr>
          <p:nvPr/>
        </p:nvSpPr>
        <p:spPr>
          <a:xfrm>
            <a:off x="4762440" y="4172040"/>
            <a:ext cx="913680" cy="55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 b="1">
                <a:solidFill>
                  <a:srgbClr val="D58A13"/>
                </a:solidFill>
              </a:defRPr>
            </a:pPr>
            <a:r>
              <a:rPr sz="1800" b="1" u="none">
                <a:solidFill>
                  <a:srgbClr val="D58A13"/>
                </a:solidFill>
                <a:latin typeface="Pretendard"/>
                <a:ea typeface="Pretendard"/>
                <a:cs typeface="Pretendard"/>
              </a:rPr>
              <a:t>종료</a:t>
            </a:r>
          </a:p>
        </p:txBody>
      </p:sp>
      <p:sp>
        <p:nvSpPr>
          <p:cNvPr id="95" name="Google Shape;123;p5">
            <a:extLst>
              <a:ext uri="{FF2B5EF4-FFF2-40B4-BE49-F238E27FC236}">
                <a16:creationId xmlns:a16="http://schemas.microsoft.com/office/drawing/2014/main" id="{A5F625C3-C660-4A77-8CCA-5B278AA2525A}"/>
              </a:ext>
            </a:extLst>
          </p:cNvPr>
          <p:cNvSpPr>
            <a:spLocks noGrp="1"/>
          </p:cNvSpPr>
          <p:nvPr/>
        </p:nvSpPr>
        <p:spPr>
          <a:xfrm>
            <a:off x="5962680" y="4172040"/>
            <a:ext cx="2094840" cy="34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650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한 번만 더</a:t>
            </a:r>
          </a:p>
        </p:txBody>
      </p:sp>
      <p:sp>
        <p:nvSpPr>
          <p:cNvPr id="96" name="Google Shape;124;p5">
            <a:extLst>
              <a:ext uri="{FF2B5EF4-FFF2-40B4-BE49-F238E27FC236}">
                <a16:creationId xmlns:a16="http://schemas.microsoft.com/office/drawing/2014/main" id="{098FC609-C49A-48E7-80BD-F25A1586D52A}"/>
              </a:ext>
            </a:extLst>
          </p:cNvPr>
          <p:cNvSpPr>
            <a:spLocks noGrp="1"/>
          </p:cNvSpPr>
          <p:nvPr/>
        </p:nvSpPr>
        <p:spPr>
          <a:xfrm>
            <a:off x="5962680" y="4533840"/>
            <a:ext cx="4857120" cy="51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280" b="0" u="none">
                <a:solidFill>
                  <a:srgbClr val="5B6473"/>
                </a:solidFill>
                <a:latin typeface="Pretendard"/>
                <a:ea typeface="Pretendard"/>
                <a:cs typeface="Pretendard"/>
              </a:rPr>
              <a:t>반응이 없으면 한 번만 추가 안내하고 이번 캠페인은 종료</a:t>
            </a:r>
          </a:p>
        </p:txBody>
      </p:sp>
      <p:sp>
        <p:nvSpPr>
          <p:cNvPr id="97" name="Google Shape;125;p5">
            <a:extLst>
              <a:ext uri="{FF2B5EF4-FFF2-40B4-BE49-F238E27FC236}">
                <a16:creationId xmlns:a16="http://schemas.microsoft.com/office/drawing/2014/main" id="{B98FA317-F6C7-4585-BDBE-CCE5E6FF9DFF}"/>
              </a:ext>
            </a:extLst>
          </p:cNvPr>
          <p:cNvSpPr>
            <a:spLocks noGrp="1"/>
          </p:cNvSpPr>
          <p:nvPr/>
        </p:nvSpPr>
        <p:spPr>
          <a:xfrm>
            <a:off x="685800" y="4952880"/>
            <a:ext cx="3714120" cy="83736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9E1E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98" name="Google Shape;126;p5">
            <a:extLst>
              <a:ext uri="{FF2B5EF4-FFF2-40B4-BE49-F238E27FC236}">
                <a16:creationId xmlns:a16="http://schemas.microsoft.com/office/drawing/2014/main" id="{971C177E-E975-40C4-B5F6-4F4C8166B69D}"/>
              </a:ext>
            </a:extLst>
          </p:cNvPr>
          <p:cNvSpPr>
            <a:spLocks noGrp="1"/>
          </p:cNvSpPr>
          <p:nvPr/>
        </p:nvSpPr>
        <p:spPr>
          <a:xfrm>
            <a:off x="895320" y="5095800"/>
            <a:ext cx="66600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 b="1">
                <a:solidFill>
                  <a:srgbClr val="2F63F5"/>
                </a:solidFill>
              </a:defRPr>
            </a:pPr>
            <a:r>
              <a:rPr sz="1050" b="1" u="none">
                <a:solidFill>
                  <a:srgbClr val="2F63F5"/>
                </a:solidFill>
                <a:latin typeface="Pretendard"/>
                <a:ea typeface="Pretendard"/>
                <a:cs typeface="Pretendard"/>
              </a:rPr>
              <a:t>검증</a:t>
            </a:r>
          </a:p>
        </p:txBody>
      </p:sp>
      <p:sp>
        <p:nvSpPr>
          <p:cNvPr id="99" name="Google Shape;127;p5">
            <a:extLst>
              <a:ext uri="{FF2B5EF4-FFF2-40B4-BE49-F238E27FC236}">
                <a16:creationId xmlns:a16="http://schemas.microsoft.com/office/drawing/2014/main" id="{3B0FCCD0-E953-42B0-81BF-D58F52E6C62A}"/>
              </a:ext>
            </a:extLst>
          </p:cNvPr>
          <p:cNvSpPr>
            <a:spLocks noGrp="1"/>
          </p:cNvSpPr>
          <p:nvPr/>
        </p:nvSpPr>
        <p:spPr>
          <a:xfrm>
            <a:off x="895320" y="5391150"/>
            <a:ext cx="3332880" cy="2857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재가입 증가와 수신거부를 함께 확인</a:t>
            </a:r>
          </a:p>
        </p:txBody>
      </p:sp>
      <p:sp>
        <p:nvSpPr>
          <p:cNvPr id="100" name="Google Shape;128;p5">
            <a:extLst>
              <a:ext uri="{FF2B5EF4-FFF2-40B4-BE49-F238E27FC236}">
                <a16:creationId xmlns:a16="http://schemas.microsoft.com/office/drawing/2014/main" id="{E6D42F7E-351A-4FD5-9270-FB410ED9C664}"/>
              </a:ext>
            </a:extLst>
          </p:cNvPr>
          <p:cNvSpPr>
            <a:spLocks noGrp="1"/>
          </p:cNvSpPr>
          <p:nvPr/>
        </p:nvSpPr>
        <p:spPr>
          <a:xfrm>
            <a:off x="685800" y="6496200"/>
            <a:ext cx="4952160" cy="17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8B97A8"/>
                </a:solidFill>
              </a:defRPr>
            </a:pPr>
            <a:r>
              <a:rPr sz="820" b="1" u="none">
                <a:solidFill>
                  <a:srgbClr val="8B97A8"/>
                </a:solidFill>
                <a:latin typeface="Pretendard"/>
                <a:ea typeface="Pretendard"/>
                <a:cs typeface="Pretendard"/>
              </a:rPr>
              <a:t>SEOUL YOUNG CAREERIENCE CAMP · DATA_B</a:t>
            </a:r>
          </a:p>
        </p:txBody>
      </p:sp>
      <p:sp>
        <p:nvSpPr>
          <p:cNvPr id="101" name="Google Shape;129;p5">
            <a:extLst>
              <a:ext uri="{FF2B5EF4-FFF2-40B4-BE49-F238E27FC236}">
                <a16:creationId xmlns:a16="http://schemas.microsoft.com/office/drawing/2014/main" id="{019038A2-9EE0-4300-BA97-BAB20E7B5F63}"/>
              </a:ext>
            </a:extLst>
          </p:cNvPr>
          <p:cNvSpPr>
            <a:spLocks noGrp="1"/>
          </p:cNvSpPr>
          <p:nvPr/>
        </p:nvSpPr>
        <p:spPr>
          <a:xfrm>
            <a:off x="10934640" y="6496200"/>
            <a:ext cx="570960" cy="17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8B97A8"/>
                </a:solidFill>
              </a:defRPr>
            </a:pPr>
            <a:r>
              <a:rPr sz="820" b="1" u="none">
                <a:solidFill>
                  <a:srgbClr val="8B97A8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81900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35;p6">
            <a:extLst>
              <a:ext uri="{FF2B5EF4-FFF2-40B4-BE49-F238E27FC236}">
                <a16:creationId xmlns:a16="http://schemas.microsoft.com/office/drawing/2014/main" id="{B1197676-6737-47B6-A66C-0267A26FAA23}"/>
              </a:ext>
            </a:extLst>
          </p:cNvPr>
          <p:cNvSpPr>
            <a:spLocks noGrp="1"/>
          </p:cNvSpPr>
          <p:nvPr/>
        </p:nvSpPr>
        <p:spPr>
          <a:xfrm>
            <a:off x="685800" y="361800"/>
            <a:ext cx="523080" cy="24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275DFF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103" name="Google Shape;136;p6">
            <a:extLst>
              <a:ext uri="{FF2B5EF4-FFF2-40B4-BE49-F238E27FC236}">
                <a16:creationId xmlns:a16="http://schemas.microsoft.com/office/drawing/2014/main" id="{67A1AE75-89EC-4D62-8F2C-BA93E642E376}"/>
              </a:ext>
            </a:extLst>
          </p:cNvPr>
          <p:cNvSpPr>
            <a:spLocks noGrp="1"/>
          </p:cNvSpPr>
          <p:nvPr/>
        </p:nvSpPr>
        <p:spPr>
          <a:xfrm>
            <a:off x="685800" y="743040"/>
            <a:ext cx="10819800" cy="55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132033"/>
                </a:solidFill>
              </a:defRPr>
            </a:pPr>
            <a:r>
              <a:rPr sz="2780" b="1" u="none">
                <a:solidFill>
                  <a:srgbClr val="132033"/>
                </a:solidFill>
                <a:latin typeface="Pretendard"/>
                <a:ea typeface="Pretendard"/>
                <a:cs typeface="Pretendard"/>
              </a:rPr>
              <a:t>65세 이상부터 시작해 55세까지 단계적으로 넓힌다</a:t>
            </a:r>
          </a:p>
        </p:txBody>
      </p:sp>
      <p:sp>
        <p:nvSpPr>
          <p:cNvPr id="104" name="Google Shape;137;p6">
            <a:extLst>
              <a:ext uri="{FF2B5EF4-FFF2-40B4-BE49-F238E27FC236}">
                <a16:creationId xmlns:a16="http://schemas.microsoft.com/office/drawing/2014/main" id="{A7103C38-1D2D-4150-AA5F-4660128401D2}"/>
              </a:ext>
            </a:extLst>
          </p:cNvPr>
          <p:cNvSpPr>
            <a:spLocks noGrp="1"/>
          </p:cNvSpPr>
          <p:nvPr/>
        </p:nvSpPr>
        <p:spPr>
          <a:xfrm>
            <a:off x="685800" y="1438200"/>
            <a:ext cx="10819800" cy="18360"/>
          </a:xfrm>
          <a:prstGeom prst="rect">
            <a:avLst/>
          </a:prstGeom>
          <a:solidFill>
            <a:srgbClr val="DDE2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endParaRPr/>
          </a:p>
        </p:txBody>
      </p:sp>
      <p:sp>
        <p:nvSpPr>
          <p:cNvPr id="105" name="Google Shape;138;p6">
            <a:extLst>
              <a:ext uri="{FF2B5EF4-FFF2-40B4-BE49-F238E27FC236}">
                <a16:creationId xmlns:a16="http://schemas.microsoft.com/office/drawing/2014/main" id="{20BDAF8C-3209-4789-8D12-4E241D9F18F9}"/>
              </a:ext>
            </a:extLst>
          </p:cNvPr>
          <p:cNvSpPr>
            <a:spLocks noGrp="1"/>
          </p:cNvSpPr>
          <p:nvPr/>
        </p:nvSpPr>
        <p:spPr>
          <a:xfrm>
            <a:off x="685800" y="1809720"/>
            <a:ext cx="295200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7C99A"/>
                </a:solidFill>
                <a:latin typeface="Pretendard"/>
                <a:ea typeface="Pretendard"/>
                <a:cs typeface="Pretendard"/>
              </a:rPr>
              <a:t>가장 먼저 연락할 고객</a:t>
            </a:r>
          </a:p>
        </p:txBody>
      </p:sp>
      <p:sp>
        <p:nvSpPr>
          <p:cNvPr id="106" name="Google Shape;139;p6">
            <a:extLst>
              <a:ext uri="{FF2B5EF4-FFF2-40B4-BE49-F238E27FC236}">
                <a16:creationId xmlns:a16="http://schemas.microsoft.com/office/drawing/2014/main" id="{DC3E34C0-D2C0-4B80-9447-C4031DA2E2D4}"/>
              </a:ext>
            </a:extLst>
          </p:cNvPr>
          <p:cNvSpPr>
            <a:spLocks noGrp="1"/>
          </p:cNvSpPr>
          <p:nvPr/>
        </p:nvSpPr>
        <p:spPr>
          <a:xfrm>
            <a:off x="685800" y="2209680"/>
            <a:ext cx="3237840" cy="85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5100" b="1" u="none">
                <a:solidFill>
                  <a:srgbClr val="17C99A"/>
                </a:solidFill>
                <a:latin typeface="Pretendard"/>
                <a:ea typeface="Pretendard"/>
                <a:cs typeface="Pretendard"/>
              </a:rPr>
              <a:t>39.74%</a:t>
            </a:r>
          </a:p>
        </p:txBody>
      </p:sp>
      <p:sp>
        <p:nvSpPr>
          <p:cNvPr id="107" name="Google Shape;140;p6">
            <a:extLst>
              <a:ext uri="{FF2B5EF4-FFF2-40B4-BE49-F238E27FC236}">
                <a16:creationId xmlns:a16="http://schemas.microsoft.com/office/drawing/2014/main" id="{68101698-C608-4A06-9B47-A69DC27AA52B}"/>
              </a:ext>
            </a:extLst>
          </p:cNvPr>
          <p:cNvSpPr>
            <a:spLocks noGrp="1"/>
          </p:cNvSpPr>
          <p:nvPr/>
        </p:nvSpPr>
        <p:spPr>
          <a:xfrm>
            <a:off x="743040" y="3114720"/>
            <a:ext cx="3237840" cy="30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0" u="none">
                <a:solidFill>
                  <a:srgbClr val="5B6473"/>
                </a:solidFill>
                <a:latin typeface="Pretendard"/>
                <a:ea typeface="Pretendard"/>
                <a:cs typeface="Pretendard"/>
              </a:rPr>
              <a:t>65세 이상 531명 · 과거 성공 고객 제외</a:t>
            </a:r>
          </a:p>
        </p:txBody>
      </p:sp>
      <p:sp>
        <p:nvSpPr>
          <p:cNvPr id="108" name="Google Shape;141;p6">
            <a:extLst>
              <a:ext uri="{FF2B5EF4-FFF2-40B4-BE49-F238E27FC236}">
                <a16:creationId xmlns:a16="http://schemas.microsoft.com/office/drawing/2014/main" id="{92361E0B-C410-46D9-8434-B5BE43E469D9}"/>
              </a:ext>
            </a:extLst>
          </p:cNvPr>
          <p:cNvSpPr>
            <a:spLocks noGrp="1"/>
          </p:cNvSpPr>
          <p:nvPr/>
        </p:nvSpPr>
        <p:spPr>
          <a:xfrm>
            <a:off x="685800" y="3857760"/>
            <a:ext cx="323784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06464"/>
                </a:solidFill>
                <a:latin typeface="Pretendard"/>
                <a:ea typeface="Pretendard"/>
                <a:cs typeface="Pretendard"/>
              </a:rPr>
              <a:t>같은 우선순위로 보면 안 된다</a:t>
            </a:r>
          </a:p>
        </p:txBody>
      </p:sp>
      <p:sp>
        <p:nvSpPr>
          <p:cNvPr id="109" name="Google Shape;142;p6">
            <a:extLst>
              <a:ext uri="{FF2B5EF4-FFF2-40B4-BE49-F238E27FC236}">
                <a16:creationId xmlns:a16="http://schemas.microsoft.com/office/drawing/2014/main" id="{EC49DB4B-0A03-4E21-AC8D-6C5656F472AF}"/>
              </a:ext>
            </a:extLst>
          </p:cNvPr>
          <p:cNvSpPr>
            <a:spLocks noGrp="1"/>
          </p:cNvSpPr>
          <p:nvPr/>
        </p:nvSpPr>
        <p:spPr>
          <a:xfrm>
            <a:off x="685800" y="4267080"/>
            <a:ext cx="3428280" cy="64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55~59세는 가입률이 낮아 </a:t>
            </a: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앱 반응을 추가로 확인한다.</a:t>
            </a:r>
          </a:p>
        </p:txBody>
      </p:sp>
      <p:sp>
        <p:nvSpPr>
          <p:cNvPr id="110" name="Google Shape;143;p6">
            <a:extLst>
              <a:ext uri="{FF2B5EF4-FFF2-40B4-BE49-F238E27FC236}">
                <a16:creationId xmlns:a16="http://schemas.microsoft.com/office/drawing/2014/main" id="{C9796047-AEA4-4F0D-8B3D-7D0C36FA9C31}"/>
              </a:ext>
            </a:extLst>
          </p:cNvPr>
          <p:cNvSpPr>
            <a:spLocks noGrp="1"/>
          </p:cNvSpPr>
          <p:nvPr/>
        </p:nvSpPr>
        <p:spPr>
          <a:xfrm>
            <a:off x="4705200" y="1809720"/>
            <a:ext cx="6800040" cy="3656880"/>
          </a:xfrm>
          <a:prstGeom prst="roundRect">
            <a:avLst>
              <a:gd name="adj" fmla="val 4167"/>
            </a:avLst>
          </a:prstGeom>
          <a:solidFill>
            <a:srgbClr val="F7F8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11" name="Google Shape;144;p6">
            <a:extLst>
              <a:ext uri="{FF2B5EF4-FFF2-40B4-BE49-F238E27FC236}">
                <a16:creationId xmlns:a16="http://schemas.microsoft.com/office/drawing/2014/main" id="{A754F371-5B1A-4DF5-8507-64E2E4C35DB2}"/>
              </a:ext>
            </a:extLst>
          </p:cNvPr>
          <p:cNvSpPr>
            <a:spLocks noGrp="1"/>
          </p:cNvSpPr>
          <p:nvPr/>
        </p:nvSpPr>
        <p:spPr>
          <a:xfrm>
            <a:off x="5086440" y="2114640"/>
            <a:ext cx="5523840" cy="38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950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연락 순서는 이렇게 나눈다</a:t>
            </a:r>
          </a:p>
        </p:txBody>
      </p:sp>
      <p:sp>
        <p:nvSpPr>
          <p:cNvPr id="112" name="Google Shape;145;p6">
            <a:extLst>
              <a:ext uri="{FF2B5EF4-FFF2-40B4-BE49-F238E27FC236}">
                <a16:creationId xmlns:a16="http://schemas.microsoft.com/office/drawing/2014/main" id="{F9AB2001-6702-4135-82FC-958DEE2EF4A6}"/>
              </a:ext>
            </a:extLst>
          </p:cNvPr>
          <p:cNvSpPr>
            <a:spLocks noGrp="1"/>
          </p:cNvSpPr>
          <p:nvPr/>
        </p:nvSpPr>
        <p:spPr>
          <a:xfrm>
            <a:off x="5086440" y="2781360"/>
            <a:ext cx="39924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>
                <a:solidFill>
                  <a:srgbClr val="17C99A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3" name="Google Shape;146;p6">
            <a:extLst>
              <a:ext uri="{FF2B5EF4-FFF2-40B4-BE49-F238E27FC236}">
                <a16:creationId xmlns:a16="http://schemas.microsoft.com/office/drawing/2014/main" id="{79B0FE18-149E-4886-BF48-5811187AE98B}"/>
              </a:ext>
            </a:extLst>
          </p:cNvPr>
          <p:cNvSpPr>
            <a:spLocks noGrp="1"/>
          </p:cNvSpPr>
          <p:nvPr/>
        </p:nvSpPr>
        <p:spPr>
          <a:xfrm>
            <a:off x="5619600" y="2743200"/>
            <a:ext cx="533340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0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65세 이상 · 가입률 39.74% · 가장 먼저 안내</a:t>
            </a:r>
          </a:p>
        </p:txBody>
      </p:sp>
      <p:sp>
        <p:nvSpPr>
          <p:cNvPr id="114" name="Google Shape;147;p6">
            <a:extLst>
              <a:ext uri="{FF2B5EF4-FFF2-40B4-BE49-F238E27FC236}">
                <a16:creationId xmlns:a16="http://schemas.microsoft.com/office/drawing/2014/main" id="{7B2C570F-56D4-4F15-95B8-6B200D57A070}"/>
              </a:ext>
            </a:extLst>
          </p:cNvPr>
          <p:cNvSpPr>
            <a:spLocks noGrp="1"/>
          </p:cNvSpPr>
          <p:nvPr/>
        </p:nvSpPr>
        <p:spPr>
          <a:xfrm>
            <a:off x="5086440" y="3390840"/>
            <a:ext cx="39924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>
                <a:solidFill>
                  <a:srgbClr val="17C99A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5" name="Google Shape;148;p6">
            <a:extLst>
              <a:ext uri="{FF2B5EF4-FFF2-40B4-BE49-F238E27FC236}">
                <a16:creationId xmlns:a16="http://schemas.microsoft.com/office/drawing/2014/main" id="{3F7EBA40-C444-407F-B023-906D889ABE21}"/>
              </a:ext>
            </a:extLst>
          </p:cNvPr>
          <p:cNvSpPr>
            <a:spLocks noGrp="1"/>
          </p:cNvSpPr>
          <p:nvPr/>
        </p:nvSpPr>
        <p:spPr>
          <a:xfrm>
            <a:off x="5619600" y="3352680"/>
            <a:ext cx="533340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0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60~64세 · 가입률 23.19% · 두 번째로 확대</a:t>
            </a:r>
          </a:p>
        </p:txBody>
      </p:sp>
      <p:sp>
        <p:nvSpPr>
          <p:cNvPr id="116" name="Google Shape;149;p6">
            <a:extLst>
              <a:ext uri="{FF2B5EF4-FFF2-40B4-BE49-F238E27FC236}">
                <a16:creationId xmlns:a16="http://schemas.microsoft.com/office/drawing/2014/main" id="{4A4422F2-8887-4B25-9CD7-ACF1E8F0E173}"/>
              </a:ext>
            </a:extLst>
          </p:cNvPr>
          <p:cNvSpPr>
            <a:spLocks noGrp="1"/>
          </p:cNvSpPr>
          <p:nvPr/>
        </p:nvSpPr>
        <p:spPr>
          <a:xfrm>
            <a:off x="5086440" y="4000680"/>
            <a:ext cx="39924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>
                <a:solidFill>
                  <a:srgbClr val="17C99A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17" name="Google Shape;150;p6">
            <a:extLst>
              <a:ext uri="{FF2B5EF4-FFF2-40B4-BE49-F238E27FC236}">
                <a16:creationId xmlns:a16="http://schemas.microsoft.com/office/drawing/2014/main" id="{25DD4BFB-8CFE-4B82-9571-C5FA361FF639}"/>
              </a:ext>
            </a:extLst>
          </p:cNvPr>
          <p:cNvSpPr>
            <a:spLocks noGrp="1"/>
          </p:cNvSpPr>
          <p:nvPr/>
        </p:nvSpPr>
        <p:spPr>
          <a:xfrm>
            <a:off x="5619600" y="3962520"/>
            <a:ext cx="533340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0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55~59세 · 가입률 8.96% · 앱 반응 고객부터 상담</a:t>
            </a:r>
          </a:p>
        </p:txBody>
      </p:sp>
      <p:sp>
        <p:nvSpPr>
          <p:cNvPr id="118" name="Google Shape;151;p6">
            <a:extLst>
              <a:ext uri="{FF2B5EF4-FFF2-40B4-BE49-F238E27FC236}">
                <a16:creationId xmlns:a16="http://schemas.microsoft.com/office/drawing/2014/main" id="{B52DD7B4-100F-49EA-A150-409CE7F37F6D}"/>
              </a:ext>
            </a:extLst>
          </p:cNvPr>
          <p:cNvSpPr>
            <a:spLocks noGrp="1"/>
          </p:cNvSpPr>
          <p:nvPr/>
        </p:nvSpPr>
        <p:spPr>
          <a:xfrm>
            <a:off x="5086440" y="4610160"/>
            <a:ext cx="39924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>
                <a:solidFill>
                  <a:srgbClr val="17C99A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19" name="Google Shape;152;p6">
            <a:extLst>
              <a:ext uri="{FF2B5EF4-FFF2-40B4-BE49-F238E27FC236}">
                <a16:creationId xmlns:a16="http://schemas.microsoft.com/office/drawing/2014/main" id="{983D78A2-FF48-405D-A930-A3872E043FE5}"/>
              </a:ext>
            </a:extLst>
          </p:cNvPr>
          <p:cNvSpPr>
            <a:spLocks noGrp="1"/>
          </p:cNvSpPr>
          <p:nvPr/>
        </p:nvSpPr>
        <p:spPr>
          <a:xfrm>
            <a:off x="5619600" y="4572000"/>
            <a:ext cx="533340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원금·만기·중도해지 조건을 먼저 보여주고 반응 비교</a:t>
            </a:r>
          </a:p>
        </p:txBody>
      </p:sp>
      <p:sp>
        <p:nvSpPr>
          <p:cNvPr id="120" name="Google Shape;153;p6">
            <a:extLst>
              <a:ext uri="{FF2B5EF4-FFF2-40B4-BE49-F238E27FC236}">
                <a16:creationId xmlns:a16="http://schemas.microsoft.com/office/drawing/2014/main" id="{E95069AB-9F2E-4F08-86E4-F9C4C23012C2}"/>
              </a:ext>
            </a:extLst>
          </p:cNvPr>
          <p:cNvSpPr>
            <a:spLocks noGrp="1"/>
          </p:cNvSpPr>
          <p:nvPr/>
        </p:nvSpPr>
        <p:spPr>
          <a:xfrm>
            <a:off x="685800" y="6496200"/>
            <a:ext cx="4952160" cy="17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8B97A8"/>
                </a:solidFill>
              </a:defRPr>
            </a:pPr>
            <a:r>
              <a:rPr sz="820" b="1" u="none">
                <a:solidFill>
                  <a:srgbClr val="8B97A8"/>
                </a:solidFill>
                <a:latin typeface="Pretendard"/>
                <a:ea typeface="Pretendard"/>
                <a:cs typeface="Pretendard"/>
              </a:rPr>
              <a:t>SEOUL YOUNG CAREERIENCE CAMP · DATA_B</a:t>
            </a:r>
          </a:p>
        </p:txBody>
      </p:sp>
      <p:sp>
        <p:nvSpPr>
          <p:cNvPr id="121" name="Google Shape;154;p6">
            <a:extLst>
              <a:ext uri="{FF2B5EF4-FFF2-40B4-BE49-F238E27FC236}">
                <a16:creationId xmlns:a16="http://schemas.microsoft.com/office/drawing/2014/main" id="{FF0BE019-4090-46DB-B992-56ECEED7487D}"/>
              </a:ext>
            </a:extLst>
          </p:cNvPr>
          <p:cNvSpPr>
            <a:spLocks noGrp="1"/>
          </p:cNvSpPr>
          <p:nvPr/>
        </p:nvSpPr>
        <p:spPr>
          <a:xfrm>
            <a:off x="10934640" y="6496200"/>
            <a:ext cx="570960" cy="17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8B97A8"/>
                </a:solidFill>
              </a:defRPr>
            </a:pPr>
            <a:r>
              <a:rPr sz="820" b="1" u="none">
                <a:solidFill>
                  <a:srgbClr val="8B97A8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23637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60;p7">
            <a:extLst>
              <a:ext uri="{FF2B5EF4-FFF2-40B4-BE49-F238E27FC236}">
                <a16:creationId xmlns:a16="http://schemas.microsoft.com/office/drawing/2014/main" id="{AAF9146A-59D8-403D-A5F0-0A2F3F08A8E7}"/>
              </a:ext>
            </a:extLst>
          </p:cNvPr>
          <p:cNvSpPr>
            <a:spLocks noGrp="1"/>
          </p:cNvSpPr>
          <p:nvPr/>
        </p:nvSpPr>
        <p:spPr>
          <a:xfrm>
            <a:off x="685800" y="361800"/>
            <a:ext cx="523080" cy="24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 b="1">
                <a:solidFill>
                  <a:srgbClr val="2F63F5"/>
                </a:solidFill>
              </a:defRPr>
            </a:pPr>
            <a:r>
              <a:rPr sz="1050" b="1" u="none">
                <a:solidFill>
                  <a:srgbClr val="2F63F5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123" name="Google Shape;161;p7">
            <a:extLst>
              <a:ext uri="{FF2B5EF4-FFF2-40B4-BE49-F238E27FC236}">
                <a16:creationId xmlns:a16="http://schemas.microsoft.com/office/drawing/2014/main" id="{A0A8B823-9BA5-42B3-A539-2964AD05146A}"/>
              </a:ext>
            </a:extLst>
          </p:cNvPr>
          <p:cNvSpPr>
            <a:spLocks noGrp="1"/>
          </p:cNvSpPr>
          <p:nvPr/>
        </p:nvSpPr>
        <p:spPr>
          <a:xfrm>
            <a:off x="685800" y="762120"/>
            <a:ext cx="10819800" cy="55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 b="1">
                <a:solidFill>
                  <a:srgbClr val="132033"/>
                </a:solidFill>
              </a:defRPr>
            </a:pPr>
            <a:r>
              <a:rPr sz="2780" b="1" u="none">
                <a:solidFill>
                  <a:srgbClr val="132033"/>
                </a:solidFill>
                <a:latin typeface="Pretendard"/>
                <a:ea typeface="Pretendard"/>
                <a:cs typeface="Pretendard"/>
              </a:rPr>
              <a:t>학생에서 청년 금융생활 고객으로 범위를 넓힌다</a:t>
            </a:r>
          </a:p>
        </p:txBody>
      </p:sp>
      <p:sp>
        <p:nvSpPr>
          <p:cNvPr id="124" name="Google Shape;162;p7">
            <a:extLst>
              <a:ext uri="{FF2B5EF4-FFF2-40B4-BE49-F238E27FC236}">
                <a16:creationId xmlns:a16="http://schemas.microsoft.com/office/drawing/2014/main" id="{C736448D-5B9A-4BED-8347-846B4112B9C6}"/>
              </a:ext>
            </a:extLst>
          </p:cNvPr>
          <p:cNvSpPr>
            <a:spLocks noGrp="1"/>
          </p:cNvSpPr>
          <p:nvPr/>
        </p:nvSpPr>
        <p:spPr>
          <a:xfrm>
            <a:off x="685800" y="1619280"/>
            <a:ext cx="6095160" cy="34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667085"/>
                </a:solidFill>
              </a:defRPr>
            </a:pPr>
            <a:r>
              <a:rPr sz="1500" b="0" u="none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24세 이하 학생 가입률 37.83% · 청년 모바일 고객 18.01%</a:t>
            </a:r>
          </a:p>
        </p:txBody>
      </p:sp>
      <p:sp>
        <p:nvSpPr>
          <p:cNvPr id="125" name="Google Shape;163;p7">
            <a:extLst>
              <a:ext uri="{FF2B5EF4-FFF2-40B4-BE49-F238E27FC236}">
                <a16:creationId xmlns:a16="http://schemas.microsoft.com/office/drawing/2014/main" id="{91B376EC-8557-49E9-8E9C-83414FECCA04}"/>
              </a:ext>
            </a:extLst>
          </p:cNvPr>
          <p:cNvSpPr>
            <a:spLocks noGrp="1"/>
          </p:cNvSpPr>
          <p:nvPr/>
        </p:nvSpPr>
        <p:spPr>
          <a:xfrm>
            <a:off x="1429560" y="2959398"/>
            <a:ext cx="4952160" cy="87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 b="1">
                <a:solidFill>
                  <a:srgbClr val="2F63F5"/>
                </a:solidFill>
              </a:defRPr>
            </a:pPr>
            <a:r>
              <a:rPr sz="4580" b="1" u="none" dirty="0" err="1">
                <a:solidFill>
                  <a:srgbClr val="2F63F5"/>
                </a:solidFill>
                <a:latin typeface="Pretendard"/>
                <a:ea typeface="Pretendard"/>
                <a:cs typeface="Pretendard"/>
              </a:rPr>
              <a:t>앱에서</a:t>
            </a:r>
            <a:r>
              <a:rPr sz="4580" b="1" u="none" dirty="0">
                <a:solidFill>
                  <a:srgbClr val="2F63F5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580" b="1" u="none" dirty="0" err="1">
                <a:solidFill>
                  <a:srgbClr val="2F63F5"/>
                </a:solidFill>
                <a:latin typeface="Pretendard"/>
                <a:ea typeface="Pretendard"/>
                <a:cs typeface="Pretendard"/>
              </a:rPr>
              <a:t>먼저</a:t>
            </a:r>
            <a:endParaRPr sz="4580" b="1" u="none" dirty="0">
              <a:solidFill>
                <a:srgbClr val="2F63F5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26" name="Google Shape;164;p7">
            <a:extLst>
              <a:ext uri="{FF2B5EF4-FFF2-40B4-BE49-F238E27FC236}">
                <a16:creationId xmlns:a16="http://schemas.microsoft.com/office/drawing/2014/main" id="{D0D86F34-6A28-49CE-A1A3-D011C256A721}"/>
              </a:ext>
            </a:extLst>
          </p:cNvPr>
          <p:cNvSpPr>
            <a:spLocks noGrp="1"/>
          </p:cNvSpPr>
          <p:nvPr/>
        </p:nvSpPr>
        <p:spPr>
          <a:xfrm>
            <a:off x="1197018" y="3962880"/>
            <a:ext cx="6190560" cy="41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132033"/>
                </a:solidFill>
              </a:defRPr>
            </a:pPr>
            <a:r>
              <a:rPr sz="1729" b="1" u="none">
                <a:solidFill>
                  <a:srgbClr val="132033"/>
                </a:solidFill>
                <a:latin typeface="Pretendard"/>
                <a:ea typeface="Pretendard"/>
                <a:cs typeface="Pretendard"/>
              </a:rPr>
              <a:t>청년 예·적금과 금융교육을 함께 알린다</a:t>
            </a:r>
          </a:p>
        </p:txBody>
      </p:sp>
      <p:sp>
        <p:nvSpPr>
          <p:cNvPr id="127" name="Google Shape;165;p7">
            <a:extLst>
              <a:ext uri="{FF2B5EF4-FFF2-40B4-BE49-F238E27FC236}">
                <a16:creationId xmlns:a16="http://schemas.microsoft.com/office/drawing/2014/main" id="{BA34D19E-9A7C-49F3-8D86-8E4C5020A741}"/>
              </a:ext>
            </a:extLst>
          </p:cNvPr>
          <p:cNvSpPr>
            <a:spLocks noGrp="1"/>
          </p:cNvSpPr>
          <p:nvPr/>
        </p:nvSpPr>
        <p:spPr>
          <a:xfrm>
            <a:off x="7086600" y="1809720"/>
            <a:ext cx="4419000" cy="331416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9525">
            <a:solidFill>
              <a:srgbClr val="D9E1E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28" name="Google Shape;166;p7">
            <a:extLst>
              <a:ext uri="{FF2B5EF4-FFF2-40B4-BE49-F238E27FC236}">
                <a16:creationId xmlns:a16="http://schemas.microsoft.com/office/drawing/2014/main" id="{B5F0E3E9-79D9-43D7-A835-26264E9C30F3}"/>
              </a:ext>
            </a:extLst>
          </p:cNvPr>
          <p:cNvSpPr>
            <a:spLocks noGrp="1"/>
          </p:cNvSpPr>
          <p:nvPr/>
        </p:nvSpPr>
        <p:spPr>
          <a:xfrm>
            <a:off x="7448400" y="2114640"/>
            <a:ext cx="352368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 b="1">
                <a:solidFill>
                  <a:srgbClr val="163A63"/>
                </a:solidFill>
              </a:defRPr>
            </a:pPr>
            <a:r>
              <a:rPr sz="1800" b="1" u="none">
                <a:solidFill>
                  <a:srgbClr val="163A63"/>
                </a:solidFill>
                <a:latin typeface="Pretendard"/>
                <a:ea typeface="Pretendard"/>
                <a:cs typeface="Pretendard"/>
              </a:rPr>
              <a:t>청년 고객 확인 흐름</a:t>
            </a:r>
          </a:p>
        </p:txBody>
      </p:sp>
      <p:sp>
        <p:nvSpPr>
          <p:cNvPr id="129" name="Google Shape;167;p7">
            <a:extLst>
              <a:ext uri="{FF2B5EF4-FFF2-40B4-BE49-F238E27FC236}">
                <a16:creationId xmlns:a16="http://schemas.microsoft.com/office/drawing/2014/main" id="{B86BB8FF-8529-49DF-9D48-FD69C35C1AEA}"/>
              </a:ext>
            </a:extLst>
          </p:cNvPr>
          <p:cNvSpPr>
            <a:spLocks noGrp="1"/>
          </p:cNvSpPr>
          <p:nvPr/>
        </p:nvSpPr>
        <p:spPr>
          <a:xfrm>
            <a:off x="7448400" y="2724120"/>
            <a:ext cx="437400" cy="30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 b="1">
                <a:solidFill>
                  <a:srgbClr val="2F63F5"/>
                </a:solidFill>
              </a:defRPr>
            </a:pPr>
            <a:r>
              <a:rPr sz="1130" b="1" u="none">
                <a:solidFill>
                  <a:srgbClr val="2F63F5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30" name="Google Shape;168;p7">
            <a:extLst>
              <a:ext uri="{FF2B5EF4-FFF2-40B4-BE49-F238E27FC236}">
                <a16:creationId xmlns:a16="http://schemas.microsoft.com/office/drawing/2014/main" id="{E97C9B45-F9BE-42FA-9040-862DD6A2D38D}"/>
              </a:ext>
            </a:extLst>
          </p:cNvPr>
          <p:cNvSpPr>
            <a:spLocks noGrp="1"/>
          </p:cNvSpPr>
          <p:nvPr/>
        </p:nvSpPr>
        <p:spPr>
          <a:xfrm>
            <a:off x="8039160" y="2705040"/>
            <a:ext cx="1332720" cy="30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 b="1">
                <a:solidFill>
                  <a:srgbClr val="132033"/>
                </a:solidFill>
              </a:defRPr>
            </a:pPr>
            <a:r>
              <a:rPr sz="1500" b="1" u="none">
                <a:solidFill>
                  <a:srgbClr val="132033"/>
                </a:solidFill>
                <a:latin typeface="Pretendard"/>
                <a:ea typeface="Pretendard"/>
                <a:cs typeface="Pretendard"/>
              </a:rPr>
              <a:t>맞춤 알림</a:t>
            </a:r>
          </a:p>
        </p:txBody>
      </p:sp>
      <p:sp>
        <p:nvSpPr>
          <p:cNvPr id="131" name="Google Shape;169;p7">
            <a:extLst>
              <a:ext uri="{FF2B5EF4-FFF2-40B4-BE49-F238E27FC236}">
                <a16:creationId xmlns:a16="http://schemas.microsoft.com/office/drawing/2014/main" id="{F8DE04AE-1B70-46C7-B6A2-ECFE3F0371BD}"/>
              </a:ext>
            </a:extLst>
          </p:cNvPr>
          <p:cNvSpPr>
            <a:spLocks noGrp="1"/>
          </p:cNvSpPr>
          <p:nvPr/>
        </p:nvSpPr>
        <p:spPr>
          <a:xfrm>
            <a:off x="8039160" y="3009960"/>
            <a:ext cx="2761560" cy="2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667085"/>
                </a:solidFill>
              </a:defRPr>
            </a:pPr>
            <a:r>
              <a:rPr sz="1200" b="0" u="none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학생·청년에게 예·적금 안내</a:t>
            </a:r>
          </a:p>
        </p:txBody>
      </p:sp>
      <p:sp>
        <p:nvSpPr>
          <p:cNvPr id="132" name="Google Shape;170;p7">
            <a:extLst>
              <a:ext uri="{FF2B5EF4-FFF2-40B4-BE49-F238E27FC236}">
                <a16:creationId xmlns:a16="http://schemas.microsoft.com/office/drawing/2014/main" id="{E798ACF9-40EC-4242-99AB-C84F7F159404}"/>
              </a:ext>
            </a:extLst>
          </p:cNvPr>
          <p:cNvSpPr>
            <a:spLocks noGrp="1"/>
          </p:cNvSpPr>
          <p:nvPr/>
        </p:nvSpPr>
        <p:spPr>
          <a:xfrm>
            <a:off x="7448400" y="3448080"/>
            <a:ext cx="437400" cy="30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 b="1">
                <a:solidFill>
                  <a:srgbClr val="2F63F5"/>
                </a:solidFill>
              </a:defRPr>
            </a:pPr>
            <a:r>
              <a:rPr sz="1130" b="1" u="none">
                <a:solidFill>
                  <a:srgbClr val="2F63F5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33" name="Google Shape;171;p7">
            <a:extLst>
              <a:ext uri="{FF2B5EF4-FFF2-40B4-BE49-F238E27FC236}">
                <a16:creationId xmlns:a16="http://schemas.microsoft.com/office/drawing/2014/main" id="{AC98F88D-64E5-42FD-8968-3B37C0997396}"/>
              </a:ext>
            </a:extLst>
          </p:cNvPr>
          <p:cNvSpPr>
            <a:spLocks noGrp="1"/>
          </p:cNvSpPr>
          <p:nvPr/>
        </p:nvSpPr>
        <p:spPr>
          <a:xfrm>
            <a:off x="8039160" y="3429000"/>
            <a:ext cx="1332720" cy="30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 b="1">
                <a:solidFill>
                  <a:srgbClr val="132033"/>
                </a:solidFill>
              </a:defRPr>
            </a:pPr>
            <a:r>
              <a:rPr sz="1500" b="1" u="none">
                <a:solidFill>
                  <a:srgbClr val="132033"/>
                </a:solidFill>
                <a:latin typeface="Pretendard"/>
                <a:ea typeface="Pretendard"/>
                <a:cs typeface="Pretendard"/>
              </a:rPr>
              <a:t>목표 선택</a:t>
            </a:r>
          </a:p>
        </p:txBody>
      </p:sp>
      <p:sp>
        <p:nvSpPr>
          <p:cNvPr id="134" name="Google Shape;172;p7">
            <a:extLst>
              <a:ext uri="{FF2B5EF4-FFF2-40B4-BE49-F238E27FC236}">
                <a16:creationId xmlns:a16="http://schemas.microsoft.com/office/drawing/2014/main" id="{5E9EC1F1-5B23-4356-A478-843E98D012D9}"/>
              </a:ext>
            </a:extLst>
          </p:cNvPr>
          <p:cNvSpPr>
            <a:spLocks noGrp="1"/>
          </p:cNvSpPr>
          <p:nvPr/>
        </p:nvSpPr>
        <p:spPr>
          <a:xfrm>
            <a:off x="8039160" y="3733920"/>
            <a:ext cx="2761560" cy="2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667085"/>
                </a:solidFill>
              </a:defRPr>
            </a:pPr>
            <a:r>
              <a:rPr sz="1200" b="0" u="none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등록금·취업·전역·비상금</a:t>
            </a:r>
          </a:p>
        </p:txBody>
      </p:sp>
      <p:sp>
        <p:nvSpPr>
          <p:cNvPr id="135" name="Google Shape;173;p7">
            <a:extLst>
              <a:ext uri="{FF2B5EF4-FFF2-40B4-BE49-F238E27FC236}">
                <a16:creationId xmlns:a16="http://schemas.microsoft.com/office/drawing/2014/main" id="{6B40BE52-6FFC-4A7D-BF37-A54ACCC5AD75}"/>
              </a:ext>
            </a:extLst>
          </p:cNvPr>
          <p:cNvSpPr>
            <a:spLocks noGrp="1"/>
          </p:cNvSpPr>
          <p:nvPr/>
        </p:nvSpPr>
        <p:spPr>
          <a:xfrm>
            <a:off x="7448400" y="4172040"/>
            <a:ext cx="437400" cy="30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 b="1">
                <a:solidFill>
                  <a:srgbClr val="2F63F5"/>
                </a:solidFill>
              </a:defRPr>
            </a:pPr>
            <a:r>
              <a:rPr sz="1130" b="1" u="none">
                <a:solidFill>
                  <a:srgbClr val="2F63F5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36" name="Google Shape;174;p7">
            <a:extLst>
              <a:ext uri="{FF2B5EF4-FFF2-40B4-BE49-F238E27FC236}">
                <a16:creationId xmlns:a16="http://schemas.microsoft.com/office/drawing/2014/main" id="{8777FFD9-EB05-4C4F-A610-2E4DE37B51BE}"/>
              </a:ext>
            </a:extLst>
          </p:cNvPr>
          <p:cNvSpPr>
            <a:spLocks noGrp="1"/>
          </p:cNvSpPr>
          <p:nvPr/>
        </p:nvSpPr>
        <p:spPr>
          <a:xfrm>
            <a:off x="8039160" y="4152960"/>
            <a:ext cx="1332720" cy="30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 b="1">
                <a:solidFill>
                  <a:srgbClr val="132033"/>
                </a:solidFill>
              </a:defRPr>
            </a:pPr>
            <a:r>
              <a:rPr sz="1500" b="1" u="none">
                <a:solidFill>
                  <a:srgbClr val="132033"/>
                </a:solidFill>
                <a:latin typeface="Pretendard"/>
                <a:ea typeface="Pretendard"/>
                <a:cs typeface="Pretendard"/>
              </a:rPr>
              <a:t>반응 상담</a:t>
            </a:r>
          </a:p>
        </p:txBody>
      </p:sp>
      <p:sp>
        <p:nvSpPr>
          <p:cNvPr id="137" name="Google Shape;175;p7">
            <a:extLst>
              <a:ext uri="{FF2B5EF4-FFF2-40B4-BE49-F238E27FC236}">
                <a16:creationId xmlns:a16="http://schemas.microsoft.com/office/drawing/2014/main" id="{9F09EDC6-97A5-45DA-A03B-D1BF1DC0F8C9}"/>
              </a:ext>
            </a:extLst>
          </p:cNvPr>
          <p:cNvSpPr>
            <a:spLocks noGrp="1"/>
          </p:cNvSpPr>
          <p:nvPr/>
        </p:nvSpPr>
        <p:spPr>
          <a:xfrm>
            <a:off x="8039160" y="4457880"/>
            <a:ext cx="2761560" cy="2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667085"/>
                </a:solidFill>
              </a:defRPr>
            </a:pPr>
            <a:r>
              <a:rPr sz="1200" b="0" u="none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상품을 확인한 고객부터 연결</a:t>
            </a:r>
          </a:p>
        </p:txBody>
      </p:sp>
      <p:sp>
        <p:nvSpPr>
          <p:cNvPr id="138" name="Google Shape;176;p7">
            <a:extLst>
              <a:ext uri="{FF2B5EF4-FFF2-40B4-BE49-F238E27FC236}">
                <a16:creationId xmlns:a16="http://schemas.microsoft.com/office/drawing/2014/main" id="{976D5ED1-04BD-451D-90F9-C63F63E9BB63}"/>
              </a:ext>
            </a:extLst>
          </p:cNvPr>
          <p:cNvSpPr>
            <a:spLocks noGrp="1"/>
          </p:cNvSpPr>
          <p:nvPr/>
        </p:nvSpPr>
        <p:spPr>
          <a:xfrm>
            <a:off x="685800" y="5638680"/>
            <a:ext cx="9905400" cy="36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 b="1">
                <a:solidFill>
                  <a:srgbClr val="163A63"/>
                </a:solidFill>
              </a:defRPr>
            </a:pPr>
            <a:r>
              <a:rPr sz="1430" b="1" u="none">
                <a:solidFill>
                  <a:srgbClr val="163A63"/>
                </a:solidFill>
                <a:latin typeface="Pretendard"/>
                <a:ea typeface="Pretendard"/>
                <a:cs typeface="Pretendard"/>
              </a:rPr>
              <a:t>학생·청년은 데이터로 확인하고, 병사는 은행의 추가 정보로 따로 구분한다.</a:t>
            </a:r>
          </a:p>
        </p:txBody>
      </p:sp>
      <p:sp>
        <p:nvSpPr>
          <p:cNvPr id="139" name="Google Shape;177;p7">
            <a:extLst>
              <a:ext uri="{FF2B5EF4-FFF2-40B4-BE49-F238E27FC236}">
                <a16:creationId xmlns:a16="http://schemas.microsoft.com/office/drawing/2014/main" id="{EF8C2A81-4F38-43A2-9210-257F1D9F452D}"/>
              </a:ext>
            </a:extLst>
          </p:cNvPr>
          <p:cNvSpPr>
            <a:spLocks noGrp="1"/>
          </p:cNvSpPr>
          <p:nvPr/>
        </p:nvSpPr>
        <p:spPr>
          <a:xfrm>
            <a:off x="685800" y="6496200"/>
            <a:ext cx="4952160" cy="17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8B97A8"/>
                </a:solidFill>
              </a:defRPr>
            </a:pPr>
            <a:r>
              <a:rPr sz="820" b="1" u="none">
                <a:solidFill>
                  <a:srgbClr val="8B97A8"/>
                </a:solidFill>
                <a:latin typeface="Pretendard"/>
                <a:ea typeface="Pretendard"/>
                <a:cs typeface="Pretendard"/>
              </a:rPr>
              <a:t>SEOUL YOUNG CAREERIENCE CAMP · DATA_B</a:t>
            </a:r>
          </a:p>
        </p:txBody>
      </p:sp>
      <p:sp>
        <p:nvSpPr>
          <p:cNvPr id="140" name="Google Shape;178;p7">
            <a:extLst>
              <a:ext uri="{FF2B5EF4-FFF2-40B4-BE49-F238E27FC236}">
                <a16:creationId xmlns:a16="http://schemas.microsoft.com/office/drawing/2014/main" id="{F4E9D3FE-D614-457E-BA39-3695689E1B41}"/>
              </a:ext>
            </a:extLst>
          </p:cNvPr>
          <p:cNvSpPr>
            <a:spLocks noGrp="1"/>
          </p:cNvSpPr>
          <p:nvPr/>
        </p:nvSpPr>
        <p:spPr>
          <a:xfrm>
            <a:off x="10934640" y="6496200"/>
            <a:ext cx="570960" cy="17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  <a:defRPr b="1">
                <a:solidFill>
                  <a:srgbClr val="2F63F5"/>
                </a:solidFill>
              </a:defRPr>
            </a:pPr>
            <a:r>
              <a:rPr sz="820" b="1" u="none">
                <a:solidFill>
                  <a:srgbClr val="2F63F5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35926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84;p8">
            <a:extLst>
              <a:ext uri="{FF2B5EF4-FFF2-40B4-BE49-F238E27FC236}">
                <a16:creationId xmlns:a16="http://schemas.microsoft.com/office/drawing/2014/main" id="{708B773C-3F98-4D11-B418-74C2B4B2634A}"/>
              </a:ext>
            </a:extLst>
          </p:cNvPr>
          <p:cNvSpPr>
            <a:spLocks noGrp="1"/>
          </p:cNvSpPr>
          <p:nvPr/>
        </p:nvSpPr>
        <p:spPr>
          <a:xfrm>
            <a:off x="685800" y="361800"/>
            <a:ext cx="523080" cy="24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275DFF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142" name="Google Shape;185;p8">
            <a:extLst>
              <a:ext uri="{FF2B5EF4-FFF2-40B4-BE49-F238E27FC236}">
                <a16:creationId xmlns:a16="http://schemas.microsoft.com/office/drawing/2014/main" id="{880A08DF-FE7D-4E27-83DB-10495F2E4954}"/>
              </a:ext>
            </a:extLst>
          </p:cNvPr>
          <p:cNvSpPr>
            <a:spLocks noGrp="1"/>
          </p:cNvSpPr>
          <p:nvPr/>
        </p:nvSpPr>
        <p:spPr>
          <a:xfrm>
            <a:off x="685800" y="743040"/>
            <a:ext cx="10819800" cy="55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132033"/>
                </a:solidFill>
              </a:defRPr>
            </a:pPr>
            <a:r>
              <a:rPr sz="2780" b="1" u="none">
                <a:solidFill>
                  <a:srgbClr val="132033"/>
                </a:solidFill>
                <a:latin typeface="Pretendard"/>
                <a:ea typeface="Pretendard"/>
                <a:cs typeface="Pretendard"/>
              </a:rPr>
              <a:t>통화가 5분을 넘기면 관심 고객으로 다시 본다</a:t>
            </a:r>
          </a:p>
        </p:txBody>
      </p:sp>
      <p:sp>
        <p:nvSpPr>
          <p:cNvPr id="143" name="Google Shape;186;p8">
            <a:extLst>
              <a:ext uri="{FF2B5EF4-FFF2-40B4-BE49-F238E27FC236}">
                <a16:creationId xmlns:a16="http://schemas.microsoft.com/office/drawing/2014/main" id="{436AE544-CEC5-4868-80FD-7A63CB933E88}"/>
              </a:ext>
            </a:extLst>
          </p:cNvPr>
          <p:cNvSpPr>
            <a:spLocks noGrp="1"/>
          </p:cNvSpPr>
          <p:nvPr/>
        </p:nvSpPr>
        <p:spPr>
          <a:xfrm>
            <a:off x="685800" y="1438200"/>
            <a:ext cx="10819800" cy="18360"/>
          </a:xfrm>
          <a:prstGeom prst="rect">
            <a:avLst/>
          </a:prstGeom>
          <a:solidFill>
            <a:srgbClr val="DDE2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endParaRPr/>
          </a:p>
        </p:txBody>
      </p:sp>
      <p:graphicFrame>
        <p:nvGraphicFramePr>
          <p:cNvPr id="161" name="Google Shape;187;p8"/>
          <p:cNvGraphicFramePr/>
          <p:nvPr/>
        </p:nvGraphicFramePr>
        <p:xfrm>
          <a:off x="685800" y="2000160"/>
          <a:ext cx="5618880" cy="3428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5" name="Google Shape;188;p8">
            <a:extLst>
              <a:ext uri="{FF2B5EF4-FFF2-40B4-BE49-F238E27FC236}">
                <a16:creationId xmlns:a16="http://schemas.microsoft.com/office/drawing/2014/main" id="{0018911D-2028-4C90-BCB3-D3FD6DA0DB2D}"/>
              </a:ext>
            </a:extLst>
          </p:cNvPr>
          <p:cNvSpPr>
            <a:spLocks noGrp="1"/>
          </p:cNvSpPr>
          <p:nvPr/>
        </p:nvSpPr>
        <p:spPr>
          <a:xfrm>
            <a:off x="7086600" y="1981080"/>
            <a:ext cx="247572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 b="1">
                <a:solidFill>
                  <a:srgbClr val="2F63F5"/>
                </a:solidFill>
              </a:defRPr>
            </a:pPr>
            <a:r>
              <a:rPr sz="1500" b="1" u="none">
                <a:solidFill>
                  <a:srgbClr val="2F63F5"/>
                </a:solidFill>
                <a:latin typeface="Pretendard"/>
                <a:ea typeface="Pretendard"/>
                <a:cs typeface="Pretendard"/>
              </a:rPr>
              <a:t>통화 중 운영 기준</a:t>
            </a:r>
          </a:p>
        </p:txBody>
      </p:sp>
      <p:sp>
        <p:nvSpPr>
          <p:cNvPr id="146" name="Google Shape;189;p8">
            <a:extLst>
              <a:ext uri="{FF2B5EF4-FFF2-40B4-BE49-F238E27FC236}">
                <a16:creationId xmlns:a16="http://schemas.microsoft.com/office/drawing/2014/main" id="{5C9C7A61-D156-4E00-851D-2B02EAC3EB5F}"/>
              </a:ext>
            </a:extLst>
          </p:cNvPr>
          <p:cNvSpPr>
            <a:spLocks noGrp="1"/>
          </p:cNvSpPr>
          <p:nvPr/>
        </p:nvSpPr>
        <p:spPr>
          <a:xfrm>
            <a:off x="7086600" y="2476440"/>
            <a:ext cx="1618560" cy="30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 b="1">
                <a:solidFill>
                  <a:srgbClr val="667085"/>
                </a:solidFill>
              </a:defRPr>
            </a:pPr>
            <a:r>
              <a:rPr sz="1430" b="1" u="none">
                <a:solidFill>
                  <a:srgbClr val="667085"/>
                </a:solidFill>
                <a:latin typeface="Pretendard"/>
                <a:ea typeface="Pretendard"/>
                <a:cs typeface="Pretendard"/>
              </a:rPr>
              <a:t>3분 전</a:t>
            </a:r>
          </a:p>
        </p:txBody>
      </p:sp>
      <p:sp>
        <p:nvSpPr>
          <p:cNvPr id="147" name="Google Shape;190;p8">
            <a:extLst>
              <a:ext uri="{FF2B5EF4-FFF2-40B4-BE49-F238E27FC236}">
                <a16:creationId xmlns:a16="http://schemas.microsoft.com/office/drawing/2014/main" id="{366CD381-B9A1-4FE2-B9A5-C60575D41636}"/>
              </a:ext>
            </a:extLst>
          </p:cNvPr>
          <p:cNvSpPr>
            <a:spLocks noGrp="1"/>
          </p:cNvSpPr>
          <p:nvPr/>
        </p:nvSpPr>
        <p:spPr>
          <a:xfrm>
            <a:off x="8858160" y="2457360"/>
            <a:ext cx="2647080" cy="53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5B6473"/>
                </a:solidFill>
                <a:latin typeface="Pretendard"/>
                <a:ea typeface="Pretendard"/>
                <a:cs typeface="Pretendard"/>
              </a:rPr>
              <a:t>상품을 길게 설명하기보다 </a:t>
            </a: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5B6473"/>
                </a:solidFill>
                <a:latin typeface="Pretendard"/>
                <a:ea typeface="Pretendard"/>
                <a:cs typeface="Pretendard"/>
              </a:rPr>
              <a:t>필요한 목적부터 짧게 질문</a:t>
            </a:r>
          </a:p>
        </p:txBody>
      </p:sp>
      <p:sp>
        <p:nvSpPr>
          <p:cNvPr id="148" name="Google Shape;191;p8">
            <a:extLst>
              <a:ext uri="{FF2B5EF4-FFF2-40B4-BE49-F238E27FC236}">
                <a16:creationId xmlns:a16="http://schemas.microsoft.com/office/drawing/2014/main" id="{1EF79F94-90D7-4D27-B26A-098EA616EA9B}"/>
              </a:ext>
            </a:extLst>
          </p:cNvPr>
          <p:cNvSpPr>
            <a:spLocks noGrp="1"/>
          </p:cNvSpPr>
          <p:nvPr/>
        </p:nvSpPr>
        <p:spPr>
          <a:xfrm>
            <a:off x="7086600" y="3219480"/>
            <a:ext cx="1618560" cy="30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 b="1">
                <a:solidFill>
                  <a:srgbClr val="16A77B"/>
                </a:solidFill>
              </a:defRPr>
            </a:pPr>
            <a:r>
              <a:rPr sz="1430" b="1" u="none">
                <a:solidFill>
                  <a:srgbClr val="16A77B"/>
                </a:solidFill>
                <a:latin typeface="Pretendard"/>
                <a:ea typeface="Pretendard"/>
                <a:cs typeface="Pretendard"/>
              </a:rPr>
              <a:t>5분 이상</a:t>
            </a:r>
          </a:p>
        </p:txBody>
      </p:sp>
      <p:sp>
        <p:nvSpPr>
          <p:cNvPr id="149" name="Google Shape;192;p8">
            <a:extLst>
              <a:ext uri="{FF2B5EF4-FFF2-40B4-BE49-F238E27FC236}">
                <a16:creationId xmlns:a16="http://schemas.microsoft.com/office/drawing/2014/main" id="{4D6413BE-E0EF-4918-BE93-A4D31D1C0DAE}"/>
              </a:ext>
            </a:extLst>
          </p:cNvPr>
          <p:cNvSpPr>
            <a:spLocks noGrp="1"/>
          </p:cNvSpPr>
          <p:nvPr/>
        </p:nvSpPr>
        <p:spPr>
          <a:xfrm>
            <a:off x="8858160" y="3200400"/>
            <a:ext cx="2647080" cy="53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5B6473"/>
                </a:solidFill>
                <a:latin typeface="Pretendard"/>
                <a:ea typeface="Pretendard"/>
                <a:cs typeface="Pretendard"/>
              </a:rPr>
              <a:t>대화가 이어지면 관심 고객으로 </a:t>
            </a: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5B6473"/>
                </a:solidFill>
                <a:latin typeface="Pretendard"/>
                <a:ea typeface="Pretendard"/>
                <a:cs typeface="Pretendard"/>
              </a:rPr>
              <a:t>표시하고 조건을 구체화</a:t>
            </a:r>
          </a:p>
        </p:txBody>
      </p:sp>
      <p:sp>
        <p:nvSpPr>
          <p:cNvPr id="150" name="Google Shape;193;p8">
            <a:extLst>
              <a:ext uri="{FF2B5EF4-FFF2-40B4-BE49-F238E27FC236}">
                <a16:creationId xmlns:a16="http://schemas.microsoft.com/office/drawing/2014/main" id="{1393A31C-B833-4274-8251-2B41847DEEAC}"/>
              </a:ext>
            </a:extLst>
          </p:cNvPr>
          <p:cNvSpPr>
            <a:spLocks noGrp="1"/>
          </p:cNvSpPr>
          <p:nvPr/>
        </p:nvSpPr>
        <p:spPr>
          <a:xfrm>
            <a:off x="7086600" y="3962520"/>
            <a:ext cx="1618560" cy="30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 b="1">
                <a:solidFill>
                  <a:srgbClr val="D58A13"/>
                </a:solidFill>
              </a:defRPr>
            </a:pPr>
            <a:r>
              <a:rPr sz="1430" b="1" u="none">
                <a:solidFill>
                  <a:srgbClr val="D58A13"/>
                </a:solidFill>
                <a:latin typeface="Pretendard"/>
                <a:ea typeface="Pretendard"/>
                <a:cs typeface="Pretendard"/>
              </a:rPr>
              <a:t>시간이 없으면</a:t>
            </a:r>
          </a:p>
        </p:txBody>
      </p:sp>
      <p:sp>
        <p:nvSpPr>
          <p:cNvPr id="151" name="Google Shape;194;p8">
            <a:extLst>
              <a:ext uri="{FF2B5EF4-FFF2-40B4-BE49-F238E27FC236}">
                <a16:creationId xmlns:a16="http://schemas.microsoft.com/office/drawing/2014/main" id="{000481B1-DD27-497A-91D3-4532A2B29E7C}"/>
              </a:ext>
            </a:extLst>
          </p:cNvPr>
          <p:cNvSpPr>
            <a:spLocks noGrp="1"/>
          </p:cNvSpPr>
          <p:nvPr/>
        </p:nvSpPr>
        <p:spPr>
          <a:xfrm>
            <a:off x="8858160" y="3943440"/>
            <a:ext cx="2647080" cy="53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5B6473"/>
                </a:solidFill>
                <a:latin typeface="Pretendard"/>
                <a:ea typeface="Pretendard"/>
                <a:cs typeface="Pretendard"/>
              </a:rPr>
              <a:t>억지로 이어가지 않고 </a:t>
            </a: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5B6473"/>
                </a:solidFill>
                <a:latin typeface="Pretendard"/>
                <a:ea typeface="Pretendard"/>
                <a:cs typeface="Pretendard"/>
              </a:rPr>
              <a:t>고객이 가능한 시간으로 상담 예약</a:t>
            </a:r>
          </a:p>
        </p:txBody>
      </p:sp>
      <p:sp>
        <p:nvSpPr>
          <p:cNvPr id="152" name="Google Shape;195;p8">
            <a:extLst>
              <a:ext uri="{FF2B5EF4-FFF2-40B4-BE49-F238E27FC236}">
                <a16:creationId xmlns:a16="http://schemas.microsoft.com/office/drawing/2014/main" id="{B30319B0-33C9-4C27-B3F7-E7DB99C6E94A}"/>
              </a:ext>
            </a:extLst>
          </p:cNvPr>
          <p:cNvSpPr>
            <a:spLocks noGrp="1"/>
          </p:cNvSpPr>
          <p:nvPr/>
        </p:nvSpPr>
        <p:spPr>
          <a:xfrm>
            <a:off x="7086600" y="4705200"/>
            <a:ext cx="1618560" cy="30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 b="1">
                <a:solidFill>
                  <a:srgbClr val="D94F55"/>
                </a:solidFill>
              </a:defRPr>
            </a:pPr>
            <a:r>
              <a:rPr sz="1430" b="1" u="none">
                <a:solidFill>
                  <a:srgbClr val="D94F55"/>
                </a:solidFill>
                <a:latin typeface="Pretendard"/>
                <a:ea typeface="Pretendard"/>
                <a:cs typeface="Pretendard"/>
              </a:rPr>
              <a:t>주의</a:t>
            </a:r>
          </a:p>
        </p:txBody>
      </p:sp>
      <p:sp>
        <p:nvSpPr>
          <p:cNvPr id="153" name="Google Shape;196;p8">
            <a:extLst>
              <a:ext uri="{FF2B5EF4-FFF2-40B4-BE49-F238E27FC236}">
                <a16:creationId xmlns:a16="http://schemas.microsoft.com/office/drawing/2014/main" id="{18104C25-531F-4D3D-BCE1-F38231AB45F6}"/>
              </a:ext>
            </a:extLst>
          </p:cNvPr>
          <p:cNvSpPr>
            <a:spLocks noGrp="1"/>
          </p:cNvSpPr>
          <p:nvPr/>
        </p:nvSpPr>
        <p:spPr>
          <a:xfrm>
            <a:off x="8858160" y="4686480"/>
            <a:ext cx="2647080" cy="53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5B6473"/>
                </a:solidFill>
                <a:latin typeface="Pretendard"/>
                <a:ea typeface="Pretendard"/>
                <a:cs typeface="Pretendard"/>
              </a:rPr>
              <a:t>5분을 채우는 것이 아니라 </a:t>
            </a: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5B6473"/>
                </a:solidFill>
                <a:latin typeface="Pretendard"/>
                <a:ea typeface="Pretendard"/>
                <a:cs typeface="Pretendard"/>
              </a:rPr>
              <a:t>대화가 이어질 이유를 만들기</a:t>
            </a:r>
          </a:p>
        </p:txBody>
      </p:sp>
      <p:sp>
        <p:nvSpPr>
          <p:cNvPr id="154" name="Google Shape;197;p8">
            <a:extLst>
              <a:ext uri="{FF2B5EF4-FFF2-40B4-BE49-F238E27FC236}">
                <a16:creationId xmlns:a16="http://schemas.microsoft.com/office/drawing/2014/main" id="{6F4EFFEC-9E21-4807-AF80-A667DA30812F}"/>
              </a:ext>
            </a:extLst>
          </p:cNvPr>
          <p:cNvSpPr>
            <a:spLocks noGrp="1"/>
          </p:cNvSpPr>
          <p:nvPr/>
        </p:nvSpPr>
        <p:spPr>
          <a:xfrm>
            <a:off x="7086600" y="5562720"/>
            <a:ext cx="4419000" cy="34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06464"/>
                </a:solidFill>
                <a:latin typeface="Pretendard"/>
                <a:ea typeface="Pretendard"/>
                <a:cs typeface="Pretendard"/>
              </a:rPr>
              <a:t>통화시간과 가입의 인과관계는 이 데이터만으로 확인할 수 없다.</a:t>
            </a:r>
          </a:p>
        </p:txBody>
      </p:sp>
      <p:sp>
        <p:nvSpPr>
          <p:cNvPr id="155" name="Google Shape;198;p8">
            <a:extLst>
              <a:ext uri="{FF2B5EF4-FFF2-40B4-BE49-F238E27FC236}">
                <a16:creationId xmlns:a16="http://schemas.microsoft.com/office/drawing/2014/main" id="{5D2FBDDA-2E3D-4EDA-948E-EC9697439AB4}"/>
              </a:ext>
            </a:extLst>
          </p:cNvPr>
          <p:cNvSpPr>
            <a:spLocks noGrp="1"/>
          </p:cNvSpPr>
          <p:nvPr/>
        </p:nvSpPr>
        <p:spPr>
          <a:xfrm>
            <a:off x="685800" y="6496200"/>
            <a:ext cx="4952160" cy="17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8B97A8"/>
                </a:solidFill>
              </a:defRPr>
            </a:pPr>
            <a:r>
              <a:rPr sz="820" b="1" u="none">
                <a:solidFill>
                  <a:srgbClr val="8B97A8"/>
                </a:solidFill>
                <a:latin typeface="Pretendard"/>
                <a:ea typeface="Pretendard"/>
                <a:cs typeface="Pretendard"/>
              </a:rPr>
              <a:t>SEOUL YOUNG CAREERIENCE CAMP · DATA_B</a:t>
            </a:r>
          </a:p>
        </p:txBody>
      </p:sp>
      <p:sp>
        <p:nvSpPr>
          <p:cNvPr id="156" name="Google Shape;199;p8">
            <a:extLst>
              <a:ext uri="{FF2B5EF4-FFF2-40B4-BE49-F238E27FC236}">
                <a16:creationId xmlns:a16="http://schemas.microsoft.com/office/drawing/2014/main" id="{C570B9CF-A85E-4ABE-989F-CC3CC2400A92}"/>
              </a:ext>
            </a:extLst>
          </p:cNvPr>
          <p:cNvSpPr>
            <a:spLocks noGrp="1"/>
          </p:cNvSpPr>
          <p:nvPr/>
        </p:nvSpPr>
        <p:spPr>
          <a:xfrm>
            <a:off x="10934640" y="6496200"/>
            <a:ext cx="570960" cy="17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8B97A8"/>
                </a:solidFill>
              </a:defRPr>
            </a:pPr>
            <a:r>
              <a:rPr sz="820" b="1" u="none">
                <a:solidFill>
                  <a:srgbClr val="8B97A8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08167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205;p9">
            <a:extLst>
              <a:ext uri="{FF2B5EF4-FFF2-40B4-BE49-F238E27FC236}">
                <a16:creationId xmlns:a16="http://schemas.microsoft.com/office/drawing/2014/main" id="{DECBD762-010B-4AD0-AB09-714B7C8566A3}"/>
              </a:ext>
            </a:extLst>
          </p:cNvPr>
          <p:cNvSpPr>
            <a:spLocks noGrp="1"/>
          </p:cNvSpPr>
          <p:nvPr/>
        </p:nvSpPr>
        <p:spPr>
          <a:xfrm>
            <a:off x="685800" y="361800"/>
            <a:ext cx="523080" cy="24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275DFF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158" name="Google Shape;206;p9">
            <a:extLst>
              <a:ext uri="{FF2B5EF4-FFF2-40B4-BE49-F238E27FC236}">
                <a16:creationId xmlns:a16="http://schemas.microsoft.com/office/drawing/2014/main" id="{A25BC3B6-6F70-4ABF-8538-D54173041B09}"/>
              </a:ext>
            </a:extLst>
          </p:cNvPr>
          <p:cNvSpPr>
            <a:spLocks noGrp="1"/>
          </p:cNvSpPr>
          <p:nvPr/>
        </p:nvSpPr>
        <p:spPr>
          <a:xfrm>
            <a:off x="685800" y="743040"/>
            <a:ext cx="10819800" cy="55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132033"/>
                </a:solidFill>
              </a:defRPr>
            </a:pPr>
            <a:r>
              <a:rPr sz="2780" b="1" u="none">
                <a:solidFill>
                  <a:srgbClr val="132033"/>
                </a:solidFill>
                <a:latin typeface="Pretendard"/>
                <a:ea typeface="Pretendard"/>
                <a:cs typeface="Pretendard"/>
              </a:rPr>
              <a:t>과거 실패 고객은 다시 파는 대신 이유부터 모은다</a:t>
            </a:r>
          </a:p>
        </p:txBody>
      </p:sp>
      <p:sp>
        <p:nvSpPr>
          <p:cNvPr id="159" name="Google Shape;207;p9">
            <a:extLst>
              <a:ext uri="{FF2B5EF4-FFF2-40B4-BE49-F238E27FC236}">
                <a16:creationId xmlns:a16="http://schemas.microsoft.com/office/drawing/2014/main" id="{0D3A12A6-391F-4588-A937-3C779B3BB51E}"/>
              </a:ext>
            </a:extLst>
          </p:cNvPr>
          <p:cNvSpPr>
            <a:spLocks noGrp="1"/>
          </p:cNvSpPr>
          <p:nvPr/>
        </p:nvSpPr>
        <p:spPr>
          <a:xfrm>
            <a:off x="685800" y="1438200"/>
            <a:ext cx="10819800" cy="18360"/>
          </a:xfrm>
          <a:prstGeom prst="rect">
            <a:avLst/>
          </a:prstGeom>
          <a:solidFill>
            <a:srgbClr val="DDE2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endParaRPr/>
          </a:p>
        </p:txBody>
      </p:sp>
      <p:sp>
        <p:nvSpPr>
          <p:cNvPr id="160" name="Google Shape;208;p9">
            <a:extLst>
              <a:ext uri="{FF2B5EF4-FFF2-40B4-BE49-F238E27FC236}">
                <a16:creationId xmlns:a16="http://schemas.microsoft.com/office/drawing/2014/main" id="{0957D68C-4F8D-455E-B1F8-6F0676D3A7C2}"/>
              </a:ext>
            </a:extLst>
          </p:cNvPr>
          <p:cNvSpPr>
            <a:spLocks noGrp="1"/>
          </p:cNvSpPr>
          <p:nvPr/>
        </p:nvSpPr>
        <p:spPr>
          <a:xfrm>
            <a:off x="685800" y="1676520"/>
            <a:ext cx="8571960" cy="36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0" u="none">
                <a:solidFill>
                  <a:srgbClr val="5B6473"/>
                </a:solidFill>
                <a:latin typeface="Pretendard"/>
                <a:ea typeface="Pretendard"/>
                <a:cs typeface="Pretendard"/>
              </a:rPr>
              <a:t>이전에 선택하지 않은 이유를 한 가지씩 기록하고, 다음 상품 개발에 사용한다.</a:t>
            </a:r>
          </a:p>
        </p:txBody>
      </p:sp>
      <p:sp>
        <p:nvSpPr>
          <p:cNvPr id="161" name="Google Shape;209;p9">
            <a:extLst>
              <a:ext uri="{FF2B5EF4-FFF2-40B4-BE49-F238E27FC236}">
                <a16:creationId xmlns:a16="http://schemas.microsoft.com/office/drawing/2014/main" id="{9F3B2F6A-AD4E-473C-805F-DFA911F15A0A}"/>
              </a:ext>
            </a:extLst>
          </p:cNvPr>
          <p:cNvSpPr>
            <a:spLocks noGrp="1"/>
          </p:cNvSpPr>
          <p:nvPr/>
        </p:nvSpPr>
        <p:spPr>
          <a:xfrm>
            <a:off x="685800" y="2362320"/>
            <a:ext cx="10659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 b="1">
                <a:solidFill>
                  <a:srgbClr val="16A77B"/>
                </a:solidFill>
              </a:defRPr>
            </a:pPr>
            <a:r>
              <a:rPr sz="1350" b="1" u="none">
                <a:solidFill>
                  <a:srgbClr val="16A77B"/>
                </a:solidFill>
                <a:latin typeface="Pretendard"/>
                <a:ea typeface="Pretendard"/>
                <a:cs typeface="Pretendard"/>
              </a:rPr>
              <a:t>STEP 01</a:t>
            </a:r>
          </a:p>
        </p:txBody>
      </p:sp>
      <p:sp>
        <p:nvSpPr>
          <p:cNvPr id="162" name="Google Shape;210;p9">
            <a:extLst>
              <a:ext uri="{FF2B5EF4-FFF2-40B4-BE49-F238E27FC236}">
                <a16:creationId xmlns:a16="http://schemas.microsoft.com/office/drawing/2014/main" id="{815921AD-020A-4DF8-B326-32CC4C618A33}"/>
              </a:ext>
            </a:extLst>
          </p:cNvPr>
          <p:cNvSpPr>
            <a:spLocks noGrp="1"/>
          </p:cNvSpPr>
          <p:nvPr/>
        </p:nvSpPr>
        <p:spPr>
          <a:xfrm>
            <a:off x="2000160" y="2362320"/>
            <a:ext cx="180900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이유 묻기</a:t>
            </a:r>
          </a:p>
        </p:txBody>
      </p:sp>
      <p:sp>
        <p:nvSpPr>
          <p:cNvPr id="163" name="Google Shape;211;p9">
            <a:extLst>
              <a:ext uri="{FF2B5EF4-FFF2-40B4-BE49-F238E27FC236}">
                <a16:creationId xmlns:a16="http://schemas.microsoft.com/office/drawing/2014/main" id="{1ED08171-D483-4CE5-9EAE-0B61741C3F8B}"/>
              </a:ext>
            </a:extLst>
          </p:cNvPr>
          <p:cNvSpPr>
            <a:spLocks noGrp="1"/>
          </p:cNvSpPr>
          <p:nvPr/>
        </p:nvSpPr>
        <p:spPr>
          <a:xfrm>
            <a:off x="4324320" y="2362320"/>
            <a:ext cx="25711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같은 상품 재권유</a:t>
            </a:r>
          </a:p>
        </p:txBody>
      </p:sp>
      <p:sp>
        <p:nvSpPr>
          <p:cNvPr id="164" name="Google Shape;212;p9">
            <a:extLst>
              <a:ext uri="{FF2B5EF4-FFF2-40B4-BE49-F238E27FC236}">
                <a16:creationId xmlns:a16="http://schemas.microsoft.com/office/drawing/2014/main" id="{A351A9A3-AD28-4882-BD3A-131E4CBF2651}"/>
              </a:ext>
            </a:extLst>
          </p:cNvPr>
          <p:cNvSpPr>
            <a:spLocks noGrp="1"/>
          </p:cNvSpPr>
          <p:nvPr/>
        </p:nvSpPr>
        <p:spPr>
          <a:xfrm>
            <a:off x="7124760" y="2362320"/>
            <a:ext cx="5518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B6473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165" name="Google Shape;213;p9">
            <a:extLst>
              <a:ext uri="{FF2B5EF4-FFF2-40B4-BE49-F238E27FC236}">
                <a16:creationId xmlns:a16="http://schemas.microsoft.com/office/drawing/2014/main" id="{19AF627B-20B6-4C79-90A1-692F2C86E38B}"/>
              </a:ext>
            </a:extLst>
          </p:cNvPr>
          <p:cNvSpPr>
            <a:spLocks noGrp="1"/>
          </p:cNvSpPr>
          <p:nvPr/>
        </p:nvSpPr>
        <p:spPr>
          <a:xfrm>
            <a:off x="7943760" y="2362320"/>
            <a:ext cx="26661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거절 이유 1개 기록</a:t>
            </a:r>
          </a:p>
        </p:txBody>
      </p:sp>
      <p:sp>
        <p:nvSpPr>
          <p:cNvPr id="166" name="Google Shape;214;p9">
            <a:extLst>
              <a:ext uri="{FF2B5EF4-FFF2-40B4-BE49-F238E27FC236}">
                <a16:creationId xmlns:a16="http://schemas.microsoft.com/office/drawing/2014/main" id="{FD4FAD86-6540-47E9-995E-4881F4C7E8DB}"/>
              </a:ext>
            </a:extLst>
          </p:cNvPr>
          <p:cNvSpPr>
            <a:spLocks noGrp="1"/>
          </p:cNvSpPr>
          <p:nvPr/>
        </p:nvSpPr>
        <p:spPr>
          <a:xfrm>
            <a:off x="2000160" y="3009960"/>
            <a:ext cx="8609760" cy="8640"/>
          </a:xfrm>
          <a:prstGeom prst="rect">
            <a:avLst/>
          </a:prstGeom>
          <a:solidFill>
            <a:srgbClr val="DDE2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endParaRPr/>
          </a:p>
        </p:txBody>
      </p:sp>
      <p:sp>
        <p:nvSpPr>
          <p:cNvPr id="167" name="Google Shape;215;p9">
            <a:extLst>
              <a:ext uri="{FF2B5EF4-FFF2-40B4-BE49-F238E27FC236}">
                <a16:creationId xmlns:a16="http://schemas.microsoft.com/office/drawing/2014/main" id="{7B412801-D59B-4B54-B746-2AD9DDB12904}"/>
              </a:ext>
            </a:extLst>
          </p:cNvPr>
          <p:cNvSpPr>
            <a:spLocks noGrp="1"/>
          </p:cNvSpPr>
          <p:nvPr/>
        </p:nvSpPr>
        <p:spPr>
          <a:xfrm>
            <a:off x="685800" y="3390840"/>
            <a:ext cx="10659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 b="1">
                <a:solidFill>
                  <a:srgbClr val="16A77B"/>
                </a:solidFill>
              </a:defRPr>
            </a:pPr>
            <a:r>
              <a:rPr sz="1350" b="1" u="none">
                <a:solidFill>
                  <a:srgbClr val="16A77B"/>
                </a:solidFill>
                <a:latin typeface="Pretendard"/>
                <a:ea typeface="Pretendard"/>
                <a:cs typeface="Pretendard"/>
              </a:rPr>
              <a:t>STEP 02</a:t>
            </a:r>
          </a:p>
        </p:txBody>
      </p:sp>
      <p:sp>
        <p:nvSpPr>
          <p:cNvPr id="168" name="Google Shape;216;p9">
            <a:extLst>
              <a:ext uri="{FF2B5EF4-FFF2-40B4-BE49-F238E27FC236}">
                <a16:creationId xmlns:a16="http://schemas.microsoft.com/office/drawing/2014/main" id="{1CED713F-C835-4083-9B14-A08B0D9B4C8E}"/>
              </a:ext>
            </a:extLst>
          </p:cNvPr>
          <p:cNvSpPr>
            <a:spLocks noGrp="1"/>
          </p:cNvSpPr>
          <p:nvPr/>
        </p:nvSpPr>
        <p:spPr>
          <a:xfrm>
            <a:off x="2000160" y="3390840"/>
            <a:ext cx="180900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상품 바꾸기</a:t>
            </a:r>
          </a:p>
        </p:txBody>
      </p:sp>
      <p:sp>
        <p:nvSpPr>
          <p:cNvPr id="169" name="Google Shape;217;p9">
            <a:extLst>
              <a:ext uri="{FF2B5EF4-FFF2-40B4-BE49-F238E27FC236}">
                <a16:creationId xmlns:a16="http://schemas.microsoft.com/office/drawing/2014/main" id="{3E7411C2-2F62-4835-8F89-7FD6D5E27E75}"/>
              </a:ext>
            </a:extLst>
          </p:cNvPr>
          <p:cNvSpPr>
            <a:spLocks noGrp="1"/>
          </p:cNvSpPr>
          <p:nvPr/>
        </p:nvSpPr>
        <p:spPr>
          <a:xfrm>
            <a:off x="4324320" y="3390840"/>
            <a:ext cx="25711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모든 고객 같은 상품</a:t>
            </a:r>
          </a:p>
        </p:txBody>
      </p:sp>
      <p:sp>
        <p:nvSpPr>
          <p:cNvPr id="170" name="Google Shape;218;p9">
            <a:extLst>
              <a:ext uri="{FF2B5EF4-FFF2-40B4-BE49-F238E27FC236}">
                <a16:creationId xmlns:a16="http://schemas.microsoft.com/office/drawing/2014/main" id="{FE52B9DF-8783-47E3-84B4-D8FFB3289CCF}"/>
              </a:ext>
            </a:extLst>
          </p:cNvPr>
          <p:cNvSpPr>
            <a:spLocks noGrp="1"/>
          </p:cNvSpPr>
          <p:nvPr/>
        </p:nvSpPr>
        <p:spPr>
          <a:xfrm>
            <a:off x="7124760" y="3390840"/>
            <a:ext cx="5518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B6473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171" name="Google Shape;219;p9">
            <a:extLst>
              <a:ext uri="{FF2B5EF4-FFF2-40B4-BE49-F238E27FC236}">
                <a16:creationId xmlns:a16="http://schemas.microsoft.com/office/drawing/2014/main" id="{D05DD646-8D9A-4715-A526-2442EFED6C42}"/>
              </a:ext>
            </a:extLst>
          </p:cNvPr>
          <p:cNvSpPr>
            <a:spLocks noGrp="1"/>
          </p:cNvSpPr>
          <p:nvPr/>
        </p:nvSpPr>
        <p:spPr>
          <a:xfrm>
            <a:off x="7943760" y="3390840"/>
            <a:ext cx="26661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이유별 상품 가설</a:t>
            </a:r>
          </a:p>
        </p:txBody>
      </p:sp>
      <p:sp>
        <p:nvSpPr>
          <p:cNvPr id="172" name="Google Shape;220;p9">
            <a:extLst>
              <a:ext uri="{FF2B5EF4-FFF2-40B4-BE49-F238E27FC236}">
                <a16:creationId xmlns:a16="http://schemas.microsoft.com/office/drawing/2014/main" id="{6D339730-94C3-4901-8750-B5C8AF773CBA}"/>
              </a:ext>
            </a:extLst>
          </p:cNvPr>
          <p:cNvSpPr>
            <a:spLocks noGrp="1"/>
          </p:cNvSpPr>
          <p:nvPr/>
        </p:nvSpPr>
        <p:spPr>
          <a:xfrm>
            <a:off x="2000160" y="4038480"/>
            <a:ext cx="8609760" cy="8640"/>
          </a:xfrm>
          <a:prstGeom prst="rect">
            <a:avLst/>
          </a:prstGeom>
          <a:solidFill>
            <a:srgbClr val="DDE2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endParaRPr/>
          </a:p>
        </p:txBody>
      </p:sp>
      <p:sp>
        <p:nvSpPr>
          <p:cNvPr id="173" name="Google Shape;221;p9">
            <a:extLst>
              <a:ext uri="{FF2B5EF4-FFF2-40B4-BE49-F238E27FC236}">
                <a16:creationId xmlns:a16="http://schemas.microsoft.com/office/drawing/2014/main" id="{5551E6B9-3E1F-44CC-85AA-10CE7265001B}"/>
              </a:ext>
            </a:extLst>
          </p:cNvPr>
          <p:cNvSpPr>
            <a:spLocks noGrp="1"/>
          </p:cNvSpPr>
          <p:nvPr/>
        </p:nvSpPr>
        <p:spPr>
          <a:xfrm>
            <a:off x="685800" y="4419720"/>
            <a:ext cx="10659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 b="1">
                <a:solidFill>
                  <a:srgbClr val="16A77B"/>
                </a:solidFill>
              </a:defRPr>
            </a:pPr>
            <a:r>
              <a:rPr sz="1350" b="1" u="none">
                <a:solidFill>
                  <a:srgbClr val="16A77B"/>
                </a:solidFill>
                <a:latin typeface="Pretendard"/>
                <a:ea typeface="Pretendard"/>
                <a:cs typeface="Pretendard"/>
              </a:rPr>
              <a:t>STEP 03</a:t>
            </a:r>
          </a:p>
        </p:txBody>
      </p:sp>
      <p:sp>
        <p:nvSpPr>
          <p:cNvPr id="174" name="Google Shape;222;p9">
            <a:extLst>
              <a:ext uri="{FF2B5EF4-FFF2-40B4-BE49-F238E27FC236}">
                <a16:creationId xmlns:a16="http://schemas.microsoft.com/office/drawing/2014/main" id="{76FD03D4-34C0-4C06-904C-B42704557739}"/>
              </a:ext>
            </a:extLst>
          </p:cNvPr>
          <p:cNvSpPr>
            <a:spLocks noGrp="1"/>
          </p:cNvSpPr>
          <p:nvPr/>
        </p:nvSpPr>
        <p:spPr>
          <a:xfrm>
            <a:off x="2000160" y="4419720"/>
            <a:ext cx="180900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다시 확인</a:t>
            </a:r>
          </a:p>
        </p:txBody>
      </p:sp>
      <p:sp>
        <p:nvSpPr>
          <p:cNvPr id="175" name="Google Shape;223;p9">
            <a:extLst>
              <a:ext uri="{FF2B5EF4-FFF2-40B4-BE49-F238E27FC236}">
                <a16:creationId xmlns:a16="http://schemas.microsoft.com/office/drawing/2014/main" id="{59ED7E23-3476-48E1-856D-19E10CBE8CE8}"/>
              </a:ext>
            </a:extLst>
          </p:cNvPr>
          <p:cNvSpPr>
            <a:spLocks noGrp="1"/>
          </p:cNvSpPr>
          <p:nvPr/>
        </p:nvSpPr>
        <p:spPr>
          <a:xfrm>
            <a:off x="4324320" y="4419720"/>
            <a:ext cx="25711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가입률만 보기</a:t>
            </a:r>
          </a:p>
        </p:txBody>
      </p:sp>
      <p:sp>
        <p:nvSpPr>
          <p:cNvPr id="176" name="Google Shape;224;p9">
            <a:extLst>
              <a:ext uri="{FF2B5EF4-FFF2-40B4-BE49-F238E27FC236}">
                <a16:creationId xmlns:a16="http://schemas.microsoft.com/office/drawing/2014/main" id="{47A6B656-7A1D-4A2A-9390-86F329DD5EBE}"/>
              </a:ext>
            </a:extLst>
          </p:cNvPr>
          <p:cNvSpPr>
            <a:spLocks noGrp="1"/>
          </p:cNvSpPr>
          <p:nvPr/>
        </p:nvSpPr>
        <p:spPr>
          <a:xfrm>
            <a:off x="7124760" y="4419720"/>
            <a:ext cx="5518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B6473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177" name="Google Shape;225;p9">
            <a:extLst>
              <a:ext uri="{FF2B5EF4-FFF2-40B4-BE49-F238E27FC236}">
                <a16:creationId xmlns:a16="http://schemas.microsoft.com/office/drawing/2014/main" id="{58FFB94A-8F02-4530-8A4C-07E7B21B5A4B}"/>
              </a:ext>
            </a:extLst>
          </p:cNvPr>
          <p:cNvSpPr>
            <a:spLocks noGrp="1"/>
          </p:cNvSpPr>
          <p:nvPr/>
        </p:nvSpPr>
        <p:spPr>
          <a:xfrm>
            <a:off x="7943760" y="4419720"/>
            <a:ext cx="26661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이유·가입률 함께 보기</a:t>
            </a:r>
          </a:p>
        </p:txBody>
      </p:sp>
      <p:sp>
        <p:nvSpPr>
          <p:cNvPr id="178" name="Google Shape;226;p9">
            <a:extLst>
              <a:ext uri="{FF2B5EF4-FFF2-40B4-BE49-F238E27FC236}">
                <a16:creationId xmlns:a16="http://schemas.microsoft.com/office/drawing/2014/main" id="{48B653D6-73A3-4190-B92F-0C443B759C25}"/>
              </a:ext>
            </a:extLst>
          </p:cNvPr>
          <p:cNvSpPr>
            <a:spLocks noGrp="1"/>
          </p:cNvSpPr>
          <p:nvPr/>
        </p:nvSpPr>
        <p:spPr>
          <a:xfrm>
            <a:off x="2000160" y="5067360"/>
            <a:ext cx="8609760" cy="8640"/>
          </a:xfrm>
          <a:prstGeom prst="rect">
            <a:avLst/>
          </a:prstGeom>
          <a:solidFill>
            <a:srgbClr val="DDE2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endParaRPr/>
          </a:p>
        </p:txBody>
      </p:sp>
      <p:sp>
        <p:nvSpPr>
          <p:cNvPr id="179" name="Google Shape;227;p9">
            <a:extLst>
              <a:ext uri="{FF2B5EF4-FFF2-40B4-BE49-F238E27FC236}">
                <a16:creationId xmlns:a16="http://schemas.microsoft.com/office/drawing/2014/main" id="{0E3B23BC-3ABA-44F6-B482-9B48BBD7FA22}"/>
              </a:ext>
            </a:extLst>
          </p:cNvPr>
          <p:cNvSpPr>
            <a:spLocks noGrp="1"/>
          </p:cNvSpPr>
          <p:nvPr/>
        </p:nvSpPr>
        <p:spPr>
          <a:xfrm>
            <a:off x="685800" y="5638680"/>
            <a:ext cx="10819800" cy="513720"/>
          </a:xfrm>
          <a:prstGeom prst="roundRect">
            <a:avLst>
              <a:gd name="adj" fmla="val 22222"/>
            </a:avLst>
          </a:prstGeom>
          <a:solidFill>
            <a:srgbClr val="0B122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80" name="Google Shape;228;p9">
            <a:extLst>
              <a:ext uri="{FF2B5EF4-FFF2-40B4-BE49-F238E27FC236}">
                <a16:creationId xmlns:a16="http://schemas.microsoft.com/office/drawing/2014/main" id="{DEC6FA73-E5FE-47F4-9966-F9D9160FBB6F}"/>
              </a:ext>
            </a:extLst>
          </p:cNvPr>
          <p:cNvSpPr>
            <a:spLocks noGrp="1"/>
          </p:cNvSpPr>
          <p:nvPr/>
        </p:nvSpPr>
        <p:spPr>
          <a:xfrm>
            <a:off x="914400" y="5734080"/>
            <a:ext cx="285696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C9F65B"/>
                </a:solidFill>
                <a:latin typeface="Pretendard"/>
                <a:ea typeface="Pretendard"/>
                <a:cs typeface="Pretendard"/>
              </a:rPr>
              <a:t>3,931명 · 가입률 12.92%</a:t>
            </a:r>
          </a:p>
        </p:txBody>
      </p:sp>
      <p:sp>
        <p:nvSpPr>
          <p:cNvPr id="181" name="Google Shape;229;p9">
            <a:extLst>
              <a:ext uri="{FF2B5EF4-FFF2-40B4-BE49-F238E27FC236}">
                <a16:creationId xmlns:a16="http://schemas.microsoft.com/office/drawing/2014/main" id="{D6F9E95A-2391-4EBD-834C-F6562A3EB26F}"/>
              </a:ext>
            </a:extLst>
          </p:cNvPr>
          <p:cNvSpPr>
            <a:spLocks noGrp="1"/>
          </p:cNvSpPr>
          <p:nvPr/>
        </p:nvSpPr>
        <p:spPr>
          <a:xfrm>
            <a:off x="4000680" y="5734080"/>
            <a:ext cx="693360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자금 부족·기간·중도해지·금리·시기 중 하나를 선택하게 한다.</a:t>
            </a:r>
          </a:p>
        </p:txBody>
      </p:sp>
      <p:sp>
        <p:nvSpPr>
          <p:cNvPr id="182" name="Google Shape;230;p9">
            <a:extLst>
              <a:ext uri="{FF2B5EF4-FFF2-40B4-BE49-F238E27FC236}">
                <a16:creationId xmlns:a16="http://schemas.microsoft.com/office/drawing/2014/main" id="{8AD04E13-D931-4A9A-AC36-F59BAD75B06C}"/>
              </a:ext>
            </a:extLst>
          </p:cNvPr>
          <p:cNvSpPr>
            <a:spLocks noGrp="1"/>
          </p:cNvSpPr>
          <p:nvPr/>
        </p:nvSpPr>
        <p:spPr>
          <a:xfrm>
            <a:off x="685800" y="6496200"/>
            <a:ext cx="4952160" cy="17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8B97A8"/>
                </a:solidFill>
              </a:defRPr>
            </a:pPr>
            <a:r>
              <a:rPr sz="820" b="1" u="none">
                <a:solidFill>
                  <a:srgbClr val="8B97A8"/>
                </a:solidFill>
                <a:latin typeface="Pretendard"/>
                <a:ea typeface="Pretendard"/>
                <a:cs typeface="Pretendard"/>
              </a:rPr>
              <a:t>SEOUL YOUNG CAREERIENCE CAMP · DATA_B</a:t>
            </a:r>
          </a:p>
        </p:txBody>
      </p:sp>
      <p:sp>
        <p:nvSpPr>
          <p:cNvPr id="183" name="Google Shape;231;p9">
            <a:extLst>
              <a:ext uri="{FF2B5EF4-FFF2-40B4-BE49-F238E27FC236}">
                <a16:creationId xmlns:a16="http://schemas.microsoft.com/office/drawing/2014/main" id="{6C93D80C-193E-41BD-936C-FA75D91F7737}"/>
              </a:ext>
            </a:extLst>
          </p:cNvPr>
          <p:cNvSpPr>
            <a:spLocks noGrp="1"/>
          </p:cNvSpPr>
          <p:nvPr/>
        </p:nvSpPr>
        <p:spPr>
          <a:xfrm>
            <a:off x="10934640" y="6496200"/>
            <a:ext cx="570960" cy="17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8B97A8"/>
                </a:solidFill>
              </a:defRPr>
            </a:pPr>
            <a:r>
              <a:rPr sz="820" b="1" u="none">
                <a:solidFill>
                  <a:srgbClr val="8B97A8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73175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237;p10">
            <a:extLst>
              <a:ext uri="{FF2B5EF4-FFF2-40B4-BE49-F238E27FC236}">
                <a16:creationId xmlns:a16="http://schemas.microsoft.com/office/drawing/2014/main" id="{9128F3C8-C0EF-4F84-BD57-6BADBA7E3BE4}"/>
              </a:ext>
            </a:extLst>
          </p:cNvPr>
          <p:cNvSpPr>
            <a:spLocks noGrp="1"/>
          </p:cNvSpPr>
          <p:nvPr/>
        </p:nvSpPr>
        <p:spPr>
          <a:xfrm>
            <a:off x="685800" y="361800"/>
            <a:ext cx="523080" cy="24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275DFF"/>
                </a:solidFill>
              </a:defRPr>
            </a:pPr>
            <a:r>
              <a:rPr sz="1050" b="1" u="none">
                <a:solidFill>
                  <a:srgbClr val="275DFF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185" name="Google Shape;238;p10">
            <a:extLst>
              <a:ext uri="{FF2B5EF4-FFF2-40B4-BE49-F238E27FC236}">
                <a16:creationId xmlns:a16="http://schemas.microsoft.com/office/drawing/2014/main" id="{89A7FC48-AE30-4601-915F-07D0061EA325}"/>
              </a:ext>
            </a:extLst>
          </p:cNvPr>
          <p:cNvSpPr>
            <a:spLocks noGrp="1"/>
          </p:cNvSpPr>
          <p:nvPr/>
        </p:nvSpPr>
        <p:spPr>
          <a:xfrm>
            <a:off x="685800" y="743040"/>
            <a:ext cx="10819800" cy="55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132033"/>
                </a:solidFill>
              </a:defRPr>
            </a:pPr>
            <a:r>
              <a:rPr sz="2780" b="1" u="none">
                <a:solidFill>
                  <a:srgbClr val="132033"/>
                </a:solidFill>
                <a:latin typeface="Pretendard"/>
                <a:ea typeface="Pretendard"/>
                <a:cs typeface="Pretendard"/>
              </a:rPr>
              <a:t>대졸 모바일 고객은 취업준비생 한 집단이 아니었다</a:t>
            </a:r>
          </a:p>
        </p:txBody>
      </p:sp>
      <p:sp>
        <p:nvSpPr>
          <p:cNvPr id="186" name="Google Shape;239;p10">
            <a:extLst>
              <a:ext uri="{FF2B5EF4-FFF2-40B4-BE49-F238E27FC236}">
                <a16:creationId xmlns:a16="http://schemas.microsoft.com/office/drawing/2014/main" id="{57D7B284-0F02-4776-8B4D-54B52C3F63F8}"/>
              </a:ext>
            </a:extLst>
          </p:cNvPr>
          <p:cNvSpPr>
            <a:spLocks noGrp="1"/>
          </p:cNvSpPr>
          <p:nvPr/>
        </p:nvSpPr>
        <p:spPr>
          <a:xfrm>
            <a:off x="685800" y="1438200"/>
            <a:ext cx="10819800" cy="18360"/>
          </a:xfrm>
          <a:prstGeom prst="rect">
            <a:avLst/>
          </a:prstGeom>
          <a:solidFill>
            <a:srgbClr val="DDE2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endParaRPr/>
          </a:p>
        </p:txBody>
      </p:sp>
      <p:sp>
        <p:nvSpPr>
          <p:cNvPr id="187" name="Google Shape;240;p10">
            <a:extLst>
              <a:ext uri="{FF2B5EF4-FFF2-40B4-BE49-F238E27FC236}">
                <a16:creationId xmlns:a16="http://schemas.microsoft.com/office/drawing/2014/main" id="{C327C8EE-4EDA-4CA6-BDE2-1E93512B755C}"/>
              </a:ext>
            </a:extLst>
          </p:cNvPr>
          <p:cNvSpPr>
            <a:spLocks noGrp="1"/>
          </p:cNvSpPr>
          <p:nvPr/>
        </p:nvSpPr>
        <p:spPr>
          <a:xfrm>
            <a:off x="685800" y="2133720"/>
            <a:ext cx="3142440" cy="51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17B890"/>
                </a:solidFill>
              </a:defRPr>
            </a:pPr>
            <a:r>
              <a:rPr sz="2400" b="1" u="none">
                <a:solidFill>
                  <a:srgbClr val="17B890"/>
                </a:solidFill>
                <a:latin typeface="Pretendard"/>
                <a:ea typeface="Pretendard"/>
                <a:cs typeface="Pretendard"/>
              </a:rPr>
              <a:t>직장인 중심</a:t>
            </a:r>
          </a:p>
        </p:txBody>
      </p:sp>
      <p:sp>
        <p:nvSpPr>
          <p:cNvPr id="188" name="Google Shape;241;p10">
            <a:extLst>
              <a:ext uri="{FF2B5EF4-FFF2-40B4-BE49-F238E27FC236}">
                <a16:creationId xmlns:a16="http://schemas.microsoft.com/office/drawing/2014/main" id="{BC4C994B-08BF-44DB-BBF6-0ED893A431A7}"/>
              </a:ext>
            </a:extLst>
          </p:cNvPr>
          <p:cNvSpPr>
            <a:spLocks noGrp="1"/>
          </p:cNvSpPr>
          <p:nvPr/>
        </p:nvSpPr>
        <p:spPr>
          <a:xfrm>
            <a:off x="685800" y="2781360"/>
            <a:ext cx="3142440" cy="18360"/>
          </a:xfrm>
          <a:prstGeom prst="rect">
            <a:avLst/>
          </a:prstGeom>
          <a:solidFill>
            <a:srgbClr val="17B89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endParaRPr/>
          </a:p>
        </p:txBody>
      </p:sp>
      <p:sp>
        <p:nvSpPr>
          <p:cNvPr id="189" name="Google Shape;242;p10">
            <a:extLst>
              <a:ext uri="{FF2B5EF4-FFF2-40B4-BE49-F238E27FC236}">
                <a16:creationId xmlns:a16="http://schemas.microsoft.com/office/drawing/2014/main" id="{4A2DA871-6744-412B-8A88-194073088C3F}"/>
              </a:ext>
            </a:extLst>
          </p:cNvPr>
          <p:cNvSpPr>
            <a:spLocks noGrp="1"/>
          </p:cNvSpPr>
          <p:nvPr/>
        </p:nvSpPr>
        <p:spPr>
          <a:xfrm>
            <a:off x="685800" y="3105000"/>
            <a:ext cx="3142440" cy="99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111827"/>
                </a:solidFill>
              </a:defRPr>
            </a:pPr>
            <a:r>
              <a:rPr sz="1729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사무직 3,968명</a:t>
            </a:r>
          </a:p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111827"/>
                </a:solidFill>
              </a:defRPr>
            </a:pPr>
            <a:r>
              <a:rPr sz="1729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관리직 1,333명 · 기술직 1,267명</a:t>
            </a:r>
          </a:p>
        </p:txBody>
      </p:sp>
      <p:sp>
        <p:nvSpPr>
          <p:cNvPr id="190" name="Google Shape;243;p10">
            <a:extLst>
              <a:ext uri="{FF2B5EF4-FFF2-40B4-BE49-F238E27FC236}">
                <a16:creationId xmlns:a16="http://schemas.microsoft.com/office/drawing/2014/main" id="{A0C868D2-7636-41A0-AC56-E4EC669DE09E}"/>
              </a:ext>
            </a:extLst>
          </p:cNvPr>
          <p:cNvSpPr>
            <a:spLocks noGrp="1"/>
          </p:cNvSpPr>
          <p:nvPr/>
        </p:nvSpPr>
        <p:spPr>
          <a:xfrm>
            <a:off x="4324320" y="2133720"/>
            <a:ext cx="3142440" cy="51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E19A20"/>
                </a:solidFill>
              </a:defRPr>
            </a:pPr>
            <a:r>
              <a:rPr sz="2400" b="1" u="none">
                <a:solidFill>
                  <a:srgbClr val="E19A20"/>
                </a:solidFill>
                <a:latin typeface="Pretendard"/>
                <a:ea typeface="Pretendard"/>
                <a:cs typeface="Pretendard"/>
              </a:rPr>
              <a:t>생애단계로 나누기</a:t>
            </a:r>
          </a:p>
        </p:txBody>
      </p:sp>
      <p:sp>
        <p:nvSpPr>
          <p:cNvPr id="191" name="Google Shape;244;p10">
            <a:extLst>
              <a:ext uri="{FF2B5EF4-FFF2-40B4-BE49-F238E27FC236}">
                <a16:creationId xmlns:a16="http://schemas.microsoft.com/office/drawing/2014/main" id="{3773C40A-4905-4F12-A36B-E15AFAAB4D60}"/>
              </a:ext>
            </a:extLst>
          </p:cNvPr>
          <p:cNvSpPr>
            <a:spLocks noGrp="1"/>
          </p:cNvSpPr>
          <p:nvPr/>
        </p:nvSpPr>
        <p:spPr>
          <a:xfrm>
            <a:off x="4324320" y="2781360"/>
            <a:ext cx="3142440" cy="18360"/>
          </a:xfrm>
          <a:prstGeom prst="rect">
            <a:avLst/>
          </a:prstGeom>
          <a:solidFill>
            <a:srgbClr val="E19A2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endParaRPr/>
          </a:p>
        </p:txBody>
      </p:sp>
      <p:sp>
        <p:nvSpPr>
          <p:cNvPr id="192" name="Google Shape;245;p10">
            <a:extLst>
              <a:ext uri="{FF2B5EF4-FFF2-40B4-BE49-F238E27FC236}">
                <a16:creationId xmlns:a16="http://schemas.microsoft.com/office/drawing/2014/main" id="{FD83B7F1-FB43-4B1E-B227-D862A831F36B}"/>
              </a:ext>
            </a:extLst>
          </p:cNvPr>
          <p:cNvSpPr>
            <a:spLocks noGrp="1"/>
          </p:cNvSpPr>
          <p:nvPr/>
        </p:nvSpPr>
        <p:spPr>
          <a:xfrm>
            <a:off x="4324320" y="3105000"/>
            <a:ext cx="3142440" cy="99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111827"/>
                </a:solidFill>
              </a:defRPr>
            </a:pPr>
            <a:r>
              <a:rPr sz="1729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25~34세 3,410명</a:t>
            </a:r>
          </a:p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111827"/>
                </a:solidFill>
              </a:defRPr>
            </a:pPr>
            <a:r>
              <a:rPr sz="1729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35~44세 2,475명</a:t>
            </a:r>
          </a:p>
        </p:txBody>
      </p:sp>
      <p:sp>
        <p:nvSpPr>
          <p:cNvPr id="193" name="Google Shape;246;p10">
            <a:extLst>
              <a:ext uri="{FF2B5EF4-FFF2-40B4-BE49-F238E27FC236}">
                <a16:creationId xmlns:a16="http://schemas.microsoft.com/office/drawing/2014/main" id="{6B39F44C-7993-41AC-850D-A063E0208C29}"/>
              </a:ext>
            </a:extLst>
          </p:cNvPr>
          <p:cNvSpPr>
            <a:spLocks noGrp="1"/>
          </p:cNvSpPr>
          <p:nvPr/>
        </p:nvSpPr>
        <p:spPr>
          <a:xfrm>
            <a:off x="7962840" y="2133720"/>
            <a:ext cx="3142440" cy="51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E65D5D"/>
                </a:solidFill>
              </a:defRPr>
            </a:pPr>
            <a:r>
              <a:rPr sz="2400" b="1" u="none">
                <a:solidFill>
                  <a:srgbClr val="E65D5D"/>
                </a:solidFill>
                <a:latin typeface="Pretendard"/>
                <a:ea typeface="Pretendard"/>
                <a:cs typeface="Pretendard"/>
              </a:rPr>
              <a:t>상품도 따로</a:t>
            </a:r>
          </a:p>
        </p:txBody>
      </p:sp>
      <p:sp>
        <p:nvSpPr>
          <p:cNvPr id="194" name="Google Shape;247;p10">
            <a:extLst>
              <a:ext uri="{FF2B5EF4-FFF2-40B4-BE49-F238E27FC236}">
                <a16:creationId xmlns:a16="http://schemas.microsoft.com/office/drawing/2014/main" id="{C3BA28E3-DF2E-4F4A-888A-354BC17C0CE5}"/>
              </a:ext>
            </a:extLst>
          </p:cNvPr>
          <p:cNvSpPr>
            <a:spLocks noGrp="1"/>
          </p:cNvSpPr>
          <p:nvPr/>
        </p:nvSpPr>
        <p:spPr>
          <a:xfrm>
            <a:off x="7962840" y="2781360"/>
            <a:ext cx="3142440" cy="18360"/>
          </a:xfrm>
          <a:prstGeom prst="rect">
            <a:avLst/>
          </a:prstGeom>
          <a:solidFill>
            <a:srgbClr val="E65D5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endParaRPr/>
          </a:p>
        </p:txBody>
      </p:sp>
      <p:sp>
        <p:nvSpPr>
          <p:cNvPr id="195" name="Google Shape;248;p10">
            <a:extLst>
              <a:ext uri="{FF2B5EF4-FFF2-40B4-BE49-F238E27FC236}">
                <a16:creationId xmlns:a16="http://schemas.microsoft.com/office/drawing/2014/main" id="{11A4C975-67EB-4501-9EB1-9A16AE457E4D}"/>
              </a:ext>
            </a:extLst>
          </p:cNvPr>
          <p:cNvSpPr>
            <a:spLocks noGrp="1"/>
          </p:cNvSpPr>
          <p:nvPr/>
        </p:nvSpPr>
        <p:spPr>
          <a:xfrm>
            <a:off x="7962840" y="3105000"/>
            <a:ext cx="3142440" cy="99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111827"/>
                </a:solidFill>
              </a:defRPr>
            </a:pPr>
            <a:r>
              <a:rPr sz="1729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급여일 자동저축</a:t>
            </a:r>
          </a:p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111827"/>
                </a:solidFill>
              </a:defRPr>
            </a:pPr>
            <a:r>
              <a:rPr sz="1729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자유납입·납입 중지 상품</a:t>
            </a:r>
          </a:p>
        </p:txBody>
      </p:sp>
      <p:sp>
        <p:nvSpPr>
          <p:cNvPr id="196" name="Google Shape;249;p10">
            <a:extLst>
              <a:ext uri="{FF2B5EF4-FFF2-40B4-BE49-F238E27FC236}">
                <a16:creationId xmlns:a16="http://schemas.microsoft.com/office/drawing/2014/main" id="{2001842D-DAD1-4865-8AA1-C33516EB3D17}"/>
              </a:ext>
            </a:extLst>
          </p:cNvPr>
          <p:cNvSpPr>
            <a:spLocks noGrp="1"/>
          </p:cNvSpPr>
          <p:nvPr/>
        </p:nvSpPr>
        <p:spPr>
          <a:xfrm>
            <a:off x="685800" y="4762440"/>
            <a:ext cx="190440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275DFF"/>
                </a:solidFill>
              </a:defRPr>
            </a:pPr>
            <a:r>
              <a:rPr sz="1350" b="1" u="none">
                <a:solidFill>
                  <a:srgbClr val="275DFF"/>
                </a:solidFill>
                <a:latin typeface="Pretendard"/>
                <a:ea typeface="Pretendard"/>
                <a:cs typeface="Pretendard"/>
              </a:rPr>
              <a:t>데이터에서 확인한 것</a:t>
            </a:r>
          </a:p>
        </p:txBody>
      </p:sp>
      <p:sp>
        <p:nvSpPr>
          <p:cNvPr id="197" name="Google Shape;250;p10">
            <a:extLst>
              <a:ext uri="{FF2B5EF4-FFF2-40B4-BE49-F238E27FC236}">
                <a16:creationId xmlns:a16="http://schemas.microsoft.com/office/drawing/2014/main" id="{E02FCFE0-686B-48DF-A3A5-F34CDF5CCC3B}"/>
              </a:ext>
            </a:extLst>
          </p:cNvPr>
          <p:cNvSpPr>
            <a:spLocks noGrp="1"/>
          </p:cNvSpPr>
          <p:nvPr/>
        </p:nvSpPr>
        <p:spPr>
          <a:xfrm>
            <a:off x="685800" y="5181480"/>
            <a:ext cx="10476720" cy="49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111827"/>
                </a:solidFill>
              </a:defRPr>
            </a:pPr>
            <a:r>
              <a:rPr sz="1870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무직은 170명뿐이었다. 대졸 전체를 취업준비생으로 묶으면 맞지 않는다.</a:t>
            </a:r>
          </a:p>
        </p:txBody>
      </p:sp>
      <p:sp>
        <p:nvSpPr>
          <p:cNvPr id="198" name="Google Shape;251;p10">
            <a:extLst>
              <a:ext uri="{FF2B5EF4-FFF2-40B4-BE49-F238E27FC236}">
                <a16:creationId xmlns:a16="http://schemas.microsoft.com/office/drawing/2014/main" id="{D72BD6FD-4901-44E0-9FC8-321E1DE60B25}"/>
              </a:ext>
            </a:extLst>
          </p:cNvPr>
          <p:cNvSpPr>
            <a:spLocks noGrp="1"/>
          </p:cNvSpPr>
          <p:nvPr/>
        </p:nvSpPr>
        <p:spPr>
          <a:xfrm>
            <a:off x="685800" y="5905440"/>
            <a:ext cx="1047672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275DFF"/>
                </a:solidFill>
              </a:defRPr>
            </a:pPr>
            <a:r>
              <a:rPr sz="1650" b="1" u="none">
                <a:solidFill>
                  <a:srgbClr val="275DFF"/>
                </a:solidFill>
                <a:latin typeface="Pretendard"/>
                <a:ea typeface="Pretendard"/>
                <a:cs typeface="Pretendard"/>
              </a:rPr>
              <a:t>직업과 연령으로 나눈 뒤, 원하는 목적은 앱과 상담에서 직접 물어본다.</a:t>
            </a:r>
          </a:p>
        </p:txBody>
      </p:sp>
      <p:sp>
        <p:nvSpPr>
          <p:cNvPr id="199" name="Google Shape;252;p10">
            <a:extLst>
              <a:ext uri="{FF2B5EF4-FFF2-40B4-BE49-F238E27FC236}">
                <a16:creationId xmlns:a16="http://schemas.microsoft.com/office/drawing/2014/main" id="{02900813-84B7-4561-B0F5-EFADB53523C1}"/>
              </a:ext>
            </a:extLst>
          </p:cNvPr>
          <p:cNvSpPr>
            <a:spLocks noGrp="1"/>
          </p:cNvSpPr>
          <p:nvPr/>
        </p:nvSpPr>
        <p:spPr>
          <a:xfrm>
            <a:off x="685800" y="6496200"/>
            <a:ext cx="4952160" cy="17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8B97A8"/>
                </a:solidFill>
              </a:defRPr>
            </a:pPr>
            <a:r>
              <a:rPr sz="820" b="1" u="none">
                <a:solidFill>
                  <a:srgbClr val="8B97A8"/>
                </a:solidFill>
                <a:latin typeface="Pretendard"/>
                <a:ea typeface="Pretendard"/>
                <a:cs typeface="Pretendard"/>
              </a:rPr>
              <a:t>SEOUL YOUNG CAREERIENCE CAMP · DATA_B</a:t>
            </a:r>
          </a:p>
        </p:txBody>
      </p:sp>
      <p:sp>
        <p:nvSpPr>
          <p:cNvPr id="200" name="Google Shape;253;p10">
            <a:extLst>
              <a:ext uri="{FF2B5EF4-FFF2-40B4-BE49-F238E27FC236}">
                <a16:creationId xmlns:a16="http://schemas.microsoft.com/office/drawing/2014/main" id="{D0D5EFE7-3BDE-4323-87E2-EF6696D6FAF0}"/>
              </a:ext>
            </a:extLst>
          </p:cNvPr>
          <p:cNvSpPr>
            <a:spLocks noGrp="1"/>
          </p:cNvSpPr>
          <p:nvPr/>
        </p:nvSpPr>
        <p:spPr>
          <a:xfrm>
            <a:off x="10934640" y="6496200"/>
            <a:ext cx="570960" cy="17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8B97A8"/>
                </a:solidFill>
              </a:defRPr>
            </a:pPr>
            <a:r>
              <a:rPr sz="820" b="1" u="none">
                <a:solidFill>
                  <a:srgbClr val="8B97A8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53968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59;p11">
            <a:extLst>
              <a:ext uri="{FF2B5EF4-FFF2-40B4-BE49-F238E27FC236}">
                <a16:creationId xmlns:a16="http://schemas.microsoft.com/office/drawing/2014/main" id="{78FC0CE3-9387-4EE4-96E4-69EB519ED991}"/>
              </a:ext>
            </a:extLst>
          </p:cNvPr>
          <p:cNvSpPr>
            <a:spLocks noGrp="1"/>
          </p:cNvSpPr>
          <p:nvPr/>
        </p:nvSpPr>
        <p:spPr>
          <a:xfrm>
            <a:off x="685800" y="361800"/>
            <a:ext cx="523080" cy="24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275DFF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202" name="Google Shape;260;p11">
            <a:extLst>
              <a:ext uri="{FF2B5EF4-FFF2-40B4-BE49-F238E27FC236}">
                <a16:creationId xmlns:a16="http://schemas.microsoft.com/office/drawing/2014/main" id="{DD3A6500-7B05-4361-BD1A-2A444A55273F}"/>
              </a:ext>
            </a:extLst>
          </p:cNvPr>
          <p:cNvSpPr>
            <a:spLocks noGrp="1"/>
          </p:cNvSpPr>
          <p:nvPr/>
        </p:nvSpPr>
        <p:spPr>
          <a:xfrm>
            <a:off x="685800" y="743040"/>
            <a:ext cx="10819800" cy="55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132033"/>
                </a:solidFill>
              </a:defRPr>
            </a:pPr>
            <a:r>
              <a:rPr sz="2780" b="1" u="none">
                <a:solidFill>
                  <a:srgbClr val="132033"/>
                </a:solidFill>
                <a:latin typeface="Pretendard"/>
                <a:ea typeface="Pretendard"/>
                <a:cs typeface="Pretendard"/>
              </a:rPr>
              <a:t>A/B 테스트로 알림 문구와 설문 방식을 확인한다</a:t>
            </a:r>
          </a:p>
        </p:txBody>
      </p:sp>
      <p:sp>
        <p:nvSpPr>
          <p:cNvPr id="203" name="Google Shape;261;p11">
            <a:extLst>
              <a:ext uri="{FF2B5EF4-FFF2-40B4-BE49-F238E27FC236}">
                <a16:creationId xmlns:a16="http://schemas.microsoft.com/office/drawing/2014/main" id="{90A68081-3CD3-4929-B52D-969EE1E48384}"/>
              </a:ext>
            </a:extLst>
          </p:cNvPr>
          <p:cNvSpPr>
            <a:spLocks noGrp="1"/>
          </p:cNvSpPr>
          <p:nvPr/>
        </p:nvSpPr>
        <p:spPr>
          <a:xfrm>
            <a:off x="685800" y="1438200"/>
            <a:ext cx="10819800" cy="18360"/>
          </a:xfrm>
          <a:prstGeom prst="rect">
            <a:avLst/>
          </a:prstGeom>
          <a:solidFill>
            <a:srgbClr val="DDE2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endParaRPr/>
          </a:p>
        </p:txBody>
      </p:sp>
      <p:sp>
        <p:nvSpPr>
          <p:cNvPr id="204" name="Google Shape;262;p11">
            <a:extLst>
              <a:ext uri="{FF2B5EF4-FFF2-40B4-BE49-F238E27FC236}">
                <a16:creationId xmlns:a16="http://schemas.microsoft.com/office/drawing/2014/main" id="{A6DE45D5-5387-4403-A502-144531226E8B}"/>
              </a:ext>
            </a:extLst>
          </p:cNvPr>
          <p:cNvSpPr>
            <a:spLocks noGrp="1"/>
          </p:cNvSpPr>
          <p:nvPr/>
        </p:nvSpPr>
        <p:spPr>
          <a:xfrm>
            <a:off x="685800" y="1676520"/>
            <a:ext cx="8571960" cy="36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0" u="none">
                <a:solidFill>
                  <a:srgbClr val="5B6473"/>
                </a:solidFill>
                <a:latin typeface="Pretendard"/>
                <a:ea typeface="Pretendard"/>
                <a:cs typeface="Pretendard"/>
              </a:rPr>
              <a:t>고객을 무작위로 A안·B안·통제군으로 나누고 클릭률과 전환율을 비교한다.</a:t>
            </a:r>
          </a:p>
        </p:txBody>
      </p:sp>
      <p:sp>
        <p:nvSpPr>
          <p:cNvPr id="205" name="Google Shape;263;p11">
            <a:extLst>
              <a:ext uri="{FF2B5EF4-FFF2-40B4-BE49-F238E27FC236}">
                <a16:creationId xmlns:a16="http://schemas.microsoft.com/office/drawing/2014/main" id="{9DE3EEA7-9ACA-4A01-987B-C42B38234754}"/>
              </a:ext>
            </a:extLst>
          </p:cNvPr>
          <p:cNvSpPr>
            <a:spLocks noGrp="1"/>
          </p:cNvSpPr>
          <p:nvPr/>
        </p:nvSpPr>
        <p:spPr>
          <a:xfrm>
            <a:off x="685800" y="2362320"/>
            <a:ext cx="10659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 b="1">
                <a:solidFill>
                  <a:srgbClr val="2F63F5"/>
                </a:solidFill>
              </a:defRPr>
            </a:pPr>
            <a:r>
              <a:rPr sz="1350" b="1" u="none">
                <a:solidFill>
                  <a:srgbClr val="2F63F5"/>
                </a:solidFill>
                <a:latin typeface="Pretendard"/>
                <a:ea typeface="Pretendard"/>
                <a:cs typeface="Pretendard"/>
              </a:rPr>
              <a:t>A/B 01</a:t>
            </a:r>
          </a:p>
        </p:txBody>
      </p:sp>
      <p:sp>
        <p:nvSpPr>
          <p:cNvPr id="206" name="Google Shape;264;p11">
            <a:extLst>
              <a:ext uri="{FF2B5EF4-FFF2-40B4-BE49-F238E27FC236}">
                <a16:creationId xmlns:a16="http://schemas.microsoft.com/office/drawing/2014/main" id="{384493D5-5B4E-4985-B65D-3DD5AF3DB694}"/>
              </a:ext>
            </a:extLst>
          </p:cNvPr>
          <p:cNvSpPr>
            <a:spLocks noGrp="1"/>
          </p:cNvSpPr>
          <p:nvPr/>
        </p:nvSpPr>
        <p:spPr>
          <a:xfrm>
            <a:off x="2000160" y="2362320"/>
            <a:ext cx="180900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청년 알림</a:t>
            </a:r>
          </a:p>
        </p:txBody>
      </p:sp>
      <p:sp>
        <p:nvSpPr>
          <p:cNvPr id="207" name="Google Shape;265;p11">
            <a:extLst>
              <a:ext uri="{FF2B5EF4-FFF2-40B4-BE49-F238E27FC236}">
                <a16:creationId xmlns:a16="http://schemas.microsoft.com/office/drawing/2014/main" id="{CC690774-A491-4B23-99BC-8F3448F33B1C}"/>
              </a:ext>
            </a:extLst>
          </p:cNvPr>
          <p:cNvSpPr>
            <a:spLocks noGrp="1"/>
          </p:cNvSpPr>
          <p:nvPr/>
        </p:nvSpPr>
        <p:spPr>
          <a:xfrm>
            <a:off x="4324320" y="2362320"/>
            <a:ext cx="25711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청년 예·적금 안내</a:t>
            </a:r>
          </a:p>
        </p:txBody>
      </p:sp>
      <p:sp>
        <p:nvSpPr>
          <p:cNvPr id="208" name="Google Shape;266;p11">
            <a:extLst>
              <a:ext uri="{FF2B5EF4-FFF2-40B4-BE49-F238E27FC236}">
                <a16:creationId xmlns:a16="http://schemas.microsoft.com/office/drawing/2014/main" id="{F9DAA23F-B8AD-4E28-B018-994C894669B1}"/>
              </a:ext>
            </a:extLst>
          </p:cNvPr>
          <p:cNvSpPr>
            <a:spLocks noGrp="1"/>
          </p:cNvSpPr>
          <p:nvPr/>
        </p:nvSpPr>
        <p:spPr>
          <a:xfrm>
            <a:off x="7124760" y="2362320"/>
            <a:ext cx="5518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B6473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09" name="Google Shape;267;p11">
            <a:extLst>
              <a:ext uri="{FF2B5EF4-FFF2-40B4-BE49-F238E27FC236}">
                <a16:creationId xmlns:a16="http://schemas.microsoft.com/office/drawing/2014/main" id="{07A4EFAC-0E6E-4183-9831-C896DD771535}"/>
              </a:ext>
            </a:extLst>
          </p:cNvPr>
          <p:cNvSpPr>
            <a:spLocks noGrp="1"/>
          </p:cNvSpPr>
          <p:nvPr/>
        </p:nvSpPr>
        <p:spPr>
          <a:xfrm>
            <a:off x="7943760" y="2362320"/>
            <a:ext cx="26661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일반 예금 안내</a:t>
            </a:r>
          </a:p>
        </p:txBody>
      </p:sp>
      <p:sp>
        <p:nvSpPr>
          <p:cNvPr id="210" name="Google Shape;268;p11">
            <a:extLst>
              <a:ext uri="{FF2B5EF4-FFF2-40B4-BE49-F238E27FC236}">
                <a16:creationId xmlns:a16="http://schemas.microsoft.com/office/drawing/2014/main" id="{756FBA43-F6E2-4EE9-B2A3-D3CDC915E196}"/>
              </a:ext>
            </a:extLst>
          </p:cNvPr>
          <p:cNvSpPr>
            <a:spLocks noGrp="1"/>
          </p:cNvSpPr>
          <p:nvPr/>
        </p:nvSpPr>
        <p:spPr>
          <a:xfrm>
            <a:off x="2000160" y="3009960"/>
            <a:ext cx="8609760" cy="8640"/>
          </a:xfrm>
          <a:prstGeom prst="rect">
            <a:avLst/>
          </a:prstGeom>
          <a:solidFill>
            <a:srgbClr val="DDE2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endParaRPr/>
          </a:p>
        </p:txBody>
      </p:sp>
      <p:sp>
        <p:nvSpPr>
          <p:cNvPr id="211" name="Google Shape;269;p11">
            <a:extLst>
              <a:ext uri="{FF2B5EF4-FFF2-40B4-BE49-F238E27FC236}">
                <a16:creationId xmlns:a16="http://schemas.microsoft.com/office/drawing/2014/main" id="{AFB93EA8-A0D2-4D70-8C0B-0548FEA58896}"/>
              </a:ext>
            </a:extLst>
          </p:cNvPr>
          <p:cNvSpPr>
            <a:spLocks noGrp="1"/>
          </p:cNvSpPr>
          <p:nvPr/>
        </p:nvSpPr>
        <p:spPr>
          <a:xfrm>
            <a:off x="685800" y="3390840"/>
            <a:ext cx="10659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 b="1">
                <a:solidFill>
                  <a:srgbClr val="2F63F5"/>
                </a:solidFill>
              </a:defRPr>
            </a:pPr>
            <a:r>
              <a:rPr sz="1350" b="1" u="none">
                <a:solidFill>
                  <a:srgbClr val="2F63F5"/>
                </a:solidFill>
                <a:latin typeface="Pretendard"/>
                <a:ea typeface="Pretendard"/>
                <a:cs typeface="Pretendard"/>
              </a:rPr>
              <a:t>A/B 02</a:t>
            </a:r>
          </a:p>
        </p:txBody>
      </p:sp>
      <p:sp>
        <p:nvSpPr>
          <p:cNvPr id="212" name="Google Shape;270;p11">
            <a:extLst>
              <a:ext uri="{FF2B5EF4-FFF2-40B4-BE49-F238E27FC236}">
                <a16:creationId xmlns:a16="http://schemas.microsoft.com/office/drawing/2014/main" id="{890C4A2C-733D-4453-A760-A495A740418D}"/>
              </a:ext>
            </a:extLst>
          </p:cNvPr>
          <p:cNvSpPr>
            <a:spLocks noGrp="1"/>
          </p:cNvSpPr>
          <p:nvPr/>
        </p:nvSpPr>
        <p:spPr>
          <a:xfrm>
            <a:off x="2000160" y="3390840"/>
            <a:ext cx="180900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55세 이상 알림</a:t>
            </a:r>
          </a:p>
        </p:txBody>
      </p:sp>
      <p:sp>
        <p:nvSpPr>
          <p:cNvPr id="213" name="Google Shape;271;p11">
            <a:extLst>
              <a:ext uri="{FF2B5EF4-FFF2-40B4-BE49-F238E27FC236}">
                <a16:creationId xmlns:a16="http://schemas.microsoft.com/office/drawing/2014/main" id="{D62CEE1E-6E4C-407E-81CD-7085605B112C}"/>
              </a:ext>
            </a:extLst>
          </p:cNvPr>
          <p:cNvSpPr>
            <a:spLocks noGrp="1"/>
          </p:cNvSpPr>
          <p:nvPr/>
        </p:nvSpPr>
        <p:spPr>
          <a:xfrm>
            <a:off x="4324320" y="3390840"/>
            <a:ext cx="25711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연령 단계별 안내</a:t>
            </a:r>
          </a:p>
        </p:txBody>
      </p:sp>
      <p:sp>
        <p:nvSpPr>
          <p:cNvPr id="214" name="Google Shape;272;p11">
            <a:extLst>
              <a:ext uri="{FF2B5EF4-FFF2-40B4-BE49-F238E27FC236}">
                <a16:creationId xmlns:a16="http://schemas.microsoft.com/office/drawing/2014/main" id="{12AFE830-B78C-4DCF-8AD2-BF236AC7A79B}"/>
              </a:ext>
            </a:extLst>
          </p:cNvPr>
          <p:cNvSpPr>
            <a:spLocks noGrp="1"/>
          </p:cNvSpPr>
          <p:nvPr/>
        </p:nvSpPr>
        <p:spPr>
          <a:xfrm>
            <a:off x="7124760" y="3390840"/>
            <a:ext cx="5518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B6473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15" name="Google Shape;273;p11">
            <a:extLst>
              <a:ext uri="{FF2B5EF4-FFF2-40B4-BE49-F238E27FC236}">
                <a16:creationId xmlns:a16="http://schemas.microsoft.com/office/drawing/2014/main" id="{E7CE0B43-C3B6-4327-BDD0-8280610B547B}"/>
              </a:ext>
            </a:extLst>
          </p:cNvPr>
          <p:cNvSpPr>
            <a:spLocks noGrp="1"/>
          </p:cNvSpPr>
          <p:nvPr/>
        </p:nvSpPr>
        <p:spPr>
          <a:xfrm>
            <a:off x="7943760" y="3390840"/>
            <a:ext cx="26661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같은 문구 일괄 발송</a:t>
            </a:r>
          </a:p>
        </p:txBody>
      </p:sp>
      <p:sp>
        <p:nvSpPr>
          <p:cNvPr id="216" name="Google Shape;274;p11">
            <a:extLst>
              <a:ext uri="{FF2B5EF4-FFF2-40B4-BE49-F238E27FC236}">
                <a16:creationId xmlns:a16="http://schemas.microsoft.com/office/drawing/2014/main" id="{7985AFA5-75B9-4CEF-8575-52AFDC66CEA0}"/>
              </a:ext>
            </a:extLst>
          </p:cNvPr>
          <p:cNvSpPr>
            <a:spLocks noGrp="1"/>
          </p:cNvSpPr>
          <p:nvPr/>
        </p:nvSpPr>
        <p:spPr>
          <a:xfrm>
            <a:off x="2000160" y="4038480"/>
            <a:ext cx="8609760" cy="8640"/>
          </a:xfrm>
          <a:prstGeom prst="rect">
            <a:avLst/>
          </a:prstGeom>
          <a:solidFill>
            <a:srgbClr val="DDE2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endParaRPr/>
          </a:p>
        </p:txBody>
      </p:sp>
      <p:sp>
        <p:nvSpPr>
          <p:cNvPr id="217" name="Google Shape;275;p11">
            <a:extLst>
              <a:ext uri="{FF2B5EF4-FFF2-40B4-BE49-F238E27FC236}">
                <a16:creationId xmlns:a16="http://schemas.microsoft.com/office/drawing/2014/main" id="{A87F71BA-8551-4618-9154-13437EBEB409}"/>
              </a:ext>
            </a:extLst>
          </p:cNvPr>
          <p:cNvSpPr>
            <a:spLocks noGrp="1"/>
          </p:cNvSpPr>
          <p:nvPr/>
        </p:nvSpPr>
        <p:spPr>
          <a:xfrm>
            <a:off x="685800" y="4419720"/>
            <a:ext cx="10659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 b="1">
                <a:solidFill>
                  <a:srgbClr val="2F63F5"/>
                </a:solidFill>
              </a:defRPr>
            </a:pPr>
            <a:r>
              <a:rPr sz="1350" b="1" u="none">
                <a:solidFill>
                  <a:srgbClr val="2F63F5"/>
                </a:solidFill>
                <a:latin typeface="Pretendard"/>
                <a:ea typeface="Pretendard"/>
                <a:cs typeface="Pretendard"/>
              </a:rPr>
              <a:t>A/B 03</a:t>
            </a:r>
          </a:p>
        </p:txBody>
      </p:sp>
      <p:sp>
        <p:nvSpPr>
          <p:cNvPr id="218" name="Google Shape;276;p11">
            <a:extLst>
              <a:ext uri="{FF2B5EF4-FFF2-40B4-BE49-F238E27FC236}">
                <a16:creationId xmlns:a16="http://schemas.microsoft.com/office/drawing/2014/main" id="{A74A50D2-DAC2-4BD3-8316-BE325FDDB9C5}"/>
              </a:ext>
            </a:extLst>
          </p:cNvPr>
          <p:cNvSpPr>
            <a:spLocks noGrp="1"/>
          </p:cNvSpPr>
          <p:nvPr/>
        </p:nvSpPr>
        <p:spPr>
          <a:xfrm>
            <a:off x="2000160" y="4419720"/>
            <a:ext cx="180900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설문 보상</a:t>
            </a:r>
          </a:p>
        </p:txBody>
      </p:sp>
      <p:sp>
        <p:nvSpPr>
          <p:cNvPr id="219" name="Google Shape;277;p11">
            <a:extLst>
              <a:ext uri="{FF2B5EF4-FFF2-40B4-BE49-F238E27FC236}">
                <a16:creationId xmlns:a16="http://schemas.microsoft.com/office/drawing/2014/main" id="{E01B1F37-95CD-42CD-91F9-E7BA92238A2C}"/>
              </a:ext>
            </a:extLst>
          </p:cNvPr>
          <p:cNvSpPr>
            <a:spLocks noGrp="1"/>
          </p:cNvSpPr>
          <p:nvPr/>
        </p:nvSpPr>
        <p:spPr>
          <a:xfrm>
            <a:off x="4324320" y="4419720"/>
            <a:ext cx="25711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보상 없는 짧은 설문</a:t>
            </a:r>
          </a:p>
        </p:txBody>
      </p:sp>
      <p:sp>
        <p:nvSpPr>
          <p:cNvPr id="220" name="Google Shape;278;p11">
            <a:extLst>
              <a:ext uri="{FF2B5EF4-FFF2-40B4-BE49-F238E27FC236}">
                <a16:creationId xmlns:a16="http://schemas.microsoft.com/office/drawing/2014/main" id="{14678074-3547-429E-9C76-2B4FCE8FD5E4}"/>
              </a:ext>
            </a:extLst>
          </p:cNvPr>
          <p:cNvSpPr>
            <a:spLocks noGrp="1"/>
          </p:cNvSpPr>
          <p:nvPr/>
        </p:nvSpPr>
        <p:spPr>
          <a:xfrm>
            <a:off x="7124760" y="4419720"/>
            <a:ext cx="5518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B6473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21" name="Google Shape;279;p11">
            <a:extLst>
              <a:ext uri="{FF2B5EF4-FFF2-40B4-BE49-F238E27FC236}">
                <a16:creationId xmlns:a16="http://schemas.microsoft.com/office/drawing/2014/main" id="{DC2C92D1-A9E2-45DE-B2A6-B3DF02E14070}"/>
              </a:ext>
            </a:extLst>
          </p:cNvPr>
          <p:cNvSpPr>
            <a:spLocks noGrp="1"/>
          </p:cNvSpPr>
          <p:nvPr/>
        </p:nvSpPr>
        <p:spPr>
          <a:xfrm>
            <a:off x="7943760" y="4419720"/>
            <a:ext cx="26661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커피 기프티콘 추첨</a:t>
            </a:r>
          </a:p>
        </p:txBody>
      </p:sp>
      <p:sp>
        <p:nvSpPr>
          <p:cNvPr id="222" name="Google Shape;280;p11">
            <a:extLst>
              <a:ext uri="{FF2B5EF4-FFF2-40B4-BE49-F238E27FC236}">
                <a16:creationId xmlns:a16="http://schemas.microsoft.com/office/drawing/2014/main" id="{EE178028-B6A9-4B28-A2E6-DE39D912AE99}"/>
              </a:ext>
            </a:extLst>
          </p:cNvPr>
          <p:cNvSpPr>
            <a:spLocks noGrp="1"/>
          </p:cNvSpPr>
          <p:nvPr/>
        </p:nvSpPr>
        <p:spPr>
          <a:xfrm>
            <a:off x="2000160" y="5067360"/>
            <a:ext cx="8609760" cy="8640"/>
          </a:xfrm>
          <a:prstGeom prst="rect">
            <a:avLst/>
          </a:prstGeom>
          <a:solidFill>
            <a:srgbClr val="DDE2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endParaRPr/>
          </a:p>
        </p:txBody>
      </p:sp>
      <p:sp>
        <p:nvSpPr>
          <p:cNvPr id="223" name="Google Shape;281;p11">
            <a:extLst>
              <a:ext uri="{FF2B5EF4-FFF2-40B4-BE49-F238E27FC236}">
                <a16:creationId xmlns:a16="http://schemas.microsoft.com/office/drawing/2014/main" id="{89DEADD6-E854-4EC6-A049-BEE03172C16E}"/>
              </a:ext>
            </a:extLst>
          </p:cNvPr>
          <p:cNvSpPr>
            <a:spLocks noGrp="1"/>
          </p:cNvSpPr>
          <p:nvPr/>
        </p:nvSpPr>
        <p:spPr>
          <a:xfrm>
            <a:off x="685800" y="5638680"/>
            <a:ext cx="10819800" cy="513720"/>
          </a:xfrm>
          <a:prstGeom prst="roundRect">
            <a:avLst>
              <a:gd name="adj" fmla="val 22222"/>
            </a:avLst>
          </a:prstGeom>
          <a:solidFill>
            <a:srgbClr val="0B122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224" name="Google Shape;282;p11">
            <a:extLst>
              <a:ext uri="{FF2B5EF4-FFF2-40B4-BE49-F238E27FC236}">
                <a16:creationId xmlns:a16="http://schemas.microsoft.com/office/drawing/2014/main" id="{A4A58FBA-1DE7-4B8A-AE33-46625D0D559A}"/>
              </a:ext>
            </a:extLst>
          </p:cNvPr>
          <p:cNvSpPr>
            <a:spLocks noGrp="1"/>
          </p:cNvSpPr>
          <p:nvPr/>
        </p:nvSpPr>
        <p:spPr>
          <a:xfrm>
            <a:off x="914400" y="5734080"/>
            <a:ext cx="285696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C9F65B"/>
                </a:solidFill>
                <a:latin typeface="Pretendard"/>
                <a:ea typeface="Pretendard"/>
                <a:cs typeface="Pretendard"/>
              </a:rPr>
              <a:t>10%는 알림을 보내지 않기</a:t>
            </a:r>
          </a:p>
        </p:txBody>
      </p:sp>
      <p:sp>
        <p:nvSpPr>
          <p:cNvPr id="225" name="Google Shape;283;p11">
            <a:extLst>
              <a:ext uri="{FF2B5EF4-FFF2-40B4-BE49-F238E27FC236}">
                <a16:creationId xmlns:a16="http://schemas.microsoft.com/office/drawing/2014/main" id="{FD724032-C682-4D3E-BDB9-F9DB1A367BBD}"/>
              </a:ext>
            </a:extLst>
          </p:cNvPr>
          <p:cNvSpPr>
            <a:spLocks noGrp="1"/>
          </p:cNvSpPr>
          <p:nvPr/>
        </p:nvSpPr>
        <p:spPr>
          <a:xfrm>
            <a:off x="4000680" y="5734080"/>
            <a:ext cx="693360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430" b="1" u="none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CTR=클릭÷도달 · CVR=가입÷클릭 · 설문 완료율과 응답 품질도 함께 비교한다.</a:t>
            </a:r>
          </a:p>
        </p:txBody>
      </p:sp>
      <p:sp>
        <p:nvSpPr>
          <p:cNvPr id="226" name="Google Shape;284;p11">
            <a:extLst>
              <a:ext uri="{FF2B5EF4-FFF2-40B4-BE49-F238E27FC236}">
                <a16:creationId xmlns:a16="http://schemas.microsoft.com/office/drawing/2014/main" id="{D41CB802-5421-40F7-A0CA-B39257487F44}"/>
              </a:ext>
            </a:extLst>
          </p:cNvPr>
          <p:cNvSpPr>
            <a:spLocks noGrp="1"/>
          </p:cNvSpPr>
          <p:nvPr/>
        </p:nvSpPr>
        <p:spPr>
          <a:xfrm>
            <a:off x="685800" y="6496200"/>
            <a:ext cx="4952160" cy="17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8B97A8"/>
                </a:solidFill>
              </a:defRPr>
            </a:pPr>
            <a:r>
              <a:rPr sz="820" b="1" u="none">
                <a:solidFill>
                  <a:srgbClr val="8B97A8"/>
                </a:solidFill>
                <a:latin typeface="Pretendard"/>
                <a:ea typeface="Pretendard"/>
                <a:cs typeface="Pretendard"/>
              </a:rPr>
              <a:t>SEOUL YOUNG CAREERIENCE CAMP · DATA_B</a:t>
            </a:r>
          </a:p>
        </p:txBody>
      </p:sp>
      <p:sp>
        <p:nvSpPr>
          <p:cNvPr id="227" name="Google Shape;285;p11">
            <a:extLst>
              <a:ext uri="{FF2B5EF4-FFF2-40B4-BE49-F238E27FC236}">
                <a16:creationId xmlns:a16="http://schemas.microsoft.com/office/drawing/2014/main" id="{C01597C3-35C5-4705-B06B-4D97576CCC63}"/>
              </a:ext>
            </a:extLst>
          </p:cNvPr>
          <p:cNvSpPr>
            <a:spLocks noGrp="1"/>
          </p:cNvSpPr>
          <p:nvPr/>
        </p:nvSpPr>
        <p:spPr>
          <a:xfrm>
            <a:off x="10934640" y="6496200"/>
            <a:ext cx="570960" cy="17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8B97A8"/>
                </a:solidFill>
              </a:defRPr>
            </a:pPr>
            <a:r>
              <a:rPr sz="820" b="1" u="none">
                <a:solidFill>
                  <a:srgbClr val="8B97A8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62713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91;p12">
            <a:extLst>
              <a:ext uri="{FF2B5EF4-FFF2-40B4-BE49-F238E27FC236}">
                <a16:creationId xmlns:a16="http://schemas.microsoft.com/office/drawing/2014/main" id="{D1BFCC5F-B597-4096-BFE8-3E33F3276D28}"/>
              </a:ext>
            </a:extLst>
          </p:cNvPr>
          <p:cNvSpPr>
            <a:spLocks noGrp="1"/>
          </p:cNvSpPr>
          <p:nvPr/>
        </p:nvSpPr>
        <p:spPr>
          <a:xfrm>
            <a:off x="685800" y="361800"/>
            <a:ext cx="523080" cy="24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275DFF"/>
                </a:solidFill>
              </a:defRPr>
            </a:pPr>
            <a:r>
              <a:rPr sz="1050" b="1" u="none">
                <a:solidFill>
                  <a:srgbClr val="275DFF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229" name="Google Shape;292;p12">
            <a:extLst>
              <a:ext uri="{FF2B5EF4-FFF2-40B4-BE49-F238E27FC236}">
                <a16:creationId xmlns:a16="http://schemas.microsoft.com/office/drawing/2014/main" id="{64292970-F8F6-48A7-9D4B-0EF14DA5B357}"/>
              </a:ext>
            </a:extLst>
          </p:cNvPr>
          <p:cNvSpPr>
            <a:spLocks noGrp="1"/>
          </p:cNvSpPr>
          <p:nvPr/>
        </p:nvSpPr>
        <p:spPr>
          <a:xfrm>
            <a:off x="685800" y="743040"/>
            <a:ext cx="10819800" cy="55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132033"/>
                </a:solidFill>
              </a:defRPr>
            </a:pPr>
            <a:r>
              <a:rPr sz="2780" b="1" u="none">
                <a:solidFill>
                  <a:srgbClr val="132033"/>
                </a:solidFill>
                <a:latin typeface="Pretendard"/>
                <a:ea typeface="Pretendard"/>
                <a:cs typeface="Pretendard"/>
              </a:rPr>
              <a:t>기대하는 건 가입률보다 다시 쓸 기준이다</a:t>
            </a:r>
          </a:p>
        </p:txBody>
      </p:sp>
      <p:sp>
        <p:nvSpPr>
          <p:cNvPr id="230" name="Google Shape;293;p12">
            <a:extLst>
              <a:ext uri="{FF2B5EF4-FFF2-40B4-BE49-F238E27FC236}">
                <a16:creationId xmlns:a16="http://schemas.microsoft.com/office/drawing/2014/main" id="{0DF9D623-72E6-4E5F-A90D-F504935ED4F5}"/>
              </a:ext>
            </a:extLst>
          </p:cNvPr>
          <p:cNvSpPr>
            <a:spLocks noGrp="1"/>
          </p:cNvSpPr>
          <p:nvPr/>
        </p:nvSpPr>
        <p:spPr>
          <a:xfrm>
            <a:off x="685800" y="1438200"/>
            <a:ext cx="10819800" cy="18360"/>
          </a:xfrm>
          <a:prstGeom prst="rect">
            <a:avLst/>
          </a:prstGeom>
          <a:solidFill>
            <a:srgbClr val="DDE2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endParaRPr/>
          </a:p>
        </p:txBody>
      </p:sp>
      <p:sp>
        <p:nvSpPr>
          <p:cNvPr id="231" name="Google Shape;294;p12">
            <a:extLst>
              <a:ext uri="{FF2B5EF4-FFF2-40B4-BE49-F238E27FC236}">
                <a16:creationId xmlns:a16="http://schemas.microsoft.com/office/drawing/2014/main" id="{A54BA66C-00EB-4778-BF3F-7D916EB5BA8F}"/>
              </a:ext>
            </a:extLst>
          </p:cNvPr>
          <p:cNvSpPr>
            <a:spLocks noGrp="1"/>
          </p:cNvSpPr>
          <p:nvPr/>
        </p:nvSpPr>
        <p:spPr>
          <a:xfrm>
            <a:off x="685800" y="2133720"/>
            <a:ext cx="3142440" cy="51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17B890"/>
                </a:solidFill>
              </a:defRPr>
            </a:pPr>
            <a:r>
              <a:rPr sz="2400" b="1" u="none">
                <a:solidFill>
                  <a:srgbClr val="17B890"/>
                </a:solidFill>
                <a:latin typeface="Pretendard"/>
                <a:ea typeface="Pretendard"/>
                <a:cs typeface="Pretendard"/>
              </a:rPr>
              <a:t>더 정확한 타겟</a:t>
            </a:r>
          </a:p>
        </p:txBody>
      </p:sp>
      <p:sp>
        <p:nvSpPr>
          <p:cNvPr id="232" name="Google Shape;295;p12">
            <a:extLst>
              <a:ext uri="{FF2B5EF4-FFF2-40B4-BE49-F238E27FC236}">
                <a16:creationId xmlns:a16="http://schemas.microsoft.com/office/drawing/2014/main" id="{80C9DA68-B337-4B53-88CE-06FFC7A16C29}"/>
              </a:ext>
            </a:extLst>
          </p:cNvPr>
          <p:cNvSpPr>
            <a:spLocks noGrp="1"/>
          </p:cNvSpPr>
          <p:nvPr/>
        </p:nvSpPr>
        <p:spPr>
          <a:xfrm>
            <a:off x="685800" y="2781360"/>
            <a:ext cx="3142440" cy="18360"/>
          </a:xfrm>
          <a:prstGeom prst="rect">
            <a:avLst/>
          </a:prstGeom>
          <a:solidFill>
            <a:srgbClr val="17B89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endParaRPr/>
          </a:p>
        </p:txBody>
      </p:sp>
      <p:sp>
        <p:nvSpPr>
          <p:cNvPr id="233" name="Google Shape;296;p12">
            <a:extLst>
              <a:ext uri="{FF2B5EF4-FFF2-40B4-BE49-F238E27FC236}">
                <a16:creationId xmlns:a16="http://schemas.microsoft.com/office/drawing/2014/main" id="{42094D9D-D580-4B91-9B40-5DA4B1D596E1}"/>
              </a:ext>
            </a:extLst>
          </p:cNvPr>
          <p:cNvSpPr>
            <a:spLocks noGrp="1"/>
          </p:cNvSpPr>
          <p:nvPr/>
        </p:nvSpPr>
        <p:spPr>
          <a:xfrm>
            <a:off x="685800" y="3105000"/>
            <a:ext cx="3142440" cy="99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111827"/>
                </a:solidFill>
              </a:defRPr>
            </a:pPr>
            <a:r>
              <a:rPr sz="1729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핵심 3개와 잠재 4개를 나눠</a:t>
            </a:r>
          </a:p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111827"/>
                </a:solidFill>
              </a:defRPr>
            </a:pPr>
            <a:r>
              <a:rPr sz="1729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연락 비용을 반응 고객에 집중</a:t>
            </a:r>
          </a:p>
        </p:txBody>
      </p:sp>
      <p:sp>
        <p:nvSpPr>
          <p:cNvPr id="234" name="Google Shape;297;p12">
            <a:extLst>
              <a:ext uri="{FF2B5EF4-FFF2-40B4-BE49-F238E27FC236}">
                <a16:creationId xmlns:a16="http://schemas.microsoft.com/office/drawing/2014/main" id="{BE85588B-A982-4A2F-B3D5-86FEC1251058}"/>
              </a:ext>
            </a:extLst>
          </p:cNvPr>
          <p:cNvSpPr>
            <a:spLocks noGrp="1"/>
          </p:cNvSpPr>
          <p:nvPr/>
        </p:nvSpPr>
        <p:spPr>
          <a:xfrm>
            <a:off x="4324320" y="2133720"/>
            <a:ext cx="3142440" cy="51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E19A20"/>
                </a:solidFill>
              </a:defRPr>
            </a:pPr>
            <a:r>
              <a:rPr sz="2400" b="1" u="none">
                <a:solidFill>
                  <a:srgbClr val="E19A20"/>
                </a:solidFill>
                <a:latin typeface="Pretendard"/>
                <a:ea typeface="Pretendard"/>
                <a:cs typeface="Pretendard"/>
              </a:rPr>
              <a:t>전환 과정 확인</a:t>
            </a:r>
          </a:p>
        </p:txBody>
      </p:sp>
      <p:sp>
        <p:nvSpPr>
          <p:cNvPr id="235" name="Google Shape;298;p12">
            <a:extLst>
              <a:ext uri="{FF2B5EF4-FFF2-40B4-BE49-F238E27FC236}">
                <a16:creationId xmlns:a16="http://schemas.microsoft.com/office/drawing/2014/main" id="{9CE9AFA1-CED5-4428-B130-D862B08DAEF0}"/>
              </a:ext>
            </a:extLst>
          </p:cNvPr>
          <p:cNvSpPr>
            <a:spLocks noGrp="1"/>
          </p:cNvSpPr>
          <p:nvPr/>
        </p:nvSpPr>
        <p:spPr>
          <a:xfrm>
            <a:off x="4324320" y="2781360"/>
            <a:ext cx="3142440" cy="18360"/>
          </a:xfrm>
          <a:prstGeom prst="rect">
            <a:avLst/>
          </a:prstGeom>
          <a:solidFill>
            <a:srgbClr val="E19A2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endParaRPr/>
          </a:p>
        </p:txBody>
      </p:sp>
      <p:sp>
        <p:nvSpPr>
          <p:cNvPr id="236" name="Google Shape;299;p12">
            <a:extLst>
              <a:ext uri="{FF2B5EF4-FFF2-40B4-BE49-F238E27FC236}">
                <a16:creationId xmlns:a16="http://schemas.microsoft.com/office/drawing/2014/main" id="{55876F7E-D6B8-427C-BCCA-08B63394764E}"/>
              </a:ext>
            </a:extLst>
          </p:cNvPr>
          <p:cNvSpPr>
            <a:spLocks noGrp="1"/>
          </p:cNvSpPr>
          <p:nvPr/>
        </p:nvSpPr>
        <p:spPr>
          <a:xfrm>
            <a:off x="4324320" y="3105000"/>
            <a:ext cx="3142440" cy="99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111827"/>
                </a:solidFill>
              </a:defRPr>
            </a:pPr>
            <a:r>
              <a:rPr sz="1729" b="1" u="none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클릭률·전환율</a:t>
            </a:r>
            <a:r>
              <a:rPr lang="en-US" altLang="ko-KR" sz="1729" b="1" u="none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,</a:t>
            </a:r>
            <a:endParaRPr lang="en-US" sz="1729" b="1" u="none" dirty="0">
              <a:solidFill>
                <a:srgbClr val="111827"/>
              </a:solidFill>
              <a:latin typeface="Pretendard"/>
              <a:ea typeface="Pretendard"/>
              <a:cs typeface="Pretendard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111827"/>
                </a:solidFill>
              </a:defRPr>
            </a:pPr>
            <a:r>
              <a:rPr sz="1729" b="1" u="none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통화</a:t>
            </a:r>
            <a:r>
              <a:rPr sz="1729" b="1" u="none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29" b="1" u="none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반응·설문으로</a:t>
            </a:r>
            <a:endParaRPr sz="1729" b="1" u="none" dirty="0">
              <a:solidFill>
                <a:srgbClr val="111827"/>
              </a:solidFill>
              <a:latin typeface="Pretendard"/>
              <a:ea typeface="Pretendard"/>
              <a:cs typeface="Pretendard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111827"/>
                </a:solidFill>
              </a:defRPr>
            </a:pPr>
            <a:r>
              <a:rPr sz="1729" b="1" u="none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어디서</a:t>
            </a:r>
            <a:r>
              <a:rPr sz="1729" b="1" u="none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29" b="1" u="none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멈췄는지</a:t>
            </a:r>
            <a:r>
              <a:rPr sz="1729" b="1" u="none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29" b="1" u="none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확인</a:t>
            </a:r>
            <a:endParaRPr sz="1729" b="1" u="none" dirty="0">
              <a:solidFill>
                <a:srgbClr val="11182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37" name="Google Shape;300;p12">
            <a:extLst>
              <a:ext uri="{FF2B5EF4-FFF2-40B4-BE49-F238E27FC236}">
                <a16:creationId xmlns:a16="http://schemas.microsoft.com/office/drawing/2014/main" id="{C5B14E66-B07D-4AD1-AB68-F71F18688ED3}"/>
              </a:ext>
            </a:extLst>
          </p:cNvPr>
          <p:cNvSpPr>
            <a:spLocks noGrp="1"/>
          </p:cNvSpPr>
          <p:nvPr/>
        </p:nvSpPr>
        <p:spPr>
          <a:xfrm>
            <a:off x="7962840" y="2133720"/>
            <a:ext cx="3142440" cy="51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E65D5D"/>
                </a:solidFill>
              </a:defRPr>
            </a:pPr>
            <a:r>
              <a:rPr sz="2400" b="1" u="none">
                <a:solidFill>
                  <a:srgbClr val="E65D5D"/>
                </a:solidFill>
                <a:latin typeface="Pretendard"/>
                <a:ea typeface="Pretendard"/>
                <a:cs typeface="Pretendard"/>
              </a:rPr>
              <a:t>상품 개발 근거</a:t>
            </a:r>
          </a:p>
        </p:txBody>
      </p:sp>
      <p:sp>
        <p:nvSpPr>
          <p:cNvPr id="238" name="Google Shape;301;p12">
            <a:extLst>
              <a:ext uri="{FF2B5EF4-FFF2-40B4-BE49-F238E27FC236}">
                <a16:creationId xmlns:a16="http://schemas.microsoft.com/office/drawing/2014/main" id="{AAEF8C36-A5B1-4156-9B93-DF1B02B25AA1}"/>
              </a:ext>
            </a:extLst>
          </p:cNvPr>
          <p:cNvSpPr>
            <a:spLocks noGrp="1"/>
          </p:cNvSpPr>
          <p:nvPr/>
        </p:nvSpPr>
        <p:spPr>
          <a:xfrm>
            <a:off x="7962840" y="2781360"/>
            <a:ext cx="3142440" cy="18360"/>
          </a:xfrm>
          <a:prstGeom prst="rect">
            <a:avLst/>
          </a:prstGeom>
          <a:solidFill>
            <a:srgbClr val="E65D5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noAutofit/>
          </a:bodyPr>
          <a:lstStyle/>
          <a:p>
            <a:endParaRPr/>
          </a:p>
        </p:txBody>
      </p:sp>
      <p:sp>
        <p:nvSpPr>
          <p:cNvPr id="239" name="Google Shape;302;p12">
            <a:extLst>
              <a:ext uri="{FF2B5EF4-FFF2-40B4-BE49-F238E27FC236}">
                <a16:creationId xmlns:a16="http://schemas.microsoft.com/office/drawing/2014/main" id="{5041D8C5-EB26-4F34-B857-D3039C78A5DF}"/>
              </a:ext>
            </a:extLst>
          </p:cNvPr>
          <p:cNvSpPr>
            <a:spLocks noGrp="1"/>
          </p:cNvSpPr>
          <p:nvPr/>
        </p:nvSpPr>
        <p:spPr>
          <a:xfrm>
            <a:off x="7962840" y="3105000"/>
            <a:ext cx="3142440" cy="99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111827"/>
                </a:solidFill>
              </a:defRPr>
            </a:pPr>
            <a:r>
              <a:rPr sz="1729" b="1" u="none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가입·미가입</a:t>
            </a:r>
            <a:r>
              <a:rPr sz="1729" b="1" u="none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29" b="1" u="none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이유를</a:t>
            </a:r>
            <a:r>
              <a:rPr sz="1729" b="1" u="none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endParaRPr lang="en-US" sz="1729" b="1" u="none" dirty="0">
              <a:solidFill>
                <a:srgbClr val="111827"/>
              </a:solidFill>
              <a:latin typeface="Pretendard"/>
              <a:ea typeface="Pretendard"/>
              <a:cs typeface="Pretendard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111827"/>
                </a:solidFill>
              </a:defRPr>
            </a:pPr>
            <a:r>
              <a:rPr sz="1729" b="1" u="none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모아</a:t>
            </a:r>
            <a:r>
              <a:rPr lang="ko-KR" altLang="en-US" sz="1729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29" b="1" u="none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청년·은퇴</a:t>
            </a:r>
            <a:r>
              <a:rPr sz="1729" b="1" u="none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29" b="1" u="none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준비·직장인</a:t>
            </a:r>
            <a:r>
              <a:rPr sz="1729" b="1" u="none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endParaRPr lang="en-US" sz="1729" b="1" u="none" dirty="0">
              <a:solidFill>
                <a:srgbClr val="111827"/>
              </a:solidFill>
              <a:latin typeface="Pretendard"/>
              <a:ea typeface="Pretendard"/>
              <a:cs typeface="Pretendard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111827"/>
                </a:solidFill>
              </a:defRPr>
            </a:pPr>
            <a:r>
              <a:rPr sz="1729" b="1" u="none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상품</a:t>
            </a:r>
            <a:r>
              <a:rPr sz="1729" b="1" u="none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29" b="1" u="none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개선</a:t>
            </a:r>
            <a:endParaRPr sz="1729" b="1" u="none" dirty="0">
              <a:solidFill>
                <a:srgbClr val="11182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40" name="Google Shape;303;p12">
            <a:extLst>
              <a:ext uri="{FF2B5EF4-FFF2-40B4-BE49-F238E27FC236}">
                <a16:creationId xmlns:a16="http://schemas.microsoft.com/office/drawing/2014/main" id="{0E1F6854-924F-4860-9A60-9623185FCD87}"/>
              </a:ext>
            </a:extLst>
          </p:cNvPr>
          <p:cNvSpPr>
            <a:spLocks noGrp="1"/>
          </p:cNvSpPr>
          <p:nvPr/>
        </p:nvSpPr>
        <p:spPr>
          <a:xfrm>
            <a:off x="685800" y="4762440"/>
            <a:ext cx="190440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275DFF"/>
                </a:solidFill>
              </a:defRPr>
            </a:pPr>
            <a:r>
              <a:rPr sz="1350" b="1" u="none">
                <a:solidFill>
                  <a:srgbClr val="275DFF"/>
                </a:solidFill>
                <a:latin typeface="Pretendard"/>
                <a:ea typeface="Pretendard"/>
                <a:cs typeface="Pretendard"/>
              </a:rPr>
              <a:t>캠페인에서 남길 숫자</a:t>
            </a:r>
          </a:p>
        </p:txBody>
      </p:sp>
      <p:sp>
        <p:nvSpPr>
          <p:cNvPr id="241" name="Google Shape;304;p12">
            <a:extLst>
              <a:ext uri="{FF2B5EF4-FFF2-40B4-BE49-F238E27FC236}">
                <a16:creationId xmlns:a16="http://schemas.microsoft.com/office/drawing/2014/main" id="{2EB900EF-AB5E-412D-8099-C3348F5EF000}"/>
              </a:ext>
            </a:extLst>
          </p:cNvPr>
          <p:cNvSpPr>
            <a:spLocks noGrp="1"/>
          </p:cNvSpPr>
          <p:nvPr/>
        </p:nvSpPr>
        <p:spPr>
          <a:xfrm>
            <a:off x="685800" y="5181480"/>
            <a:ext cx="10476720" cy="49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111827"/>
                </a:solidFill>
              </a:defRPr>
            </a:pPr>
            <a:r>
              <a:rPr sz="1870" b="1" u="none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클릭률(CTR) · 전환율(CVR) · 설문 완료율 · 이유별 비중 · 수신거부 · 추가 가입률</a:t>
            </a:r>
          </a:p>
        </p:txBody>
      </p:sp>
      <p:sp>
        <p:nvSpPr>
          <p:cNvPr id="242" name="Google Shape;305;p12">
            <a:extLst>
              <a:ext uri="{FF2B5EF4-FFF2-40B4-BE49-F238E27FC236}">
                <a16:creationId xmlns:a16="http://schemas.microsoft.com/office/drawing/2014/main" id="{199DE3DA-43E6-4555-8462-D61CE4F216FD}"/>
              </a:ext>
            </a:extLst>
          </p:cNvPr>
          <p:cNvSpPr>
            <a:spLocks noGrp="1"/>
          </p:cNvSpPr>
          <p:nvPr/>
        </p:nvSpPr>
        <p:spPr>
          <a:xfrm>
            <a:off x="685800" y="5905440"/>
            <a:ext cx="1047672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 b="1">
                <a:solidFill>
                  <a:srgbClr val="2F63F5"/>
                </a:solidFill>
              </a:defRPr>
            </a:pPr>
            <a:r>
              <a:rPr sz="1650" b="1" u="none">
                <a:solidFill>
                  <a:srgbClr val="2F63F5"/>
                </a:solidFill>
                <a:latin typeface="Pretendard"/>
                <a:ea typeface="Pretendard"/>
                <a:cs typeface="Pretendard"/>
              </a:rPr>
              <a:t>A/B 테스트 결과를 다음 타겟·문구·상품 조건에 다시 적용한다.</a:t>
            </a:r>
          </a:p>
        </p:txBody>
      </p:sp>
      <p:sp>
        <p:nvSpPr>
          <p:cNvPr id="243" name="Google Shape;306;p12">
            <a:extLst>
              <a:ext uri="{FF2B5EF4-FFF2-40B4-BE49-F238E27FC236}">
                <a16:creationId xmlns:a16="http://schemas.microsoft.com/office/drawing/2014/main" id="{57F4A96F-E61B-4083-A251-A1EF920B331F}"/>
              </a:ext>
            </a:extLst>
          </p:cNvPr>
          <p:cNvSpPr>
            <a:spLocks noGrp="1"/>
          </p:cNvSpPr>
          <p:nvPr/>
        </p:nvSpPr>
        <p:spPr>
          <a:xfrm>
            <a:off x="685800" y="6496200"/>
            <a:ext cx="4952160" cy="17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8B97A8"/>
                </a:solidFill>
              </a:defRPr>
            </a:pPr>
            <a:r>
              <a:rPr sz="820" b="1" u="none">
                <a:solidFill>
                  <a:srgbClr val="8B97A8"/>
                </a:solidFill>
                <a:latin typeface="Pretendard"/>
                <a:ea typeface="Pretendard"/>
                <a:cs typeface="Pretendard"/>
              </a:rPr>
              <a:t>SEOUL YOUNG CAREERIENCE CAMP · DATA_B</a:t>
            </a:r>
          </a:p>
        </p:txBody>
      </p:sp>
      <p:sp>
        <p:nvSpPr>
          <p:cNvPr id="244" name="Google Shape;307;p12">
            <a:extLst>
              <a:ext uri="{FF2B5EF4-FFF2-40B4-BE49-F238E27FC236}">
                <a16:creationId xmlns:a16="http://schemas.microsoft.com/office/drawing/2014/main" id="{F42FF3C7-188F-43B8-865E-E6748FC4B3FD}"/>
              </a:ext>
            </a:extLst>
          </p:cNvPr>
          <p:cNvSpPr>
            <a:spLocks noGrp="1"/>
          </p:cNvSpPr>
          <p:nvPr/>
        </p:nvSpPr>
        <p:spPr>
          <a:xfrm>
            <a:off x="10934640" y="6496200"/>
            <a:ext cx="570960" cy="17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  <a:defRPr>
                <a:solidFill>
                  <a:srgbClr val="8B97A8"/>
                </a:solidFill>
              </a:defRPr>
            </a:pPr>
            <a:r>
              <a:rPr sz="820" b="1" u="none">
                <a:solidFill>
                  <a:srgbClr val="8B97A8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84424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55F329AF-4F6D-44B3-A277-F56D309EB3AD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23875" cy="2476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275DFF"/>
                </a:solidFill>
              </a:defRPr>
            </a:pPr>
            <a:r>
              <a:rPr sz="1050" b="1">
                <a:solidFill>
                  <a:srgbClr val="275DFF"/>
                </a:solidFill>
              </a:rPr>
              <a:t>13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811FE0D-C378-41DF-BCFF-D4BAC802A53C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buNone/>
              <a:defRPr sz="2400" b="1">
                <a:solidFill>
                  <a:srgbClr val="132033"/>
                </a:solidFill>
              </a:defRPr>
            </a:pPr>
            <a:r>
              <a:rPr sz="2400" b="1">
                <a:solidFill>
                  <a:srgbClr val="132033"/>
                </a:solidFill>
              </a:rPr>
              <a:t>규칙으로 고른 타겟을 고객별 예측으로 확장한다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1D2A083-DE98-4A1D-A91B-99DD664A280C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1082040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132033"/>
                </a:solidFill>
              </a:defRPr>
            </a:pPr>
            <a:r>
              <a:rPr sz="1200" b="0">
                <a:solidFill>
                  <a:srgbClr val="132033"/>
                </a:solidFill>
              </a:rPr>
              <a:t>지금의 핵심·잠재 타겟은 모델의 출발점이고, 최종 목표는 고객별 가입 가능성을 계산하는 것이다.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BE32CF1-9F1F-4DF2-98B8-AF2ECAF462CB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10820400" cy="19050"/>
          </a:xfrm>
          <a:prstGeom prst="rect">
            <a:avLst/>
          </a:prstGeom>
          <a:solidFill>
            <a:srgbClr val="DDE2E8"/>
          </a:solidFill>
          <a:ln w="9525">
            <a:solidFill>
              <a:srgbClr val="DDE2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선 연결선[R] 4">
            <a:extLst>
              <a:ext uri="{FF2B5EF4-FFF2-40B4-BE49-F238E27FC236}">
                <a16:creationId xmlns:a16="http://schemas.microsoft.com/office/drawing/2014/main" id="{1BD80422-3A52-4D3D-89C8-D99190A67D7A}"/>
              </a:ext>
            </a:extLst>
          </p:cNvPr>
          <p:cNvSpPr>
            <a:spLocks noGrp="1"/>
          </p:cNvSpPr>
          <p:nvPr/>
        </p:nvSpPr>
        <p:spPr>
          <a:xfrm>
            <a:off x="3695700" y="3371850"/>
            <a:ext cx="876300" cy="0"/>
          </a:xfrm>
          <a:prstGeom prst="line">
            <a:avLst/>
          </a:prstGeom>
          <a:noFill/>
          <a:ln w="19050">
            <a:solidFill>
              <a:srgbClr val="AAB8D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선 연결선[R] 5">
            <a:extLst>
              <a:ext uri="{FF2B5EF4-FFF2-40B4-BE49-F238E27FC236}">
                <a16:creationId xmlns:a16="http://schemas.microsoft.com/office/drawing/2014/main" id="{2675A7AD-C950-493A-88C9-9501F9BA55E8}"/>
              </a:ext>
            </a:extLst>
          </p:cNvPr>
          <p:cNvSpPr>
            <a:spLocks noGrp="1"/>
          </p:cNvSpPr>
          <p:nvPr/>
        </p:nvSpPr>
        <p:spPr>
          <a:xfrm>
            <a:off x="7620000" y="3371850"/>
            <a:ext cx="876300" cy="0"/>
          </a:xfrm>
          <a:prstGeom prst="line">
            <a:avLst/>
          </a:prstGeom>
          <a:noFill/>
          <a:ln w="19050">
            <a:solidFill>
              <a:srgbClr val="AAB8D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E7C0584B-368F-48C7-ABDA-CD8C53DD9509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3009900" cy="21336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DE2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5D1738A-63D8-41FE-A570-39891AD25067}"/>
              </a:ext>
            </a:extLst>
          </p:cNvPr>
          <p:cNvSpPr>
            <a:spLocks noGrp="1"/>
          </p:cNvSpPr>
          <p:nvPr/>
        </p:nvSpPr>
        <p:spPr>
          <a:xfrm>
            <a:off x="914400" y="2571750"/>
            <a:ext cx="400050" cy="2476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275DFF"/>
                </a:solidFill>
              </a:defRPr>
            </a:pPr>
            <a:r>
              <a:rPr sz="1050" b="1">
                <a:solidFill>
                  <a:srgbClr val="275DFF"/>
                </a:solidFill>
              </a:rPr>
              <a:t>01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9FD0177-AD59-4CAF-968E-D7A0D3D53002}"/>
              </a:ext>
            </a:extLst>
          </p:cNvPr>
          <p:cNvSpPr>
            <a:spLocks noGrp="1"/>
          </p:cNvSpPr>
          <p:nvPr/>
        </p:nvSpPr>
        <p:spPr>
          <a:xfrm>
            <a:off x="914400" y="2895600"/>
            <a:ext cx="238125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고객 데이터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8E6287C-8B30-488B-81C6-5D10C743DF6A}"/>
              </a:ext>
            </a:extLst>
          </p:cNvPr>
          <p:cNvSpPr>
            <a:spLocks noGrp="1"/>
          </p:cNvSpPr>
          <p:nvPr/>
        </p:nvSpPr>
        <p:spPr>
          <a:xfrm>
            <a:off x="914400" y="3409950"/>
            <a:ext cx="23812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B6473"/>
                </a:solidFill>
              </a:defRPr>
            </a:pPr>
            <a:r>
              <a:rPr sz="1350" b="0">
                <a:solidFill>
                  <a:srgbClr val="5B6473"/>
                </a:solidFill>
              </a:rPr>
              <a:t>연령 · 직업 · 학력</a:t>
            </a:r>
          </a:p>
          <a:p>
            <a:pPr algn="l">
              <a:buNone/>
              <a:defRPr sz="1350" b="0">
                <a:solidFill>
                  <a:srgbClr val="5B6473"/>
                </a:solidFill>
              </a:defRPr>
            </a:pPr>
            <a:r>
              <a:rPr sz="1350" b="0">
                <a:solidFill>
                  <a:srgbClr val="5B6473"/>
                </a:solidFill>
              </a:rPr>
              <a:t>대출 여부 · 과거 반응</a:t>
            </a:r>
          </a:p>
          <a:p>
            <a:pPr algn="l">
              <a:buNone/>
              <a:defRPr sz="1350" b="0">
                <a:solidFill>
                  <a:srgbClr val="5B6473"/>
                </a:solidFill>
              </a:defRPr>
            </a:pPr>
            <a:r>
              <a:rPr sz="1350" b="0">
                <a:solidFill>
                  <a:srgbClr val="5B6473"/>
                </a:solidFill>
              </a:rPr>
              <a:t>앱 조회·클릭 이력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1693902E-23BE-4D5C-A0AC-7393CCCF988E}"/>
              </a:ext>
            </a:extLst>
          </p:cNvPr>
          <p:cNvSpPr>
            <a:spLocks noGrp="1"/>
          </p:cNvSpPr>
          <p:nvPr/>
        </p:nvSpPr>
        <p:spPr>
          <a:xfrm>
            <a:off x="4572000" y="2324100"/>
            <a:ext cx="3048000" cy="2133600"/>
          </a:xfrm>
          <a:prstGeom prst="roundRect">
            <a:avLst>
              <a:gd name="adj" fmla="val 3571"/>
            </a:avLst>
          </a:prstGeom>
          <a:solidFill>
            <a:srgbClr val="275DFF"/>
          </a:solidFill>
          <a:ln w="9525">
            <a:solidFill>
              <a:srgbClr val="275D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F9BD51F-0F91-4F0D-984E-494A0132E268}"/>
              </a:ext>
            </a:extLst>
          </p:cNvPr>
          <p:cNvSpPr>
            <a:spLocks noGrp="1"/>
          </p:cNvSpPr>
          <p:nvPr/>
        </p:nvSpPr>
        <p:spPr>
          <a:xfrm>
            <a:off x="4800600" y="2571750"/>
            <a:ext cx="400050" cy="2476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C9D7FF"/>
                </a:solidFill>
              </a:defRPr>
            </a:pPr>
            <a:r>
              <a:rPr sz="1050" b="1">
                <a:solidFill>
                  <a:srgbClr val="C9D7FF"/>
                </a:solidFill>
              </a:rPr>
              <a:t>02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0033202-5009-4BAB-8BEC-E49BC27A9AD4}"/>
              </a:ext>
            </a:extLst>
          </p:cNvPr>
          <p:cNvSpPr>
            <a:spLocks noGrp="1"/>
          </p:cNvSpPr>
          <p:nvPr/>
        </p:nvSpPr>
        <p:spPr>
          <a:xfrm>
            <a:off x="4800600" y="2895600"/>
            <a:ext cx="238125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사전 가입확률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1CA6C1A-0ABD-448E-81E1-68EF457AF18F}"/>
              </a:ext>
            </a:extLst>
          </p:cNvPr>
          <p:cNvSpPr>
            <a:spLocks noGrp="1"/>
          </p:cNvSpPr>
          <p:nvPr/>
        </p:nvSpPr>
        <p:spPr>
          <a:xfrm>
            <a:off x="4800600" y="3448050"/>
            <a:ext cx="2659566" cy="666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 dirty="0" err="1">
                <a:solidFill>
                  <a:srgbClr val="FFFFFF"/>
                </a:solidFill>
              </a:rPr>
              <a:t>고객별</a:t>
            </a:r>
            <a:r>
              <a:rPr sz="1350" b="0" dirty="0">
                <a:solidFill>
                  <a:srgbClr val="FFFFFF"/>
                </a:solidFill>
              </a:rPr>
              <a:t> 0~100점</a:t>
            </a:r>
          </a:p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 dirty="0" err="1">
                <a:solidFill>
                  <a:srgbClr val="FFFFFF"/>
                </a:solidFill>
              </a:rPr>
              <a:t>점수와</a:t>
            </a:r>
            <a:r>
              <a:rPr sz="1350" b="0" dirty="0">
                <a:solidFill>
                  <a:srgbClr val="FFFFFF"/>
                </a:solidFill>
              </a:rPr>
              <a:t> </a:t>
            </a:r>
            <a:r>
              <a:rPr sz="1350" b="0" dirty="0" err="1">
                <a:solidFill>
                  <a:srgbClr val="FFFFFF"/>
                </a:solidFill>
              </a:rPr>
              <a:t>실제</a:t>
            </a:r>
            <a:r>
              <a:rPr sz="1350" b="0" dirty="0">
                <a:solidFill>
                  <a:srgbClr val="FFFFFF"/>
                </a:solidFill>
              </a:rPr>
              <a:t> </a:t>
            </a:r>
            <a:r>
              <a:rPr sz="1350" b="0" dirty="0" err="1">
                <a:solidFill>
                  <a:srgbClr val="FFFFFF"/>
                </a:solidFill>
              </a:rPr>
              <a:t>가입률을</a:t>
            </a:r>
            <a:r>
              <a:rPr sz="1350" b="0" dirty="0">
                <a:solidFill>
                  <a:srgbClr val="FFFFFF"/>
                </a:solidFill>
              </a:rPr>
              <a:t> </a:t>
            </a:r>
            <a:r>
              <a:rPr sz="1350" b="0" dirty="0" err="1">
                <a:solidFill>
                  <a:srgbClr val="FFFFFF"/>
                </a:solidFill>
              </a:rPr>
              <a:t>함께</a:t>
            </a:r>
            <a:r>
              <a:rPr sz="1350" b="0" dirty="0">
                <a:solidFill>
                  <a:srgbClr val="FFFFFF"/>
                </a:solidFill>
              </a:rPr>
              <a:t> </a:t>
            </a:r>
            <a:r>
              <a:rPr sz="1350" b="0" dirty="0" err="1">
                <a:solidFill>
                  <a:srgbClr val="FFFFFF"/>
                </a:solidFill>
              </a:rPr>
              <a:t>확인</a:t>
            </a:r>
            <a:endParaRPr sz="1350" b="0" dirty="0">
              <a:solidFill>
                <a:srgbClr val="FFFFFF"/>
              </a:solidFill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7B14D19F-B611-41F2-B84E-8718E3EB1C94}"/>
              </a:ext>
            </a:extLst>
          </p:cNvPr>
          <p:cNvSpPr>
            <a:spLocks noGrp="1"/>
          </p:cNvSpPr>
          <p:nvPr/>
        </p:nvSpPr>
        <p:spPr>
          <a:xfrm>
            <a:off x="8496300" y="2324100"/>
            <a:ext cx="3009900" cy="21336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DE2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5D73A41-0E63-4A7A-960F-9614F2C4251D}"/>
              </a:ext>
            </a:extLst>
          </p:cNvPr>
          <p:cNvSpPr>
            <a:spLocks noGrp="1"/>
          </p:cNvSpPr>
          <p:nvPr/>
        </p:nvSpPr>
        <p:spPr>
          <a:xfrm>
            <a:off x="8724900" y="2571750"/>
            <a:ext cx="400050" cy="2476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17B890"/>
                </a:solidFill>
              </a:defRPr>
            </a:pPr>
            <a:r>
              <a:rPr sz="1050" b="1">
                <a:solidFill>
                  <a:srgbClr val="17B890"/>
                </a:solidFill>
              </a:rPr>
              <a:t>03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055CE15-CD91-4635-915C-DE54158AF53F}"/>
              </a:ext>
            </a:extLst>
          </p:cNvPr>
          <p:cNvSpPr>
            <a:spLocks noGrp="1"/>
          </p:cNvSpPr>
          <p:nvPr/>
        </p:nvSpPr>
        <p:spPr>
          <a:xfrm>
            <a:off x="8724900" y="2895600"/>
            <a:ext cx="238125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운영 방식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C4F2682-D691-4A50-94C0-2A39511367FA}"/>
              </a:ext>
            </a:extLst>
          </p:cNvPr>
          <p:cNvSpPr>
            <a:spLocks noGrp="1"/>
          </p:cNvSpPr>
          <p:nvPr/>
        </p:nvSpPr>
        <p:spPr>
          <a:xfrm>
            <a:off x="8724900" y="3409950"/>
            <a:ext cx="2381250" cy="800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B6473"/>
                </a:solidFill>
              </a:defRPr>
            </a:pPr>
            <a:r>
              <a:rPr sz="1350" b="0">
                <a:solidFill>
                  <a:srgbClr val="5B6473"/>
                </a:solidFill>
              </a:rPr>
              <a:t>고득점+클릭 → 상담</a:t>
            </a:r>
          </a:p>
          <a:p>
            <a:pPr algn="l">
              <a:buNone/>
              <a:defRPr sz="1350" b="0">
                <a:solidFill>
                  <a:srgbClr val="5B6473"/>
                </a:solidFill>
              </a:defRPr>
            </a:pPr>
            <a:r>
              <a:rPr sz="1350" b="0">
                <a:solidFill>
                  <a:srgbClr val="5B6473"/>
                </a:solidFill>
              </a:rPr>
              <a:t>고득점+미클릭 → 문구 재확인</a:t>
            </a:r>
          </a:p>
          <a:p>
            <a:pPr algn="l">
              <a:buNone/>
              <a:defRPr sz="1350" b="0">
                <a:solidFill>
                  <a:srgbClr val="5B6473"/>
                </a:solidFill>
              </a:defRPr>
            </a:pPr>
            <a:r>
              <a:rPr sz="1350" b="0">
                <a:solidFill>
                  <a:srgbClr val="5B6473"/>
                </a:solidFill>
              </a:rPr>
              <a:t>저득점 → 이번 캠페인 제외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07B7A72C-82E5-4979-A78E-6DC65214EDAC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876300"/>
          </a:xfrm>
          <a:prstGeom prst="roundRect">
            <a:avLst>
              <a:gd name="adj" fmla="val 8696"/>
            </a:avLst>
          </a:prstGeom>
          <a:solidFill>
            <a:srgbClr val="E9EFFF"/>
          </a:solidFill>
          <a:ln w="9525">
            <a:solidFill>
              <a:srgbClr val="E9E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8436867-9D5C-46D6-B1F3-ED1FC93EDC42}"/>
              </a:ext>
            </a:extLst>
          </p:cNvPr>
          <p:cNvSpPr>
            <a:spLocks noGrp="1"/>
          </p:cNvSpPr>
          <p:nvPr/>
        </p:nvSpPr>
        <p:spPr>
          <a:xfrm>
            <a:off x="914400" y="5124450"/>
            <a:ext cx="2952750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2F63F5"/>
                </a:solidFill>
              </a:defRPr>
            </a:pPr>
            <a:r>
              <a:rPr sz="1350" b="1">
                <a:solidFill>
                  <a:srgbClr val="2F63F5"/>
                </a:solidFill>
              </a:rPr>
              <a:t>모델 입력에서 duration은 제외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4445018-01CB-4D07-8A9B-69D52B6C9EC4}"/>
              </a:ext>
            </a:extLst>
          </p:cNvPr>
          <p:cNvSpPr>
            <a:spLocks noGrp="1"/>
          </p:cNvSpPr>
          <p:nvPr/>
        </p:nvSpPr>
        <p:spPr>
          <a:xfrm>
            <a:off x="914400" y="5448300"/>
            <a:ext cx="9715500" cy="228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통화가 끝난 뒤 생기는 정보이므로 연락 전 예측에 넣으면 데이터 누수가 된다.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C0EDA64-C0CE-46EF-8E76-7E57105BE6C2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9530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buNone/>
              <a:defRPr sz="750" b="0">
                <a:solidFill>
                  <a:srgbClr val="8B97A8"/>
                </a:solidFill>
              </a:defRPr>
            </a:pPr>
            <a:r>
              <a:rPr sz="750" b="0">
                <a:solidFill>
                  <a:srgbClr val="8B97A8"/>
                </a:solidFill>
              </a:rPr>
              <a:t>SEOUL YOUNG CAREERIENCE CAMP · DATA_B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F5136A8-BB92-4C49-9106-D67881A5F95E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5715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buNone/>
              <a:defRPr sz="750" b="0">
                <a:solidFill>
                  <a:srgbClr val="8B97A8"/>
                </a:solidFill>
              </a:defRPr>
            </a:pPr>
            <a:r>
              <a:rPr sz="750" b="0">
                <a:solidFill>
                  <a:srgbClr val="8B97A8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89457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3A93E7F0-AE6A-40FD-8C69-A7DF39FC149D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23875" cy="2476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275DFF"/>
                </a:solidFill>
              </a:defRPr>
            </a:pPr>
            <a:r>
              <a:rPr sz="1050" b="1">
                <a:solidFill>
                  <a:srgbClr val="275DFF"/>
                </a:solidFill>
              </a:rPr>
              <a:t>14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DE5701C-E0AE-43F6-93DE-D124B8A30AE4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buNone/>
              <a:defRPr sz="2400" b="1">
                <a:solidFill>
                  <a:srgbClr val="132033"/>
                </a:solidFill>
              </a:defRPr>
            </a:pPr>
            <a:r>
              <a:rPr sz="2400" b="1">
                <a:solidFill>
                  <a:srgbClr val="132033"/>
                </a:solidFill>
              </a:rPr>
              <a:t>사전 타겟 모델과 상담 중 관심 모델을 나눠 운영한다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062F4BD-B23E-4D99-9517-101CDE7482A1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1082040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132033"/>
                </a:solidFill>
              </a:defRPr>
            </a:pPr>
            <a:r>
              <a:rPr sz="1200" b="0">
                <a:solidFill>
                  <a:srgbClr val="132033"/>
                </a:solidFill>
              </a:rPr>
              <a:t>같은 변수를 한 모델에 다 넣지 않고, 데이터가 만들어지는 시점에 따라 역할을 분리한다.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3CEFD77-18D8-4959-BECD-5826F2C9C688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10820400" cy="19050"/>
          </a:xfrm>
          <a:prstGeom prst="rect">
            <a:avLst/>
          </a:prstGeom>
          <a:solidFill>
            <a:srgbClr val="DDE2E8"/>
          </a:solidFill>
          <a:ln w="9525">
            <a:solidFill>
              <a:srgbClr val="DDE2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E09A47F3-1C7F-484F-93D4-B5B459E677F5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510540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DE2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C14A715-C077-43BC-AEF4-596818010E86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5105400" cy="114300"/>
          </a:xfrm>
          <a:prstGeom prst="rect">
            <a:avLst/>
          </a:prstGeom>
          <a:solidFill>
            <a:srgbClr val="275DFF"/>
          </a:solidFill>
          <a:ln w="9525">
            <a:solidFill>
              <a:srgbClr val="275D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08690AE-0142-467C-BFF3-D2B9D4C10960}"/>
              </a:ext>
            </a:extLst>
          </p:cNvPr>
          <p:cNvSpPr>
            <a:spLocks noGrp="1"/>
          </p:cNvSpPr>
          <p:nvPr/>
        </p:nvSpPr>
        <p:spPr>
          <a:xfrm>
            <a:off x="990600" y="2533650"/>
            <a:ext cx="952500" cy="2476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275DFF"/>
                </a:solidFill>
              </a:defRPr>
            </a:pPr>
            <a:r>
              <a:rPr sz="1050" b="1">
                <a:solidFill>
                  <a:srgbClr val="275DFF"/>
                </a:solidFill>
              </a:rPr>
              <a:t>연락 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53562E3-08B5-499E-9E59-8F3A07711A74}"/>
              </a:ext>
            </a:extLst>
          </p:cNvPr>
          <p:cNvSpPr>
            <a:spLocks noGrp="1"/>
          </p:cNvSpPr>
          <p:nvPr/>
        </p:nvSpPr>
        <p:spPr>
          <a:xfrm>
            <a:off x="990600" y="28956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buNone/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사전 타겟 모델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A8A49F6-B951-4CAA-934F-3E14BB963A1F}"/>
              </a:ext>
            </a:extLst>
          </p:cNvPr>
          <p:cNvSpPr>
            <a:spLocks noGrp="1"/>
          </p:cNvSpPr>
          <p:nvPr/>
        </p:nvSpPr>
        <p:spPr>
          <a:xfrm>
            <a:off x="990600" y="3562350"/>
            <a:ext cx="6667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5B6473"/>
                </a:solidFill>
              </a:defRPr>
            </a:pPr>
            <a:r>
              <a:rPr sz="1200" b="1">
                <a:solidFill>
                  <a:srgbClr val="5B6473"/>
                </a:solidFill>
              </a:rPr>
              <a:t>입력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0B12B33-0E0B-411F-BB3C-10522823FB5E}"/>
              </a:ext>
            </a:extLst>
          </p:cNvPr>
          <p:cNvSpPr>
            <a:spLocks noGrp="1"/>
          </p:cNvSpPr>
          <p:nvPr/>
        </p:nvSpPr>
        <p:spPr>
          <a:xfrm>
            <a:off x="1752600" y="3562350"/>
            <a:ext cx="35623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고객 특성 · 금융 상태 · 과거 캠페인 · 앱 행동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DDC7218-4B49-488C-A440-CA0C802B42AB}"/>
              </a:ext>
            </a:extLst>
          </p:cNvPr>
          <p:cNvSpPr>
            <a:spLocks noGrp="1"/>
          </p:cNvSpPr>
          <p:nvPr/>
        </p:nvSpPr>
        <p:spPr>
          <a:xfrm>
            <a:off x="990600" y="4038600"/>
            <a:ext cx="6667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5B6473"/>
                </a:solidFill>
              </a:defRPr>
            </a:pPr>
            <a:r>
              <a:rPr sz="1200" b="1">
                <a:solidFill>
                  <a:srgbClr val="5B6473"/>
                </a:solidFill>
              </a:rPr>
              <a:t>결정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FB8F1A6-360B-457F-A65F-DF918DCA3B06}"/>
              </a:ext>
            </a:extLst>
          </p:cNvPr>
          <p:cNvSpPr>
            <a:spLocks noGrp="1"/>
          </p:cNvSpPr>
          <p:nvPr/>
        </p:nvSpPr>
        <p:spPr>
          <a:xfrm>
            <a:off x="1752600" y="4038600"/>
            <a:ext cx="35623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누구에게 알림을 보내고 상담을 연결할지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465B0AB-70FB-4EFB-BABE-69D6F457F7B0}"/>
              </a:ext>
            </a:extLst>
          </p:cNvPr>
          <p:cNvSpPr>
            <a:spLocks noGrp="1"/>
          </p:cNvSpPr>
          <p:nvPr/>
        </p:nvSpPr>
        <p:spPr>
          <a:xfrm>
            <a:off x="990600" y="4514850"/>
            <a:ext cx="6667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5B6473"/>
                </a:solidFill>
              </a:defRPr>
            </a:pPr>
            <a:r>
              <a:rPr sz="1200" b="1">
                <a:solidFill>
                  <a:srgbClr val="5B6473"/>
                </a:solidFill>
              </a:rPr>
              <a:t>평가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41F0318-3F38-4CD4-B068-B802F8B98C2C}"/>
              </a:ext>
            </a:extLst>
          </p:cNvPr>
          <p:cNvSpPr>
            <a:spLocks noGrp="1"/>
          </p:cNvSpPr>
          <p:nvPr/>
        </p:nvSpPr>
        <p:spPr>
          <a:xfrm>
            <a:off x="1752600" y="4514850"/>
            <a:ext cx="35623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상위 고객 포착률 · 확률 신뢰도 · 추가 가입률</a:t>
            </a: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0CA7B614-6C10-4174-928F-73DA81A5B977}"/>
              </a:ext>
            </a:extLst>
          </p:cNvPr>
          <p:cNvSpPr>
            <a:spLocks noGrp="1"/>
          </p:cNvSpPr>
          <p:nvPr/>
        </p:nvSpPr>
        <p:spPr>
          <a:xfrm>
            <a:off x="6400800" y="2209800"/>
            <a:ext cx="510540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DE2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C53376E-8A93-49BF-ADD0-E6D8F155E6CD}"/>
              </a:ext>
            </a:extLst>
          </p:cNvPr>
          <p:cNvSpPr>
            <a:spLocks noGrp="1"/>
          </p:cNvSpPr>
          <p:nvPr/>
        </p:nvSpPr>
        <p:spPr>
          <a:xfrm>
            <a:off x="6400800" y="2209800"/>
            <a:ext cx="5105400" cy="114300"/>
          </a:xfrm>
          <a:prstGeom prst="rect">
            <a:avLst/>
          </a:prstGeom>
          <a:solidFill>
            <a:srgbClr val="17B890"/>
          </a:solidFill>
          <a:ln w="9525">
            <a:solidFill>
              <a:srgbClr val="17B89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2DA93F7-57EA-4363-B23C-67F18E2814B5}"/>
              </a:ext>
            </a:extLst>
          </p:cNvPr>
          <p:cNvSpPr>
            <a:spLocks noGrp="1"/>
          </p:cNvSpPr>
          <p:nvPr/>
        </p:nvSpPr>
        <p:spPr>
          <a:xfrm>
            <a:off x="6705600" y="2533650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17B890"/>
                </a:solidFill>
              </a:defRPr>
            </a:pPr>
            <a:r>
              <a:rPr sz="1050" b="1">
                <a:solidFill>
                  <a:srgbClr val="17B890"/>
                </a:solidFill>
              </a:rPr>
              <a:t>상담 시작 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88A2A31-65F8-4A67-85E6-431B0A0B8B59}"/>
              </a:ext>
            </a:extLst>
          </p:cNvPr>
          <p:cNvSpPr>
            <a:spLocks noGrp="1"/>
          </p:cNvSpPr>
          <p:nvPr/>
        </p:nvSpPr>
        <p:spPr>
          <a:xfrm>
            <a:off x="6705600" y="2895600"/>
            <a:ext cx="30480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buNone/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실시간 관심 모델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7681684-0536-4A47-BB3E-BC4645764847}"/>
              </a:ext>
            </a:extLst>
          </p:cNvPr>
          <p:cNvSpPr>
            <a:spLocks noGrp="1"/>
          </p:cNvSpPr>
          <p:nvPr/>
        </p:nvSpPr>
        <p:spPr>
          <a:xfrm>
            <a:off x="6705600" y="3562350"/>
            <a:ext cx="6667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5B6473"/>
                </a:solidFill>
              </a:defRPr>
            </a:pPr>
            <a:r>
              <a:rPr sz="1200" b="1">
                <a:solidFill>
                  <a:srgbClr val="5B6473"/>
                </a:solidFill>
              </a:rPr>
              <a:t>입력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3447C0D-2A00-47D4-B926-78C133E0831F}"/>
              </a:ext>
            </a:extLst>
          </p:cNvPr>
          <p:cNvSpPr>
            <a:spLocks noGrp="1"/>
          </p:cNvSpPr>
          <p:nvPr/>
        </p:nvSpPr>
        <p:spPr>
          <a:xfrm>
            <a:off x="7467600" y="3562350"/>
            <a:ext cx="35623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통화시간 · 상품 질문 · 예약 · 상세 조회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EF572E1-7AC2-4FB0-8529-C1ED87B99014}"/>
              </a:ext>
            </a:extLst>
          </p:cNvPr>
          <p:cNvSpPr>
            <a:spLocks noGrp="1"/>
          </p:cNvSpPr>
          <p:nvPr/>
        </p:nvSpPr>
        <p:spPr>
          <a:xfrm>
            <a:off x="6705600" y="4038600"/>
            <a:ext cx="6667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5B6473"/>
                </a:solidFill>
              </a:defRPr>
            </a:pPr>
            <a:r>
              <a:rPr sz="1200" b="1">
                <a:solidFill>
                  <a:srgbClr val="5B6473"/>
                </a:solidFill>
              </a:rPr>
              <a:t>결정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A7541C8-8FCB-40D8-9693-2A11023EAD3B}"/>
              </a:ext>
            </a:extLst>
          </p:cNvPr>
          <p:cNvSpPr>
            <a:spLocks noGrp="1"/>
          </p:cNvSpPr>
          <p:nvPr/>
        </p:nvSpPr>
        <p:spPr>
          <a:xfrm>
            <a:off x="7467600" y="4038600"/>
            <a:ext cx="35623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상담을 구체화할지, 가능한 시간으로 예약할지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0EA450D-1D60-47A0-A1FC-95C4AD091E40}"/>
              </a:ext>
            </a:extLst>
          </p:cNvPr>
          <p:cNvSpPr>
            <a:spLocks noGrp="1"/>
          </p:cNvSpPr>
          <p:nvPr/>
        </p:nvSpPr>
        <p:spPr>
          <a:xfrm>
            <a:off x="6705600" y="4514850"/>
            <a:ext cx="6667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5B6473"/>
                </a:solidFill>
              </a:defRPr>
            </a:pPr>
            <a:r>
              <a:rPr sz="1200" b="1">
                <a:solidFill>
                  <a:srgbClr val="5B6473"/>
                </a:solidFill>
              </a:rPr>
              <a:t>주의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3FC6D3B-FF10-4BC9-9BD0-646C9E69C7C1}"/>
              </a:ext>
            </a:extLst>
          </p:cNvPr>
          <p:cNvSpPr>
            <a:spLocks noGrp="1"/>
          </p:cNvSpPr>
          <p:nvPr/>
        </p:nvSpPr>
        <p:spPr>
          <a:xfrm>
            <a:off x="7467600" y="4514850"/>
            <a:ext cx="35623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5분을 억지로 채우지 않고 자연스러운 반응만 사용</a:t>
            </a: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07ABC13D-A378-43BE-B137-9EDCFBCA2631}"/>
              </a:ext>
            </a:extLst>
          </p:cNvPr>
          <p:cNvSpPr>
            <a:spLocks noGrp="1"/>
          </p:cNvSpPr>
          <p:nvPr/>
        </p:nvSpPr>
        <p:spPr>
          <a:xfrm>
            <a:off x="685800" y="5391150"/>
            <a:ext cx="10820400" cy="590550"/>
          </a:xfrm>
          <a:prstGeom prst="roundRect">
            <a:avLst>
              <a:gd name="adj" fmla="val 12903"/>
            </a:avLst>
          </a:prstGeom>
          <a:solidFill>
            <a:srgbClr val="EEF3FF"/>
          </a:solidFill>
          <a:ln w="9525">
            <a:solidFill>
              <a:srgbClr val="EEF3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C0F9EFE-96EF-4B55-BF60-77349844D3A9}"/>
              </a:ext>
            </a:extLst>
          </p:cNvPr>
          <p:cNvSpPr>
            <a:spLocks noGrp="1"/>
          </p:cNvSpPr>
          <p:nvPr/>
        </p:nvSpPr>
        <p:spPr>
          <a:xfrm>
            <a:off x="914400" y="5524500"/>
            <a:ext cx="114300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2F63F5"/>
                </a:solidFill>
              </a:defRPr>
            </a:pPr>
            <a:r>
              <a:rPr sz="1275" b="1">
                <a:solidFill>
                  <a:srgbClr val="2F63F5"/>
                </a:solidFill>
              </a:rPr>
              <a:t>운영 원칙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B0D9E1E-717D-40EA-ACBD-F6C306F84600}"/>
              </a:ext>
            </a:extLst>
          </p:cNvPr>
          <p:cNvSpPr>
            <a:spLocks noGrp="1"/>
          </p:cNvSpPr>
          <p:nvPr/>
        </p:nvSpPr>
        <p:spPr>
          <a:xfrm>
            <a:off x="2095500" y="5524500"/>
            <a:ext cx="876300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같은 예측 점수 구간 안에서 A/B 테스트하고, 연령만으로 고객을 자동 배제하지 않는다.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A38980F-98FD-43A5-BA63-19A5861674C4}"/>
              </a:ext>
            </a:extLst>
          </p:cNvPr>
          <p:cNvSpPr>
            <a:spLocks noGrp="1"/>
          </p:cNvSpPr>
          <p:nvPr/>
        </p:nvSpPr>
        <p:spPr>
          <a:xfrm>
            <a:off x="696951" y="6410325"/>
            <a:ext cx="49530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buNone/>
              <a:defRPr sz="750" b="0">
                <a:solidFill>
                  <a:srgbClr val="8B97A8"/>
                </a:solidFill>
              </a:defRPr>
            </a:pPr>
            <a:r>
              <a:rPr sz="750" b="0">
                <a:solidFill>
                  <a:srgbClr val="8B97A8"/>
                </a:solidFill>
              </a:rPr>
              <a:t>SEOUL YOUNG CAREERIENCE CAMP · DATA_B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037CD04-5CE4-4035-B339-1545999965BD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5715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buNone/>
              <a:defRPr sz="750" b="0">
                <a:solidFill>
                  <a:srgbClr val="8B97A8"/>
                </a:solidFill>
              </a:defRPr>
            </a:pPr>
            <a:r>
              <a:rPr sz="750" b="0">
                <a:solidFill>
                  <a:srgbClr val="8B97A8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0318964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Pretendard"/>
        <a:ea typeface=""/>
        <a:cs typeface=""/>
      </a:majorFont>
      <a:minorFont>
        <a:latin typeface="Pretendard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Pretendard"/>
        <a:ea typeface=""/>
        <a:cs typeface=""/>
      </a:majorFont>
      <a:minorFont>
        <a:latin typeface="Pretendard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2739</Words>
  <Application>Microsoft Macintosh PowerPoint</Application>
  <DocSecurity>0</DocSecurity>
  <PresentationFormat>와이드스크린</PresentationFormat>
  <Paragraphs>437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Pretendard</vt:lpstr>
      <vt:lpstr>Symbol</vt:lpstr>
      <vt:lpstr>Wingdings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김범수</cp:lastModifiedBy>
  <cp:revision>1</cp:revision>
  <dcterms:created xsi:type="dcterms:W3CDTF">2026-07-28T12:31:28Z</dcterms:created>
  <dcterms:modified xsi:type="dcterms:W3CDTF">2026-07-28T12:35:45Z</dcterms:modified>
</cp:coreProperties>
</file>