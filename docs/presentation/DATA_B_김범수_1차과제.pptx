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ab4411f6244842" /><Relationship Type="http://schemas.openxmlformats.org/officeDocument/2006/relationships/extended-properties" Target="/docProps/app.xml" Id="R5ac7b2d2c27f4d3d" /><Relationship Type="http://schemas.openxmlformats.org/officeDocument/2006/relationships/officeDocument" Target="/ppt/presentation.xml" Id="Rffada2cd90e34d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67a2a7121f4048"/>
  </p:sldMasterIdLst>
  <p:notesMasterIdLst>
    <p:notesMasterId xmlns:r="http://schemas.openxmlformats.org/officeDocument/2006/relationships" r:id="R5eecf806bad04300"/>
  </p:notesMasterIdLst>
  <p:sldIdLst>
    <p:sldId xmlns:r="http://schemas.openxmlformats.org/officeDocument/2006/relationships" id="256" r:id="R69e4a52e61c14c43"/>
    <p:sldId xmlns:r="http://schemas.openxmlformats.org/officeDocument/2006/relationships" id="257" r:id="Rcd5c5664846745ec"/>
    <p:sldId xmlns:r="http://schemas.openxmlformats.org/officeDocument/2006/relationships" id="258" r:id="R02a62c85ea8f4bd9"/>
    <p:sldId xmlns:r="http://schemas.openxmlformats.org/officeDocument/2006/relationships" id="259" r:id="R819edbaf642249fc"/>
    <p:sldId xmlns:r="http://schemas.openxmlformats.org/officeDocument/2006/relationships" id="260" r:id="R71ec195213454fda"/>
    <p:sldId xmlns:r="http://schemas.openxmlformats.org/officeDocument/2006/relationships" id="261" r:id="R17a8bb1b4f7845a2"/>
    <p:sldId xmlns:r="http://schemas.openxmlformats.org/officeDocument/2006/relationships" id="262" r:id="Rccf92f6f4ab54c7c"/>
    <p:sldId xmlns:r="http://schemas.openxmlformats.org/officeDocument/2006/relationships" id="263" r:id="Ra399bdfd1fa84e4f"/>
    <p:sldId xmlns:r="http://schemas.openxmlformats.org/officeDocument/2006/relationships" id="264" r:id="R08a4a6ca90294a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cbe862b8e4aa4" /><Relationship Type="http://schemas.openxmlformats.org/officeDocument/2006/relationships/slideMaster" Target="/ppt/slideMasters/slideMaster1.xml" Id="R3f67a2a7121f4048" /><Relationship Type="http://schemas.openxmlformats.org/officeDocument/2006/relationships/notesMaster" Target="/ppt/notesMasters/notesMaster1.xml" Id="R5eecf806bad04300" /><Relationship Type="http://schemas.openxmlformats.org/officeDocument/2006/relationships/presProps" Target="/ppt/presProps.xml" Id="R2fb28505ff7d43a6" /><Relationship Type="http://schemas.openxmlformats.org/officeDocument/2006/relationships/tableStyles" Target="/ppt/tableStyles.xml" Id="R712f2a1d5a8f42a0" /><Relationship Type="http://schemas.openxmlformats.org/officeDocument/2006/relationships/slide" Target="/ppt/slides/slide1.xml" Id="R69e4a52e61c14c43" /><Relationship Type="http://schemas.openxmlformats.org/officeDocument/2006/relationships/slide" Target="/ppt/slides/slide2.xml" Id="Rcd5c5664846745ec" /><Relationship Type="http://schemas.openxmlformats.org/officeDocument/2006/relationships/slide" Target="/ppt/slides/slide3.xml" Id="R02a62c85ea8f4bd9" /><Relationship Type="http://schemas.openxmlformats.org/officeDocument/2006/relationships/slide" Target="/ppt/slides/slide4.xml" Id="R819edbaf642249fc" /><Relationship Type="http://schemas.openxmlformats.org/officeDocument/2006/relationships/slide" Target="/ppt/slides/slide5.xml" Id="R71ec195213454fda" /><Relationship Type="http://schemas.openxmlformats.org/officeDocument/2006/relationships/slide" Target="/ppt/slides/slide6.xml" Id="R17a8bb1b4f7845a2" /><Relationship Type="http://schemas.openxmlformats.org/officeDocument/2006/relationships/slide" Target="/ppt/slides/slide7.xml" Id="Rccf92f6f4ab54c7c" /><Relationship Type="http://schemas.openxmlformats.org/officeDocument/2006/relationships/slide" Target="/ppt/slides/slide8.xml" Id="Ra399bdfd1fa84e4f" /><Relationship Type="http://schemas.openxmlformats.org/officeDocument/2006/relationships/slide" Target="/ppt/slides/slide9.xml" Id="R08a4a6ca9029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350aebd51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8c493b9aa4ead" /><Relationship Type="http://schemas.openxmlformats.org/officeDocument/2006/relationships/notesMaster" Target="/ppt/notesMasters/notesMaster1.xml" Id="Rdc48ba9ab2d6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7b4fe2f78643d2" /><Relationship Type="http://schemas.openxmlformats.org/officeDocument/2006/relationships/notesMaster" Target="/ppt/notesMasters/notesMaster1.xml" Id="R09ac6530a0f8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8c465633944aeb" /><Relationship Type="http://schemas.openxmlformats.org/officeDocument/2006/relationships/notesMaster" Target="/ppt/notesMasters/notesMaster1.xml" Id="R301d82ac418e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5cdb0201d4bf4" /><Relationship Type="http://schemas.openxmlformats.org/officeDocument/2006/relationships/notesMaster" Target="/ppt/notesMasters/notesMaster1.xml" Id="Ree9f3200dd8f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8726d2bac043c1" /><Relationship Type="http://schemas.openxmlformats.org/officeDocument/2006/relationships/notesMaster" Target="/ppt/notesMasters/notesMaster1.xml" Id="R2bd154d77fb94e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5e2cc6d0084d7e" /><Relationship Type="http://schemas.openxmlformats.org/officeDocument/2006/relationships/notesMaster" Target="/ppt/notesMasters/notesMaster1.xml" Id="Rf1d1bf0e6b95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db7bf890e64e00" /><Relationship Type="http://schemas.openxmlformats.org/officeDocument/2006/relationships/notesMaster" Target="/ppt/notesMasters/notesMaster1.xml" Id="R62f10aa789c141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0fc16dd39a4772" /><Relationship Type="http://schemas.openxmlformats.org/officeDocument/2006/relationships/notesMaster" Target="/ppt/notesMasters/notesMaster1.xml" Id="Ra07b48d4ad1344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21e3481c30404c" /><Relationship Type="http://schemas.openxmlformats.org/officeDocument/2006/relationships/notesMaster" Target="/ppt/notesMasters/notesMaster1.xml" Id="Rd484716bf497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0ecd6bde349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5dd89a1f94348" /><Relationship Type="http://schemas.openxmlformats.org/officeDocument/2006/relationships/slideLayout" Target="/ppt/slideLayouts/slideLayout1.xml" Id="R7775358a7bbd49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5358a7bbd49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56363bc3245b3" /><Relationship Type="http://schemas.openxmlformats.org/officeDocument/2006/relationships/notesSlide" Target="/ppt/notesSlides/notesSlide1.xml" Id="R423d3eed21bf40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abcd5ee3440ec" /><Relationship Type="http://schemas.openxmlformats.org/officeDocument/2006/relationships/notesSlide" Target="/ppt/notesSlides/notesSlide2.xml" Id="Rd4c41b91128f46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8cab4f81e421f" /><Relationship Type="http://schemas.openxmlformats.org/officeDocument/2006/relationships/chart" Target="/ppt/slides/charts/chart1.xml" Id="Ra36bc3348c224aa1" /><Relationship Type="http://schemas.openxmlformats.org/officeDocument/2006/relationships/notesSlide" Target="/ppt/notesSlides/notesSlide3.xml" Id="Ra46f11ce2935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20b2a84744be8" /><Relationship Type="http://schemas.openxmlformats.org/officeDocument/2006/relationships/chart" Target="/ppt/slides/charts/chart2.xml" Id="R87b04a74e77b4a6e" /><Relationship Type="http://schemas.openxmlformats.org/officeDocument/2006/relationships/notesSlide" Target="/ppt/notesSlides/notesSlide4.xml" Id="R6d2ecbc79cc4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a7cf30b9d472b" /><Relationship Type="http://schemas.openxmlformats.org/officeDocument/2006/relationships/notesSlide" Target="/ppt/notesSlides/notesSlide5.xml" Id="Rc2a02a3b4d6c47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e4e2e24ad472a" /><Relationship Type="http://schemas.openxmlformats.org/officeDocument/2006/relationships/chart" Target="/ppt/slides/charts/chart3.xml" Id="R1cfab7cfb18e4ff9" /><Relationship Type="http://schemas.openxmlformats.org/officeDocument/2006/relationships/notesSlide" Target="/ppt/notesSlides/notesSlide6.xml" Id="Refd4da82709842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7e8f71c0f4595" /><Relationship Type="http://schemas.openxmlformats.org/officeDocument/2006/relationships/notesSlide" Target="/ppt/notesSlides/notesSlide7.xml" Id="R6d7d168ebf004c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0eb1dc362441f" /><Relationship Type="http://schemas.openxmlformats.org/officeDocument/2006/relationships/notesSlide" Target="/ppt/notesSlides/notesSlide8.xml" Id="R2bfe7342f973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992bd64074890" /><Relationship Type="http://schemas.openxmlformats.org/officeDocument/2006/relationships/notesSlide" Target="/ppt/notesSlides/notesSlide9.xml" Id="R0c95c303d97a46d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가입률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이전 성공</c:v>
              </c:pt>
              <c:pt idx="1">
                <c:v>이전 실패</c:v>
              </c:pt>
              <c:pt idx="2">
                <c:v>이력 없음</c:v>
              </c:pt>
            </c:strLit>
          </c:cat>
          <c:val>
            <c:numLit>
              <c:formatCode>General</c:formatCode>
              <c:ptCount val="3"/>
              <c:pt idx="0">
                <c:v>65.11</c:v>
              </c:pt>
              <c:pt idx="1">
                <c:v>14.23</c:v>
              </c:pt>
              <c:pt idx="2">
                <c:v>8.83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가입률</c:v>
          </c:tx>
          <c:spPr>
            <a:solidFill xmlns:a="http://schemas.openxmlformats.org/drawingml/2006/main">
              <a:srgbClr val="0891B2"/>
            </a:solidFill>
          </c:spPr>
          <c:cat>
            <c:strLit>
              <c:ptCount val="6"/>
              <c:pt idx="0">
                <c:v>65세+</c:v>
              </c:pt>
              <c:pt idx="1">
                <c:v>24세↓</c:v>
              </c:pt>
              <c:pt idx="2">
                <c:v>55–64세</c:v>
              </c:pt>
              <c:pt idx="3">
                <c:v>25–34세</c:v>
              </c:pt>
              <c:pt idx="4">
                <c:v>35–44세</c:v>
              </c:pt>
              <c:pt idx="5">
                <c:v>45–54세</c:v>
              </c:pt>
            </c:strLit>
          </c:cat>
          <c:val>
            <c:numLit>
              <c:formatCode>General</c:formatCode>
              <c:ptCount val="6"/>
              <c:pt idx="0">
                <c:v>47.21</c:v>
              </c:pt>
              <c:pt idx="1">
                <c:v>23.97</c:v>
              </c:pt>
              <c:pt idx="2">
                <c:v>13.57</c:v>
              </c:pt>
              <c:pt idx="3">
                <c:v>12.17</c:v>
              </c:pt>
              <c:pt idx="4">
                <c:v>8.65</c:v>
              </c:pt>
              <c:pt idx="5">
                <c:v>8.65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가입률</c:v>
          </c:tx>
          <c:spPr>
            <a:ln xmlns:a="http://schemas.openxmlformats.org/drawingml/2006/main" w="38100">
              <a:solidFill>
                <a:srgbClr val="2563EB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6"/>
              <c:pt idx="0">
                <c:v>1회</c:v>
              </c:pt>
              <c:pt idx="1">
                <c:v>2회</c:v>
              </c:pt>
              <c:pt idx="2">
                <c:v>3회</c:v>
              </c:pt>
              <c:pt idx="3">
                <c:v>4–5회</c:v>
              </c:pt>
              <c:pt idx="4">
                <c:v>6–10회</c:v>
              </c:pt>
              <c:pt idx="5">
                <c:v>11회+</c:v>
              </c:pt>
            </c:strLit>
          </c:cat>
          <c:val>
            <c:numLit>
              <c:formatCode>General</c:formatCode>
              <c:ptCount val="6"/>
              <c:pt idx="0">
                <c:v>13.04</c:v>
              </c:pt>
              <c:pt idx="1">
                <c:v>11.46</c:v>
              </c:pt>
              <c:pt idx="2">
                <c:v>10.75</c:v>
              </c:pt>
              <c:pt idx="3">
                <c:v>8.68</c:v>
              </c:pt>
              <c:pt idx="4">
                <c:v>6.32</c:v>
              </c:pt>
              <c:pt idx="5">
                <c:v>3.11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326A2A5-7895-44C2-8DA3-B11498CA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SEOUL YOUNG CAREERIENCE CAMP · DATA ANALYSIS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4D56F61-FD5B-4364-8AA6-926C286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715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누구에게 먼저</a:t>
            </a:r>
          </a:p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연락해야 할까?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6D4BF9-F370-491F-A266-F1F20062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은행 마케팅 데이터로 찾은 고가능성 고객과 다음 캠페인 전략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CA105618-966C-49E4-AD97-73AD50F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41F7492F-C594-46F5-8092-6E7D312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참고용 발표 자료 · 분석 대상 41,188건</a:t>
            </a:r>
          </a:p>
        </p:txBody>
      </p:sp>
    </p:spTree>
    <p:extLst>
      <p:ext uri="{BB962C8B-B14F-4D97-AF65-F5344CB8AC3E}">
        <p14:creationId xmlns:p14="http://schemas.microsoft.com/office/powerpoint/2010/main" val="13608156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2">
            <a:extLst xmlns:a="http://schemas.openxmlformats.org/drawingml/2006/main">
              <a:ext uri="{FF2B5EF4-FFF2-40B4-BE49-F238E27FC236}">
                <a16:creationId xmlns:a16="http://schemas.microsoft.com/office/drawing/2014/main" id="{D0C390BD-30CC-4701-8E11-39DBA7D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분석 질문은 하나다: 가입 가능성이 높은 고객은 누구인가?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62418A7-D08E-40CB-8EB6-31CCB4F5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1D2E40C6-87A7-4B8A-8FAE-5267B2C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question-context">
            <a:extLst xmlns:a="http://schemas.openxmlformats.org/drawingml/2006/main">
              <a:ext uri="{FF2B5EF4-FFF2-40B4-BE49-F238E27FC236}">
                <a16:creationId xmlns:a16="http://schemas.microsoft.com/office/drawing/2014/main" id="{592EB7C2-1152-4F3E-8E19-9F611988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41,188건의 과거 캠페인 기록을 고객 특성·접촉 이력·가입 여부로 압축해 비교했다.</a:t>
            </a:r>
          </a:p>
        </p:txBody>
      </p:sp>
      <p:sp>
        <p:nvSpPr>
          <p:cNvPr id="5" name="rows-panel">
            <a:extLst xmlns:a="http://schemas.openxmlformats.org/drawingml/2006/main">
              <a:ext uri="{FF2B5EF4-FFF2-40B4-BE49-F238E27FC236}">
                <a16:creationId xmlns:a16="http://schemas.microsoft.com/office/drawing/2014/main" id="{8F00C7AC-6FA1-48FA-8AEE-C72EBFEF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ws-accent">
            <a:extLst xmlns:a="http://schemas.openxmlformats.org/drawingml/2006/main">
              <a:ext uri="{FF2B5EF4-FFF2-40B4-BE49-F238E27FC236}">
                <a16:creationId xmlns:a16="http://schemas.microsoft.com/office/drawing/2014/main" id="{60EB0A68-EB1B-420C-8C2E-9A8F8006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ws-value">
            <a:extLst xmlns:a="http://schemas.openxmlformats.org/drawingml/2006/main">
              <a:ext uri="{FF2B5EF4-FFF2-40B4-BE49-F238E27FC236}">
                <a16:creationId xmlns:a16="http://schemas.microsoft.com/office/drawing/2014/main" id="{7739FC8D-8B6A-4FAB-B909-CEA24E4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41,188</a:t>
            </a:r>
          </a:p>
        </p:txBody>
      </p:sp>
      <p:sp>
        <p:nvSpPr>
          <p:cNvPr id="8" name="rows-label">
            <a:extLst xmlns:a="http://schemas.openxmlformats.org/drawingml/2006/main">
              <a:ext uri="{FF2B5EF4-FFF2-40B4-BE49-F238E27FC236}">
                <a16:creationId xmlns:a16="http://schemas.microsoft.com/office/drawing/2014/main" id="{7928549A-A345-40D4-AF86-2096A3F9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전체 캠페인 기록</a:t>
            </a:r>
          </a:p>
        </p:txBody>
      </p:sp>
      <p:sp>
        <p:nvSpPr>
          <p:cNvPr id="9" name="yes-panel">
            <a:extLst xmlns:a="http://schemas.openxmlformats.org/drawingml/2006/main">
              <a:ext uri="{FF2B5EF4-FFF2-40B4-BE49-F238E27FC236}">
                <a16:creationId xmlns:a16="http://schemas.microsoft.com/office/drawing/2014/main" id="{081D55B4-3BF7-4987-8C91-E551F047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146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yes-accent">
            <a:extLst xmlns:a="http://schemas.openxmlformats.org/drawingml/2006/main">
              <a:ext uri="{FF2B5EF4-FFF2-40B4-BE49-F238E27FC236}">
                <a16:creationId xmlns:a16="http://schemas.microsoft.com/office/drawing/2014/main" id="{5142A5C6-F29A-45D6-86A5-5CD2DE2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146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yes-value">
            <a:extLst xmlns:a="http://schemas.openxmlformats.org/drawingml/2006/main">
              <a:ext uri="{FF2B5EF4-FFF2-40B4-BE49-F238E27FC236}">
                <a16:creationId xmlns:a16="http://schemas.microsoft.com/office/drawing/2014/main" id="{A19738DC-C61F-42A8-A333-42C1D9B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003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4,640</a:t>
            </a:r>
          </a:p>
        </p:txBody>
      </p:sp>
      <p:sp>
        <p:nvSpPr>
          <p:cNvPr id="12" name="yes-label">
            <a:extLst xmlns:a="http://schemas.openxmlformats.org/drawingml/2006/main">
              <a:ext uri="{FF2B5EF4-FFF2-40B4-BE49-F238E27FC236}">
                <a16:creationId xmlns:a16="http://schemas.microsoft.com/office/drawing/2014/main" id="{4739ED18-AEC7-4B59-B517-3B5FB8F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14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정기예금 가입 건수</a:t>
            </a:r>
          </a:p>
        </p:txBody>
      </p:sp>
      <p:sp>
        <p:nvSpPr>
          <p:cNvPr id="13" name="rate-panel">
            <a:extLst xmlns:a="http://schemas.openxmlformats.org/drawingml/2006/main">
              <a:ext uri="{FF2B5EF4-FFF2-40B4-BE49-F238E27FC236}">
                <a16:creationId xmlns:a16="http://schemas.microsoft.com/office/drawing/2014/main" id="{574BF9C6-0590-4A6B-AF9A-13CF8081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te-accent">
            <a:extLst xmlns:a="http://schemas.openxmlformats.org/drawingml/2006/main">
              <a:ext uri="{FF2B5EF4-FFF2-40B4-BE49-F238E27FC236}">
                <a16:creationId xmlns:a16="http://schemas.microsoft.com/office/drawing/2014/main" id="{A1796A33-012C-4F0F-8723-04BCE8E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te-value">
            <a:extLst xmlns:a="http://schemas.openxmlformats.org/drawingml/2006/main">
              <a:ext uri="{FF2B5EF4-FFF2-40B4-BE49-F238E27FC236}">
                <a16:creationId xmlns:a16="http://schemas.microsoft.com/office/drawing/2014/main" id="{F03FCF2C-63CD-4898-926D-A88E6E56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11.27%</a:t>
            </a:r>
          </a:p>
        </p:txBody>
      </p:sp>
      <p:sp>
        <p:nvSpPr>
          <p:cNvPr id="16" name="rate-label">
            <a:extLst xmlns:a="http://schemas.openxmlformats.org/drawingml/2006/main">
              <a:ext uri="{FF2B5EF4-FFF2-40B4-BE49-F238E27FC236}">
                <a16:creationId xmlns:a16="http://schemas.microsoft.com/office/drawing/2014/main" id="{9899D7E1-0875-49FA-B3ED-6742F668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전체 평균 가입률</a:t>
            </a:r>
          </a:p>
        </p:txBody>
      </p:sp>
      <p:sp>
        <p:nvSpPr>
          <p:cNvPr id="17" name="quality-note">
            <a:extLst xmlns:a="http://schemas.openxmlformats.org/drawingml/2006/main">
              <a:ext uri="{FF2B5EF4-FFF2-40B4-BE49-F238E27FC236}">
                <a16:creationId xmlns:a16="http://schemas.microsoft.com/office/drawing/2014/main" id="{E961FB9C-5C41-4D22-A6E5-335E86E7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데이터 점검  |  완전 중복 12건 · 시스템 결측 0건 · unknown 범주 별도 유지</a:t>
            </a:r>
          </a:p>
        </p:txBody>
      </p:sp>
      <p:sp>
        <p:nvSpPr>
          <p:cNvPr id="18" name="csv-note">
            <a:extLst xmlns:a="http://schemas.openxmlformats.org/drawingml/2006/main">
              <a:ext uri="{FF2B5EF4-FFF2-40B4-BE49-F238E27FC236}">
                <a16:creationId xmlns:a16="http://schemas.microsoft.com/office/drawing/2014/main" id="{168B2F07-9B52-445F-BB5C-F473834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주의: 현재 Drive CSV는 쉼표(,) 구분이므로 pd.read_csv("...")로 불러와야 한다.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19B29443-94EA-4613-AEEA-CE2F90D8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출처: bank-additional-full.csv, 자체 집계</a:t>
            </a:r>
          </a:p>
        </p:txBody>
      </p:sp>
    </p:spTree>
    <p:extLst>
      <p:ext uri="{BB962C8B-B14F-4D97-AF65-F5344CB8AC3E}">
        <p14:creationId xmlns:p14="http://schemas.microsoft.com/office/powerpoint/2010/main" val="7621960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">
            <a:extLst xmlns:a="http://schemas.openxmlformats.org/drawingml/2006/main">
              <a:ext uri="{FF2B5EF4-FFF2-40B4-BE49-F238E27FC236}">
                <a16:creationId xmlns:a16="http://schemas.microsoft.com/office/drawing/2014/main" id="{431DE436-CDEC-4D7A-9014-EE03FDB6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이전 캠페인 성공 고객의 가입률은 평균의 5.8배다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DFF96C4-F296-49A9-8681-5C79DF91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48521BB-F00E-421A-96D0-D5F8AAE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chart-frame">
            <a:extLst xmlns:a="http://schemas.openxmlformats.org/drawingml/2006/main">
              <a:ext uri="{FF2B5EF4-FFF2-40B4-BE49-F238E27FC236}">
                <a16:creationId xmlns:a16="http://schemas.microsoft.com/office/drawing/2014/main" id="{10C5AD59-3F70-4F9B-9B23-4D963E8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6572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1600200"/>
          <a:ext xmlns:a="http://schemas.openxmlformats.org/drawingml/2006/main" cx="6076950" cy="4210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6bc3348c224aa1"/>
          </a:graphicData>
        </a:graphic>
      </p:graphicFrame>
      <p:sp>
        <p:nvSpPr>
          <p:cNvPr id="6" name="callout-1">
            <a:extLst xmlns:a="http://schemas.openxmlformats.org/drawingml/2006/main">
              <a:ext uri="{FF2B5EF4-FFF2-40B4-BE49-F238E27FC236}">
                <a16:creationId xmlns:a16="http://schemas.microsoft.com/office/drawing/2014/main" id="{51CEF128-B0BB-492B-9E21-787378FE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19250"/>
            <a:ext cx="4286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llout-1-value">
            <a:extLst xmlns:a="http://schemas.openxmlformats.org/drawingml/2006/main">
              <a:ext uri="{FF2B5EF4-FFF2-40B4-BE49-F238E27FC236}">
                <a16:creationId xmlns:a16="http://schemas.microsoft.com/office/drawing/2014/main" id="{B4EC9D19-F7A6-4969-874C-A531546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669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65.11%</a:t>
            </a:r>
          </a:p>
        </p:txBody>
      </p:sp>
      <p:sp>
        <p:nvSpPr>
          <p:cNvPr id="8" name="callout-1-body">
            <a:extLst xmlns:a="http://schemas.openxmlformats.org/drawingml/2006/main">
              <a:ext uri="{FF2B5EF4-FFF2-40B4-BE49-F238E27FC236}">
                <a16:creationId xmlns:a16="http://schemas.microsoft.com/office/drawing/2014/main" id="{73293C5E-85F0-4F3D-A76A-77E5A262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이전 캠페인 성공 고객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1,373명 중 894건 가입</a:t>
            </a:r>
          </a:p>
        </p:txBody>
      </p:sp>
      <p:sp>
        <p:nvSpPr>
          <p:cNvPr id="9" name="callout-interpretation">
            <a:extLst xmlns:a="http://schemas.openxmlformats.org/drawingml/2006/main">
              <a:ext uri="{FF2B5EF4-FFF2-40B4-BE49-F238E27FC236}">
                <a16:creationId xmlns:a16="http://schemas.microsoft.com/office/drawing/2014/main" id="{06E68529-C03F-4E4A-86D0-A78A683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5760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이미 상품 관심과 반응 경험을 보인 고객은 재접촉 우선순위가 높다.</a:t>
            </a:r>
          </a:p>
        </p:txBody>
      </p:sp>
      <p:sp>
        <p:nvSpPr>
          <p:cNvPr id="10" name="callout-caveat">
            <a:extLst xmlns:a="http://schemas.openxmlformats.org/drawingml/2006/main">
              <a:ext uri="{FF2B5EF4-FFF2-40B4-BE49-F238E27FC236}">
                <a16:creationId xmlns:a16="http://schemas.microsoft.com/office/drawing/2014/main" id="{1CD74FBD-51FB-4021-8492-5C13FA4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197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단, 과거 성공이 미래 가입을 보장하는 것은 아니다.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FA0B264C-94E0-463D-BF34-D5B29BE2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가입률 = 그룹 내 y='yes' 비율</a:t>
            </a:r>
          </a:p>
        </p:txBody>
      </p:sp>
    </p:spTree>
    <p:extLst>
      <p:ext uri="{BB962C8B-B14F-4D97-AF65-F5344CB8AC3E}">
        <p14:creationId xmlns:p14="http://schemas.microsoft.com/office/powerpoint/2010/main" val="18877043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4">
            <a:extLst xmlns:a="http://schemas.openxmlformats.org/drawingml/2006/main">
              <a:ext uri="{FF2B5EF4-FFF2-40B4-BE49-F238E27FC236}">
                <a16:creationId xmlns:a16="http://schemas.microsoft.com/office/drawing/2014/main" id="{9CB36785-F2E7-49C6-B8EB-C2C0C66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연령의 양끝에서 기회가 보인다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F3FB7ADA-DC7D-40BC-B81D-4095E3B3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F0D96B6-0676-4BC8-8ADB-B5DDBD40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age-chart-frame">
            <a:extLst xmlns:a="http://schemas.openxmlformats.org/drawingml/2006/main">
              <a:ext uri="{FF2B5EF4-FFF2-40B4-BE49-F238E27FC236}">
                <a16:creationId xmlns:a16="http://schemas.microsoft.com/office/drawing/2014/main" id="{59CD880F-A03A-46A6-A7DD-9A1C2A9D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6858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63246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04a74e77b4a6e"/>
          </a:graphicData>
        </a:graphic>
      </p:graphicFrame>
      <p:sp>
        <p:nvSpPr>
          <p:cNvPr id="6" name="job-heading">
            <a:extLst xmlns:a="http://schemas.openxmlformats.org/drawingml/2006/main">
              <a:ext uri="{FF2B5EF4-FFF2-40B4-BE49-F238E27FC236}">
                <a16:creationId xmlns:a16="http://schemas.microsoft.com/office/drawing/2014/main" id="{8293971E-D233-4780-945D-1250485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81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직업에서도 같은 신호</a:t>
            </a:r>
          </a:p>
        </p:txBody>
      </p:sp>
      <p:sp>
        <p:nvSpPr>
          <p:cNvPr id="7" name="student-panel">
            <a:extLst xmlns:a="http://schemas.openxmlformats.org/drawingml/2006/main">
              <a:ext uri="{FF2B5EF4-FFF2-40B4-BE49-F238E27FC236}">
                <a16:creationId xmlns:a16="http://schemas.microsoft.com/office/drawing/2014/main" id="{02FF07A2-94B2-4C7B-83B1-2BA8439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371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udent-accent">
            <a:extLst xmlns:a="http://schemas.openxmlformats.org/drawingml/2006/main">
              <a:ext uri="{FF2B5EF4-FFF2-40B4-BE49-F238E27FC236}">
                <a16:creationId xmlns:a16="http://schemas.microsoft.com/office/drawing/2014/main" id="{B95ED401-4439-43A8-9875-3AF76534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udent-value">
            <a:extLst xmlns:a="http://schemas.openxmlformats.org/drawingml/2006/main">
              <a:ext uri="{FF2B5EF4-FFF2-40B4-BE49-F238E27FC236}">
                <a16:creationId xmlns:a16="http://schemas.microsoft.com/office/drawing/2014/main" id="{EF59BDE9-8BB7-4B7F-B0D2-14C3E03A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31.43%</a:t>
            </a:r>
          </a:p>
        </p:txBody>
      </p:sp>
      <p:sp>
        <p:nvSpPr>
          <p:cNvPr id="10" name="student-label">
            <a:extLst xmlns:a="http://schemas.openxmlformats.org/drawingml/2006/main">
              <a:ext uri="{FF2B5EF4-FFF2-40B4-BE49-F238E27FC236}">
                <a16:creationId xmlns:a16="http://schemas.microsoft.com/office/drawing/2014/main" id="{EEF25D8B-AC5F-4F3F-AD2B-267823A5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학생 · 875명 중 275건 가입</a:t>
            </a:r>
          </a:p>
        </p:txBody>
      </p:sp>
      <p:sp>
        <p:nvSpPr>
          <p:cNvPr id="11" name="retired-panel">
            <a:extLst xmlns:a="http://schemas.openxmlformats.org/drawingml/2006/main">
              <a:ext uri="{FF2B5EF4-FFF2-40B4-BE49-F238E27FC236}">
                <a16:creationId xmlns:a16="http://schemas.microsoft.com/office/drawing/2014/main" id="{6F6EDEB4-3F62-47F2-AB4C-AF12486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71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tired-accent">
            <a:extLst xmlns:a="http://schemas.openxmlformats.org/drawingml/2006/main">
              <a:ext uri="{FF2B5EF4-FFF2-40B4-BE49-F238E27FC236}">
                <a16:creationId xmlns:a16="http://schemas.microsoft.com/office/drawing/2014/main" id="{1FFFFC12-3BB6-42BA-B3B8-B76E17CD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tired-value">
            <a:extLst xmlns:a="http://schemas.openxmlformats.org/drawingml/2006/main">
              <a:ext uri="{FF2B5EF4-FFF2-40B4-BE49-F238E27FC236}">
                <a16:creationId xmlns:a16="http://schemas.microsoft.com/office/drawing/2014/main" id="{8BF71594-3E82-4F99-A53B-860F3C1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25.23%</a:t>
            </a:r>
          </a:p>
        </p:txBody>
      </p:sp>
      <p:sp>
        <p:nvSpPr>
          <p:cNvPr id="14" name="retired-label">
            <a:extLst xmlns:a="http://schemas.openxmlformats.org/drawingml/2006/main">
              <a:ext uri="{FF2B5EF4-FFF2-40B4-BE49-F238E27FC236}">
                <a16:creationId xmlns:a16="http://schemas.microsoft.com/office/drawing/2014/main" id="{81710A05-FB33-4916-AC5A-332E612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769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은퇴자 · 1,720명 중 434건 가입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615B24F6-EEAA-42AB-BD89-A739902B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연령대·직업은 사전에 식별 가능한 고객 특성</a:t>
            </a:r>
          </a:p>
        </p:txBody>
      </p:sp>
    </p:spTree>
    <p:extLst>
      <p:ext uri="{BB962C8B-B14F-4D97-AF65-F5344CB8AC3E}">
        <p14:creationId xmlns:p14="http://schemas.microsoft.com/office/powerpoint/2010/main" val="21219950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5">
            <a:extLst xmlns:a="http://schemas.openxmlformats.org/drawingml/2006/main">
              <a:ext uri="{FF2B5EF4-FFF2-40B4-BE49-F238E27FC236}">
                <a16:creationId xmlns:a16="http://schemas.microsoft.com/office/drawing/2014/main" id="{7F54CDC8-04E3-480B-930C-BA91147B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높은 가입률과 많은 가입자는 같은 말이 아니다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980FFA9-5B8E-43EA-AE5A-5E8FFD3A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39823A4-CA6F-46E4-8699-50677B3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radeoff-intro">
            <a:extLst xmlns:a="http://schemas.openxmlformats.org/drawingml/2006/main">
              <a:ext uri="{FF2B5EF4-FFF2-40B4-BE49-F238E27FC236}">
                <a16:creationId xmlns:a16="http://schemas.microsoft.com/office/drawing/2014/main" id="{C277830B-B814-4F66-9FC2-4FA34BED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학생은 효율이 높고, 사무직은 규모가 크다. 타겟 전략은 둘을 구분해야 한다.</a:t>
            </a:r>
          </a:p>
        </p:txBody>
      </p:sp>
      <p:sp>
        <p:nvSpPr>
          <p:cNvPr id="5" name="efficiency-panel">
            <a:extLst xmlns:a="http://schemas.openxmlformats.org/drawingml/2006/main">
              <a:ext uri="{FF2B5EF4-FFF2-40B4-BE49-F238E27FC236}">
                <a16:creationId xmlns:a16="http://schemas.microsoft.com/office/drawing/2014/main" id="{F3DB2655-08B1-4E24-9103-739154D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334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fficiency-title">
            <a:extLst xmlns:a="http://schemas.openxmlformats.org/drawingml/2006/main">
              <a:ext uri="{FF2B5EF4-FFF2-40B4-BE49-F238E27FC236}">
                <a16:creationId xmlns:a16="http://schemas.microsoft.com/office/drawing/2014/main" id="{1075843E-FE41-4BB8-A3C9-1A9E66B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효율 타겟</a:t>
            </a:r>
          </a:p>
        </p:txBody>
      </p:sp>
      <p:sp>
        <p:nvSpPr>
          <p:cNvPr id="7" name="efficiency-stat">
            <a:extLst xmlns:a="http://schemas.openxmlformats.org/drawingml/2006/main">
              <a:ext uri="{FF2B5EF4-FFF2-40B4-BE49-F238E27FC236}">
                <a16:creationId xmlns:a16="http://schemas.microsoft.com/office/drawing/2014/main" id="{A3B9E46C-C48D-41DE-BA9C-E7E12AE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학생 31.43%</a:t>
            </a:r>
          </a:p>
        </p:txBody>
      </p:sp>
      <p:sp>
        <p:nvSpPr>
          <p:cNvPr id="8" name="efficiency-body">
            <a:extLst xmlns:a="http://schemas.openxmlformats.org/drawingml/2006/main">
              <a:ext uri="{FF2B5EF4-FFF2-40B4-BE49-F238E27FC236}">
                <a16:creationId xmlns:a16="http://schemas.microsoft.com/office/drawing/2014/main" id="{752A648B-5653-4555-AC0E-A2F06A2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적은 고객에게서 높은 가입 비율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→ 정교한 우선순위 운영에 적합</a:t>
            </a:r>
          </a:p>
        </p:txBody>
      </p:sp>
      <p:sp>
        <p:nvSpPr>
          <p:cNvPr id="9" name="scale-panel">
            <a:extLst xmlns:a="http://schemas.openxmlformats.org/drawingml/2006/main">
              <a:ext uri="{FF2B5EF4-FFF2-40B4-BE49-F238E27FC236}">
                <a16:creationId xmlns:a16="http://schemas.microsoft.com/office/drawing/2014/main" id="{7999158E-1425-48A0-BA21-8FC2D67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5334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ale-title">
            <a:extLst xmlns:a="http://schemas.openxmlformats.org/drawingml/2006/main">
              <a:ext uri="{FF2B5EF4-FFF2-40B4-BE49-F238E27FC236}">
                <a16:creationId xmlns:a16="http://schemas.microsoft.com/office/drawing/2014/main" id="{3B4AD028-F620-4DD2-8221-5A69D839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규모 타겟</a:t>
            </a:r>
          </a:p>
        </p:txBody>
      </p:sp>
      <p:sp>
        <p:nvSpPr>
          <p:cNvPr id="11" name="scale-stat">
            <a:extLst xmlns:a="http://schemas.openxmlformats.org/drawingml/2006/main">
              <a:ext uri="{FF2B5EF4-FFF2-40B4-BE49-F238E27FC236}">
                <a16:creationId xmlns:a16="http://schemas.microsoft.com/office/drawing/2014/main" id="{35DA1CED-4E8D-4F58-B1F5-00F80E30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766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사무직 1,352건</a:t>
            </a:r>
          </a:p>
        </p:txBody>
      </p:sp>
      <p:sp>
        <p:nvSpPr>
          <p:cNvPr id="12" name="scale-body">
            <a:extLst xmlns:a="http://schemas.openxmlformats.org/drawingml/2006/main">
              <a:ext uri="{FF2B5EF4-FFF2-40B4-BE49-F238E27FC236}">
                <a16:creationId xmlns:a16="http://schemas.microsoft.com/office/drawing/2014/main" id="{DFAA00DA-3044-4D3D-B128-0C0EEC3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가입률은 12.97%지만 가입자 수 최대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→ 대량 캠페인의 볼륨 확보에 적합</a:t>
            </a:r>
          </a:p>
        </p:txBody>
      </p:sp>
      <p:sp>
        <p:nvSpPr>
          <p:cNvPr id="13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70AA9236-2029-4E93-A66A-C1008A0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의사결정 기준  =  가입률 × 고객 규모 × 연락 비용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3B66CBB8-9EBB-4E2A-854C-336D9344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직업별 집계 결과 비교</a:t>
            </a:r>
          </a:p>
        </p:txBody>
      </p:sp>
    </p:spTree>
    <p:extLst>
      <p:ext uri="{BB962C8B-B14F-4D97-AF65-F5344CB8AC3E}">
        <p14:creationId xmlns:p14="http://schemas.microsoft.com/office/powerpoint/2010/main" val="7470636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6">
            <a:extLst xmlns:a="http://schemas.openxmlformats.org/drawingml/2006/main">
              <a:ext uri="{FF2B5EF4-FFF2-40B4-BE49-F238E27FC236}">
                <a16:creationId xmlns:a16="http://schemas.microsoft.com/office/drawing/2014/main" id="{95B7CA96-15C0-4C0D-88A7-2A0AB020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반복 연락이 늘수록 관측 가입률은 빠르게 낮아진다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1BFA5D8-F3B2-4803-9FAB-198268C6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4E2BB99F-8EB6-431F-8ADA-9757EFD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67627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fab7cfb18e4ff9"/>
          </a:graphicData>
        </a:graphic>
      </p:graphicFrame>
      <p:sp>
        <p:nvSpPr>
          <p:cNvPr id="5" name="first-contact-panel">
            <a:extLst xmlns:a="http://schemas.openxmlformats.org/drawingml/2006/main">
              <a:ext uri="{FF2B5EF4-FFF2-40B4-BE49-F238E27FC236}">
                <a16:creationId xmlns:a16="http://schemas.microsoft.com/office/drawing/2014/main" id="{24C3CD21-EB53-472E-943B-302D3329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38300"/>
            <a:ext cx="3733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rst-contact-accent">
            <a:extLst xmlns:a="http://schemas.openxmlformats.org/drawingml/2006/main">
              <a:ext uri="{FF2B5EF4-FFF2-40B4-BE49-F238E27FC236}">
                <a16:creationId xmlns:a16="http://schemas.microsoft.com/office/drawing/2014/main" id="{EBDB6B84-28D0-47C1-A3EA-9CAB464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38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irst-contact-value">
            <a:extLst xmlns:a="http://schemas.openxmlformats.org/drawingml/2006/main">
              <a:ext uri="{FF2B5EF4-FFF2-40B4-BE49-F238E27FC236}">
                <a16:creationId xmlns:a16="http://schemas.microsoft.com/office/drawing/2014/main" id="{5C21FFEF-FB5D-4CF5-A513-3A34FA44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257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13.04%</a:t>
            </a:r>
          </a:p>
        </p:txBody>
      </p:sp>
      <p:sp>
        <p:nvSpPr>
          <p:cNvPr id="8" name="first-contact-label">
            <a:extLst xmlns:a="http://schemas.openxmlformats.org/drawingml/2006/main">
              <a:ext uri="{FF2B5EF4-FFF2-40B4-BE49-F238E27FC236}">
                <a16:creationId xmlns:a16="http://schemas.microsoft.com/office/drawing/2014/main" id="{AB15A457-29D0-42A9-96F9-74D7EC6E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1회 연락 가입률</a:t>
            </a:r>
          </a:p>
        </p:txBody>
      </p:sp>
      <p:sp>
        <p:nvSpPr>
          <p:cNvPr id="9" name="many-contact-panel">
            <a:extLst xmlns:a="http://schemas.openxmlformats.org/drawingml/2006/main">
              <a:ext uri="{FF2B5EF4-FFF2-40B4-BE49-F238E27FC236}">
                <a16:creationId xmlns:a16="http://schemas.microsoft.com/office/drawing/2014/main" id="{6CF0FDB5-BC33-49E8-A578-83A9250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3733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ny-contact-accent">
            <a:extLst xmlns:a="http://schemas.openxmlformats.org/drawingml/2006/main">
              <a:ext uri="{FF2B5EF4-FFF2-40B4-BE49-F238E27FC236}">
                <a16:creationId xmlns:a16="http://schemas.microsoft.com/office/drawing/2014/main" id="{1D4E83FF-07BF-4ED6-88E3-83670CD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ny-contact-value">
            <a:extLst xmlns:a="http://schemas.openxmlformats.org/drawingml/2006/main">
              <a:ext uri="{FF2B5EF4-FFF2-40B4-BE49-F238E27FC236}">
                <a16:creationId xmlns:a16="http://schemas.microsoft.com/office/drawing/2014/main" id="{1A8974F4-0A39-4FF3-B8A1-E16BC0C4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91000"/>
            <a:ext cx="3257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3.11%</a:t>
            </a:r>
          </a:p>
        </p:txBody>
      </p:sp>
      <p:sp>
        <p:nvSpPr>
          <p:cNvPr id="12" name="many-contact-label">
            <a:extLst xmlns:a="http://schemas.openxmlformats.org/drawingml/2006/main">
              <a:ext uri="{FF2B5EF4-FFF2-40B4-BE49-F238E27FC236}">
                <a16:creationId xmlns:a16="http://schemas.microsoft.com/office/drawing/2014/main" id="{1C67E970-A0AD-4286-B483-7DCF239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11회 이상 가입률</a:t>
            </a:r>
          </a:p>
        </p:txBody>
      </p:sp>
      <p:sp>
        <p:nvSpPr>
          <p:cNvPr id="13" name="causal-note">
            <a:extLst xmlns:a="http://schemas.openxmlformats.org/drawingml/2006/main">
              <a:ext uri="{FF2B5EF4-FFF2-40B4-BE49-F238E27FC236}">
                <a16:creationId xmlns:a16="http://schemas.microsoft.com/office/drawing/2014/main" id="{48E7DB67-2690-448F-B280-4D74AA8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0007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해석 주의: 반복 연락이 낮은 가입률을 만든다고 단정할 수는 없다. 원래 반응이 낮은 고객에게 더 많이 연락했을 수 있다.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C704B299-994B-4949-9F1F-4AB6E59D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전략 시사점: 무제한 재접촉 대신 횟수 상한과 중단 기준 검토</a:t>
            </a:r>
          </a:p>
        </p:txBody>
      </p:sp>
    </p:spTree>
    <p:extLst>
      <p:ext uri="{BB962C8B-B14F-4D97-AF65-F5344CB8AC3E}">
        <p14:creationId xmlns:p14="http://schemas.microsoft.com/office/powerpoint/2010/main" val="350678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7">
            <a:extLst xmlns:a="http://schemas.openxmlformats.org/drawingml/2006/main">
              <a:ext uri="{FF2B5EF4-FFF2-40B4-BE49-F238E27FC236}">
                <a16:creationId xmlns:a16="http://schemas.microsoft.com/office/drawing/2014/main" id="{67CF4327-7561-4124-9E23-C586E8B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고우선 타겟은 세 단계로 좁힌다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025C4F47-A6AA-4526-B26A-C4A2C33F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AC267758-D602-4CA5-863A-D73C987E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90156709-B80D-42E7-B703-BA03DBB7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6F05FD88-F97B-4E95-985C-F791930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960887AC-02AA-4030-9213-0239F8B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1순위</a:t>
            </a:r>
          </a:p>
        </p:txBody>
      </p:sp>
      <p:sp>
        <p:nvSpPr>
          <p:cNvPr id="7" name="target-title-0">
            <a:extLst xmlns:a="http://schemas.openxmlformats.org/drawingml/2006/main">
              <a:ext uri="{FF2B5EF4-FFF2-40B4-BE49-F238E27FC236}">
                <a16:creationId xmlns:a16="http://schemas.microsoft.com/office/drawing/2014/main" id="{CE2EF408-719D-4F6E-BE87-77DCE806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이전 캠페인 성공</a:t>
            </a:r>
          </a:p>
        </p:txBody>
      </p:sp>
      <p:sp>
        <p:nvSpPr>
          <p:cNvPr id="8" name="target-stat-0">
            <a:extLst xmlns:a="http://schemas.openxmlformats.org/drawingml/2006/main">
              <a:ext uri="{FF2B5EF4-FFF2-40B4-BE49-F238E27FC236}">
                <a16:creationId xmlns:a16="http://schemas.microsoft.com/office/drawing/2014/main" id="{F296FBB0-3380-41C3-90CA-7BBDB14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1,373명 · 65.11%</a:t>
            </a:r>
          </a:p>
        </p:txBody>
      </p:sp>
      <p:sp>
        <p:nvSpPr>
          <p:cNvPr id="9" name="target-desc-0">
            <a:extLst xmlns:a="http://schemas.openxmlformats.org/drawingml/2006/main">
              <a:ext uri="{FF2B5EF4-FFF2-40B4-BE49-F238E27FC236}">
                <a16:creationId xmlns:a16="http://schemas.microsoft.com/office/drawing/2014/main" id="{9529BF4B-9ADC-4381-B9F6-239BEF55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반응 경험이 검증된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재접촉 핵심 고객</a:t>
            </a:r>
          </a:p>
        </p:txBody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619AC03A-C739-4FA3-9C51-52CA507F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1" name="label-1">
            <a:extLst xmlns:a="http://schemas.openxmlformats.org/drawingml/2006/main">
              <a:ext uri="{FF2B5EF4-FFF2-40B4-BE49-F238E27FC236}">
                <a16:creationId xmlns:a16="http://schemas.microsoft.com/office/drawing/2014/main" id="{79776A19-B861-4135-BA22-D8F7723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2순위</a:t>
            </a:r>
          </a:p>
        </p:txBody>
      </p:sp>
      <p:sp>
        <p:nvSpPr>
          <p:cNvPr id="12" name="target-title-1">
            <a:extLst xmlns:a="http://schemas.openxmlformats.org/drawingml/2006/main">
              <a:ext uri="{FF2B5EF4-FFF2-40B4-BE49-F238E27FC236}">
                <a16:creationId xmlns:a16="http://schemas.microsoft.com/office/drawing/2014/main" id="{BAA4EAE8-B876-4C8D-9EA3-4A66DF8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65세 이상</a:t>
            </a:r>
          </a:p>
        </p:txBody>
      </p:sp>
      <p:sp>
        <p:nvSpPr>
          <p:cNvPr id="13" name="target-stat-1">
            <a:extLst xmlns:a="http://schemas.openxmlformats.org/drawingml/2006/main">
              <a:ext uri="{FF2B5EF4-FFF2-40B4-BE49-F238E27FC236}">
                <a16:creationId xmlns:a16="http://schemas.microsoft.com/office/drawing/2014/main" id="{8973E7B3-51AA-4D1D-BDC5-2693F448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532명 · 39.66%</a:t>
            </a:r>
          </a:p>
        </p:txBody>
      </p:sp>
      <p:sp>
        <p:nvSpPr>
          <p:cNvPr id="14" name="target-desc-1">
            <a:extLst xmlns:a="http://schemas.openxmlformats.org/drawingml/2006/main">
              <a:ext uri="{FF2B5EF4-FFF2-40B4-BE49-F238E27FC236}">
                <a16:creationId xmlns:a16="http://schemas.microsoft.com/office/drawing/2014/main" id="{46B93A4A-7E5E-4B51-B4DD-F69F5013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이전 성공 이력을 제외해도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높은 가입률</a:t>
            </a:r>
          </a:p>
        </p:txBody>
      </p:sp>
      <p:sp>
        <p:nvSpPr>
          <p:cNvPr id="15" name="node-2">
            <a:extLst xmlns:a="http://schemas.openxmlformats.org/drawingml/2006/main">
              <a:ext uri="{FF2B5EF4-FFF2-40B4-BE49-F238E27FC236}">
                <a16:creationId xmlns:a16="http://schemas.microsoft.com/office/drawing/2014/main" id="{5FB5DDA1-407C-4B67-8EA5-82F45126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A07C4C04-353D-4C32-8A75-A4E9A88F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3순위</a:t>
            </a:r>
          </a:p>
        </p:txBody>
      </p:sp>
      <p:sp>
        <p:nvSpPr>
          <p:cNvPr id="17" name="target-title-2">
            <a:extLst xmlns:a="http://schemas.openxmlformats.org/drawingml/2006/main">
              <a:ext uri="{FF2B5EF4-FFF2-40B4-BE49-F238E27FC236}">
                <a16:creationId xmlns:a16="http://schemas.microsoft.com/office/drawing/2014/main" id="{9E200EE9-AEA6-4240-9343-F4A84A52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학생</a:t>
            </a:r>
          </a:p>
        </p:txBody>
      </p:sp>
      <p:sp>
        <p:nvSpPr>
          <p:cNvPr id="18" name="target-stat-2">
            <a:extLst xmlns:a="http://schemas.openxmlformats.org/drawingml/2006/main">
              <a:ext uri="{FF2B5EF4-FFF2-40B4-BE49-F238E27FC236}">
                <a16:creationId xmlns:a16="http://schemas.microsoft.com/office/drawing/2014/main" id="{9032BAD2-056F-4B9E-85DF-33A8E31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757명 · 25.23%</a:t>
            </a:r>
          </a:p>
        </p:txBody>
      </p:sp>
      <p:sp>
        <p:nvSpPr>
          <p:cNvPr id="19" name="target-desc-2">
            <a:extLst xmlns:a="http://schemas.openxmlformats.org/drawingml/2006/main">
              <a:ext uri="{FF2B5EF4-FFF2-40B4-BE49-F238E27FC236}">
                <a16:creationId xmlns:a16="http://schemas.microsoft.com/office/drawing/2014/main" id="{142CA599-54E1-4C01-9208-42309ED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이전 성공 이력을 제외해도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평균의 2.2배</a:t>
            </a:r>
          </a:p>
        </p:txBody>
      </p:sp>
      <p:sp>
        <p:nvSpPr>
          <p:cNvPr id="20" name="selection-rule">
            <a:extLst xmlns:a="http://schemas.openxmlformats.org/drawingml/2006/main">
              <a:ext uri="{FF2B5EF4-FFF2-40B4-BE49-F238E27FC236}">
                <a16:creationId xmlns:a16="http://schemas.microsoft.com/office/drawing/2014/main" id="{6D2CE39D-DB0B-45EF-9258-FA12EB69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선정 원칙: 통화 전에 알 수 있는 정보만 사용 · duration 제외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91A0BA4B-909E-4796-B3CF-B427521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2·3순위는 이전 성공 고객을 제외한 중복 없는 집단</a:t>
            </a:r>
          </a:p>
        </p:txBody>
      </p:sp>
    </p:spTree>
    <p:extLst>
      <p:ext uri="{BB962C8B-B14F-4D97-AF65-F5344CB8AC3E}">
        <p14:creationId xmlns:p14="http://schemas.microsoft.com/office/powerpoint/2010/main" val="16815095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8">
            <a:extLst xmlns:a="http://schemas.openxmlformats.org/drawingml/2006/main">
              <a:ext uri="{FF2B5EF4-FFF2-40B4-BE49-F238E27FC236}">
                <a16:creationId xmlns:a16="http://schemas.microsoft.com/office/drawing/2014/main" id="{C3E3E342-5DDB-4B73-99B1-A229CF03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전체의 6.5%에 과거 가입자의 27.9%가 모였다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C193E157-E9E4-4BFC-A82A-2734327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03550AB3-33F1-43EC-99DF-3B91B1E7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concentration-copy">
            <a:extLst xmlns:a="http://schemas.openxmlformats.org/drawingml/2006/main">
              <a:ext uri="{FF2B5EF4-FFF2-40B4-BE49-F238E27FC236}">
                <a16:creationId xmlns:a16="http://schemas.microsoft.com/office/drawing/2014/main" id="{0A2D5E93-E8B4-4090-96D2-B541DA45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세 타겟을 중복 없이 합친 2,662명에서 과거 가입 1,296건이 관찰됐다.</a:t>
            </a:r>
          </a:p>
        </p:txBody>
      </p:sp>
      <p:sp>
        <p:nvSpPr>
          <p:cNvPr id="5" name="segment-size-panel">
            <a:extLst xmlns:a="http://schemas.openxmlformats.org/drawingml/2006/main">
              <a:ext uri="{FF2B5EF4-FFF2-40B4-BE49-F238E27FC236}">
                <a16:creationId xmlns:a16="http://schemas.microsoft.com/office/drawing/2014/main" id="{53527725-66F5-49AA-8BE9-8E05300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ment-size-accent">
            <a:extLst xmlns:a="http://schemas.openxmlformats.org/drawingml/2006/main">
              <a:ext uri="{FF2B5EF4-FFF2-40B4-BE49-F238E27FC236}">
                <a16:creationId xmlns:a16="http://schemas.microsoft.com/office/drawing/2014/main" id="{20754BB6-F86F-4C05-98E2-74BA2881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gment-size-value">
            <a:extLst xmlns:a="http://schemas.openxmlformats.org/drawingml/2006/main">
              <a:ext uri="{FF2B5EF4-FFF2-40B4-BE49-F238E27FC236}">
                <a16:creationId xmlns:a16="http://schemas.microsoft.com/office/drawing/2014/main" id="{3D5A4F62-E482-48B8-8AD5-A14F5DB8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6.46%</a:t>
            </a:r>
          </a:p>
        </p:txBody>
      </p:sp>
      <p:sp>
        <p:nvSpPr>
          <p:cNvPr id="8" name="segment-size-label">
            <a:extLst xmlns:a="http://schemas.openxmlformats.org/drawingml/2006/main">
              <a:ext uri="{FF2B5EF4-FFF2-40B4-BE49-F238E27FC236}">
                <a16:creationId xmlns:a16="http://schemas.microsoft.com/office/drawing/2014/main" id="{188A0F6E-CC8F-4DC8-A59D-6B21FC3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전체 고객 중 타겟 비중</a:t>
            </a:r>
          </a:p>
        </p:txBody>
      </p:sp>
      <p:sp>
        <p:nvSpPr>
          <p:cNvPr id="9" name="segment-rate-panel">
            <a:extLst xmlns:a="http://schemas.openxmlformats.org/drawingml/2006/main">
              <a:ext uri="{FF2B5EF4-FFF2-40B4-BE49-F238E27FC236}">
                <a16:creationId xmlns:a16="http://schemas.microsoft.com/office/drawing/2014/main" id="{9A8664A5-F9EC-44C2-8B86-2AEA12C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ment-rate-accent">
            <a:extLst xmlns:a="http://schemas.openxmlformats.org/drawingml/2006/main">
              <a:ext uri="{FF2B5EF4-FFF2-40B4-BE49-F238E27FC236}">
                <a16:creationId xmlns:a16="http://schemas.microsoft.com/office/drawing/2014/main" id="{E18C292A-05BC-4ADA-BC68-B92C170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gment-rate-value">
            <a:extLst xmlns:a="http://schemas.openxmlformats.org/drawingml/2006/main">
              <a:ext uri="{FF2B5EF4-FFF2-40B4-BE49-F238E27FC236}">
                <a16:creationId xmlns:a16="http://schemas.microsoft.com/office/drawing/2014/main" id="{2A47EA63-4386-4251-8BD4-7A592947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670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48.69%</a:t>
            </a:r>
          </a:p>
        </p:txBody>
      </p:sp>
      <p:sp>
        <p:nvSpPr>
          <p:cNvPr id="12" name="segment-rate-label">
            <a:extLst xmlns:a="http://schemas.openxmlformats.org/drawingml/2006/main">
              <a:ext uri="{FF2B5EF4-FFF2-40B4-BE49-F238E27FC236}">
                <a16:creationId xmlns:a16="http://schemas.microsoft.com/office/drawing/2014/main" id="{3D53150A-3B2E-42E7-BBFC-A3DB49AA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타겟 내부 과거 가입률</a:t>
            </a:r>
          </a:p>
        </p:txBody>
      </p:sp>
      <p:sp>
        <p:nvSpPr>
          <p:cNvPr id="13" name="segment-capture-panel">
            <a:extLst xmlns:a="http://schemas.openxmlformats.org/drawingml/2006/main">
              <a:ext uri="{FF2B5EF4-FFF2-40B4-BE49-F238E27FC236}">
                <a16:creationId xmlns:a16="http://schemas.microsoft.com/office/drawing/2014/main" id="{34811449-E630-4D1F-A853-9AB75524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ment-capture-accent">
            <a:extLst xmlns:a="http://schemas.openxmlformats.org/drawingml/2006/main">
              <a:ext uri="{FF2B5EF4-FFF2-40B4-BE49-F238E27FC236}">
                <a16:creationId xmlns:a16="http://schemas.microsoft.com/office/drawing/2014/main" id="{413828F4-9F39-41E5-9BE2-97B12F1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gment-capture-value">
            <a:extLst xmlns:a="http://schemas.openxmlformats.org/drawingml/2006/main">
              <a:ext uri="{FF2B5EF4-FFF2-40B4-BE49-F238E27FC236}">
                <a16:creationId xmlns:a16="http://schemas.microsoft.com/office/drawing/2014/main" id="{763ABC03-357A-4D86-8B02-CE2F98F4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27.93%</a:t>
            </a:r>
          </a:p>
        </p:txBody>
      </p:sp>
      <p:sp>
        <p:nvSpPr>
          <p:cNvPr id="16" name="segment-capture-label">
            <a:extLst xmlns:a="http://schemas.openxmlformats.org/drawingml/2006/main">
              <a:ext uri="{FF2B5EF4-FFF2-40B4-BE49-F238E27FC236}">
                <a16:creationId xmlns:a16="http://schemas.microsoft.com/office/drawing/2014/main" id="{9A3AD0E7-D3E8-4CB8-9133-2C1E1A93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전체 가입자 중 포함 비중</a:t>
            </a:r>
          </a:p>
        </p:txBody>
      </p:sp>
      <p:sp>
        <p:nvSpPr>
          <p:cNvPr id="17" name="lift">
            <a:extLst xmlns:a="http://schemas.openxmlformats.org/drawingml/2006/main">
              <a:ext uri="{FF2B5EF4-FFF2-40B4-BE49-F238E27FC236}">
                <a16:creationId xmlns:a16="http://schemas.microsoft.com/office/drawing/2014/main" id="{CCDEAA98-5C87-49D1-8E00-2C2DF92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평균 11.27% 대비 4.32배 높은 역사적 집중도</a:t>
            </a:r>
          </a:p>
        </p:txBody>
      </p:sp>
      <p:sp>
        <p:nvSpPr>
          <p:cNvPr id="18" name="forecast-warning">
            <a:extLst xmlns:a="http://schemas.openxmlformats.org/drawingml/2006/main">
              <a:ext uri="{FF2B5EF4-FFF2-40B4-BE49-F238E27FC236}">
                <a16:creationId xmlns:a16="http://schemas.microsoft.com/office/drawing/2014/main" id="{BD1090F3-2B56-4D66-AF18-D37382B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이는 미래 성과 보장이 아니라 다음 캠페인에서 검증할 우선순위 가설이다.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89848E15-2321-4DD7-ACE1-6EE77D0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타겟 = 이전 성공 ∪ (이전 성공 제외 65세 이상) ∪ (이전 성공 제외 학생)</a:t>
            </a:r>
          </a:p>
        </p:txBody>
      </p:sp>
    </p:spTree>
    <p:extLst>
      <p:ext uri="{BB962C8B-B14F-4D97-AF65-F5344CB8AC3E}">
        <p14:creationId xmlns:p14="http://schemas.microsoft.com/office/powerpoint/2010/main" val="4376245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9">
            <a:extLst xmlns:a="http://schemas.openxmlformats.org/drawingml/2006/main">
              <a:ext uri="{FF2B5EF4-FFF2-40B4-BE49-F238E27FC236}">
                <a16:creationId xmlns:a16="http://schemas.microsoft.com/office/drawing/2014/main" id="{E2D0DAEA-F2A2-4CDE-9D1F-BFA3F2A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다음 캠페인은 타겟·채널·중단 기준을 함께 설계한다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47145C28-BD6E-4EA1-B660-FAE06D1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7A457353-86AF-4928-A898-712471A2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action-0">
            <a:extLst xmlns:a="http://schemas.openxmlformats.org/drawingml/2006/main">
              <a:ext uri="{FF2B5EF4-FFF2-40B4-BE49-F238E27FC236}">
                <a16:creationId xmlns:a16="http://schemas.microsoft.com/office/drawing/2014/main" id="{16BFD106-2E5D-4BC7-9977-7FCA6EA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tion-accent-0">
            <a:extLst xmlns:a="http://schemas.openxmlformats.org/drawingml/2006/main">
              <a:ext uri="{FF2B5EF4-FFF2-40B4-BE49-F238E27FC236}">
                <a16:creationId xmlns:a16="http://schemas.microsoft.com/office/drawing/2014/main" id="{04B1E30E-80B2-49B9-BDFB-4C7AA4F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tion-title-0">
            <a:extLst xmlns:a="http://schemas.openxmlformats.org/drawingml/2006/main">
              <a:ext uri="{FF2B5EF4-FFF2-40B4-BE49-F238E27FC236}">
                <a16:creationId xmlns:a16="http://schemas.microsoft.com/office/drawing/2014/main" id="{7DC70372-9D3C-4BF2-AD60-901B9175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01  누구에게</a:t>
            </a:r>
          </a:p>
        </p:txBody>
      </p:sp>
      <p:sp>
        <p:nvSpPr>
          <p:cNvPr id="7" name="action-body-0">
            <a:extLst xmlns:a="http://schemas.openxmlformats.org/drawingml/2006/main">
              <a:ext uri="{FF2B5EF4-FFF2-40B4-BE49-F238E27FC236}">
                <a16:creationId xmlns:a16="http://schemas.microsoft.com/office/drawing/2014/main" id="{E1118C08-2FF7-4E6A-B94E-4FC7C50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800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이전 성공 고객을 최우선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65세 이상·학생을 보조 타겟</a:t>
            </a:r>
          </a:p>
        </p:txBody>
      </p:sp>
      <p:sp>
        <p:nvSpPr>
          <p:cNvPr id="8" name="action-1">
            <a:extLst xmlns:a="http://schemas.openxmlformats.org/drawingml/2006/main">
              <a:ext uri="{FF2B5EF4-FFF2-40B4-BE49-F238E27FC236}">
                <a16:creationId xmlns:a16="http://schemas.microsoft.com/office/drawing/2014/main" id="{1C361F4D-BD9A-4B8D-BA88-5DEFD581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ion-accent-1">
            <a:extLst xmlns:a="http://schemas.openxmlformats.org/drawingml/2006/main">
              <a:ext uri="{FF2B5EF4-FFF2-40B4-BE49-F238E27FC236}">
                <a16:creationId xmlns:a16="http://schemas.microsoft.com/office/drawing/2014/main" id="{708E176D-5557-435D-9822-EA0EFE54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E6E338CB-E656-497C-BAE9-6CFBED77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71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02  어떻게</a:t>
            </a:r>
          </a:p>
        </p:txBody>
      </p:sp>
      <p:sp>
        <p:nvSpPr>
          <p:cNvPr id="11" name="action-body-1">
            <a:extLst xmlns:a="http://schemas.openxmlformats.org/drawingml/2006/main">
              <a:ext uri="{FF2B5EF4-FFF2-40B4-BE49-F238E27FC236}">
                <a16:creationId xmlns:a16="http://schemas.microsoft.com/office/drawing/2014/main" id="{B1843F82-260E-4008-AF40-FDB6FEE8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00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휴대전화 우선 검토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고객군별 메시지 차별화</a:t>
            </a:r>
          </a:p>
        </p:txBody>
      </p:sp>
      <p:sp>
        <p:nvSpPr>
          <p:cNvPr id="12" name="action-2">
            <a:extLst xmlns:a="http://schemas.openxmlformats.org/drawingml/2006/main">
              <a:ext uri="{FF2B5EF4-FFF2-40B4-BE49-F238E27FC236}">
                <a16:creationId xmlns:a16="http://schemas.microsoft.com/office/drawing/2014/main" id="{F7B152A1-BF39-45FF-B8BA-A50D7EBA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tion-accent-2">
            <a:extLst xmlns:a="http://schemas.openxmlformats.org/drawingml/2006/main">
              <a:ext uri="{FF2B5EF4-FFF2-40B4-BE49-F238E27FC236}">
                <a16:creationId xmlns:a16="http://schemas.microsoft.com/office/drawing/2014/main" id="{21637E52-AF81-4926-A838-72368A3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CE4E6428-BB3B-4C86-B4F5-3F0D1529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03  얼마나</a:t>
            </a:r>
          </a:p>
        </p:txBody>
      </p:sp>
      <p:sp>
        <p:nvSpPr>
          <p:cNvPr id="15" name="action-body-2">
            <a:extLst xmlns:a="http://schemas.openxmlformats.org/drawingml/2006/main">
              <a:ext uri="{FF2B5EF4-FFF2-40B4-BE49-F238E27FC236}">
                <a16:creationId xmlns:a16="http://schemas.microsoft.com/office/drawing/2014/main" id="{8BD9BFF0-8864-4A57-BA7D-3FCDA31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2800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1–2회 집중 접촉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무반응 시 우선순위 하향</a:t>
            </a:r>
          </a:p>
        </p:txBody>
      </p:sp>
      <p:sp>
        <p:nvSpPr>
          <p:cNvPr id="16" name="closing">
            <a:extLst xmlns:a="http://schemas.openxmlformats.org/drawingml/2006/main">
              <a:ext uri="{FF2B5EF4-FFF2-40B4-BE49-F238E27FC236}">
                <a16:creationId xmlns:a16="http://schemas.microsoft.com/office/drawing/2014/main" id="{42511CC6-350D-4D11-923B-51EDBCCE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더 많이 연락하는 캠페인보다,</a:t>
            </a:r>
          </a:p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가능성이 높은 고객에게 먼저 연락하는 캠페인으로.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EAFD9A13-1DD8-41E9-B452-81826A3A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검증 제안: 타겟군별 A/B 테스트로 실제 전환율·연락비용·거절률 측정</a:t>
            </a:r>
          </a:p>
        </p:txBody>
      </p:sp>
    </p:spTree>
    <p:extLst>
      <p:ext uri="{BB962C8B-B14F-4D97-AF65-F5344CB8AC3E}">
        <p14:creationId xmlns:p14="http://schemas.microsoft.com/office/powerpoint/2010/main" val="1619612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2026-07-23T09:48:10.2170000Z</dcterms:created>
  <dcterms:modified xsi:type="dcterms:W3CDTF">2026-07-23T09:48:10.2170000Z</dcterms:modified>
</coreProperties>
</file>